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30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57" r:id="rId23"/>
    <p:sldId id="301" r:id="rId24"/>
    <p:sldId id="279" r:id="rId25"/>
    <p:sldId id="280" r:id="rId26"/>
    <p:sldId id="282" r:id="rId27"/>
    <p:sldId id="284" r:id="rId28"/>
    <p:sldId id="285" r:id="rId29"/>
    <p:sldId id="287" r:id="rId30"/>
    <p:sldId id="288" r:id="rId31"/>
    <p:sldId id="289" r:id="rId32"/>
    <p:sldId id="290" r:id="rId33"/>
    <p:sldId id="300" r:id="rId34"/>
    <p:sldId id="299" r:id="rId35"/>
  </p:sldIdLst>
  <p:sldSz cx="9144000" cy="5143500" type="screen16x9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7" d="100"/>
          <a:sy n="137" d="100"/>
        </p:scale>
        <p:origin x="69" y="9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imagery,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4" descr="Place imagery here">
            <a:extLst>
              <a:ext uri="{FF2B5EF4-FFF2-40B4-BE49-F238E27FC236}">
                <a16:creationId xmlns:a16="http://schemas.microsoft.com/office/drawing/2014/main" id="{1808C288-48D2-6025-CC80-934D2327CFE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1924B7-2F11-0A8B-0D68-683508A6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116681"/>
            <a:ext cx="4158199" cy="1550727"/>
          </a:xfrm>
        </p:spPr>
        <p:txBody>
          <a:bodyPr lIns="0" tIns="0" rIns="0" bIns="0" anchor="t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>
              <a:solidFill>
                <a:srgbClr val="0F62FE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CD4266-81ED-6B5B-88CC-3AAA2B4B06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071" y="1784090"/>
            <a:ext cx="3132749" cy="342900"/>
          </a:xfrm>
        </p:spPr>
        <p:txBody>
          <a:bodyPr/>
          <a:lstStyle>
            <a:lvl1pPr>
              <a:defRPr sz="1650"/>
            </a:lvl1pPr>
          </a:lstStyle>
          <a:p>
            <a:pPr>
              <a:defRPr/>
            </a:pPr>
            <a:r>
              <a:rPr lang="en-US" sz="1350" dirty="0"/>
              <a:t>Lorem ipsum | Lorem ipsum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F45FD"/>
              </a:solidFill>
              <a:effectLst/>
              <a:uLnTx/>
              <a:uFillTx/>
              <a:latin typeface="+mj-lt"/>
              <a:ea typeface="+mj-ea"/>
              <a:cs typeface="+mj-cs"/>
              <a:sym typeface="IBM Plex Sans Light"/>
            </a:endParaRPr>
          </a:p>
        </p:txBody>
      </p:sp>
      <p:pic>
        <p:nvPicPr>
          <p:cNvPr id="12" name="Picture 11" descr="IBM 8-bar logo">
            <a:extLst>
              <a:ext uri="{FF2B5EF4-FFF2-40B4-BE49-F238E27FC236}">
                <a16:creationId xmlns:a16="http://schemas.microsoft.com/office/drawing/2014/main" id="{A67628BF-4FF3-7694-C040-0B2A649A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83" y="4716661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2481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, imag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4" descr="Place imagery here">
            <a:extLst>
              <a:ext uri="{FF2B5EF4-FFF2-40B4-BE49-F238E27FC236}">
                <a16:creationId xmlns:a16="http://schemas.microsoft.com/office/drawing/2014/main" id="{1808C288-48D2-6025-CC80-934D2327CFE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457319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1924B7-2F11-0A8B-0D68-683508A6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116681"/>
            <a:ext cx="4158199" cy="1550727"/>
          </a:xfrm>
        </p:spPr>
        <p:txBody>
          <a:bodyPr lIns="0" tIns="0" rIns="0" bIns="0" anchor="t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>
              <a:solidFill>
                <a:srgbClr val="0F62FE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CD4266-81ED-6B5B-88CC-3AAA2B4B06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071" y="1784090"/>
            <a:ext cx="3132749" cy="342900"/>
          </a:xfrm>
        </p:spPr>
        <p:txBody>
          <a:bodyPr/>
          <a:lstStyle>
            <a:lvl1pPr>
              <a:defRPr sz="1650"/>
            </a:lvl1pPr>
          </a:lstStyle>
          <a:p>
            <a:pPr>
              <a:defRPr/>
            </a:pPr>
            <a:r>
              <a:rPr lang="en-US" sz="1350" dirty="0"/>
              <a:t>Lorem ipsum | Lorem ipsum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F45FD"/>
              </a:solidFill>
              <a:effectLst/>
              <a:uLnTx/>
              <a:uFillTx/>
              <a:latin typeface="+mj-lt"/>
              <a:ea typeface="+mj-ea"/>
              <a:cs typeface="+mj-cs"/>
              <a:sym typeface="IBM Plex Sans Light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CD8D53F-2949-4CE0-B2D9-B234FDB49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972" y="4716662"/>
            <a:ext cx="1853179" cy="2146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2" name="Picture 11" descr="IBM 8-bar logo">
            <a:extLst>
              <a:ext uri="{FF2B5EF4-FFF2-40B4-BE49-F238E27FC236}">
                <a16:creationId xmlns:a16="http://schemas.microsoft.com/office/drawing/2014/main" id="{A67628BF-4FF3-7694-C040-0B2A649A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83" y="4716661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4280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A1924B7-2F11-0A8B-0D68-683508A67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785" y="116681"/>
            <a:ext cx="4158199" cy="967840"/>
          </a:xfrm>
        </p:spPr>
        <p:txBody>
          <a:bodyPr lIns="0" tIns="0" rIns="0" bIns="0" anchor="t"/>
          <a:lstStyle>
            <a:lvl1pPr>
              <a:defRPr sz="2550"/>
            </a:lvl1pPr>
          </a:lstStyle>
          <a:p>
            <a:r>
              <a:rPr lang="en-GB" dirty="0"/>
              <a:t>Agenda</a:t>
            </a:r>
            <a:endParaRPr lang="en-US" dirty="0">
              <a:solidFill>
                <a:srgbClr val="0F62FE"/>
              </a:solidFill>
            </a:endParaRPr>
          </a:p>
        </p:txBody>
      </p:sp>
      <p:pic>
        <p:nvPicPr>
          <p:cNvPr id="12" name="Picture 11" descr="IBM 8-bar logo">
            <a:extLst>
              <a:ext uri="{FF2B5EF4-FFF2-40B4-BE49-F238E27FC236}">
                <a16:creationId xmlns:a16="http://schemas.microsoft.com/office/drawing/2014/main" id="{A67628BF-4FF3-7694-C040-0B2A649A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83" y="4716661"/>
            <a:ext cx="576797" cy="214650"/>
          </a:xfrm>
          <a:prstGeom prst="rect">
            <a:avLst/>
          </a:prstGeom>
        </p:spPr>
      </p:pic>
      <p:sp>
        <p:nvSpPr>
          <p:cNvPr id="6" name="Picture Placeholder 10" descr="Place imagery here">
            <a:extLst>
              <a:ext uri="{FF2B5EF4-FFF2-40B4-BE49-F238E27FC236}">
                <a16:creationId xmlns:a16="http://schemas.microsoft.com/office/drawing/2014/main" id="{AE38D290-6029-C9E6-DFF6-A3E1F770A5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5785" y="1359851"/>
            <a:ext cx="3221391" cy="320594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cxnSp>
        <p:nvCxnSpPr>
          <p:cNvPr id="7" name="Straight Connector 6" descr="Vertical column divider">
            <a:extLst>
              <a:ext uri="{FF2B5EF4-FFF2-40B4-BE49-F238E27FC236}">
                <a16:creationId xmlns:a16="http://schemas.microsoft.com/office/drawing/2014/main" id="{BA756067-CB0F-D043-2A31-4C740E10976F}"/>
              </a:ext>
            </a:extLst>
          </p:cNvPr>
          <p:cNvCxnSpPr>
            <a:cxnSpLocks/>
          </p:cNvCxnSpPr>
          <p:nvPr/>
        </p:nvCxnSpPr>
        <p:spPr bwMode="auto">
          <a:xfrm>
            <a:off x="4571452" y="214096"/>
            <a:ext cx="0" cy="435883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500056-0D63-C061-F847-94674980E76F}"/>
              </a:ext>
            </a:extLst>
          </p:cNvPr>
          <p:cNvSpPr txBox="1"/>
          <p:nvPr/>
        </p:nvSpPr>
        <p:spPr>
          <a:xfrm>
            <a:off x="5804621" y="4768703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737AB1-5B24-6522-4C30-2A1D4993F0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8428" y="116681"/>
            <a:ext cx="4158194" cy="4449110"/>
          </a:xfr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rPr>
              <a:t>01	</a:t>
            </a: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IBM Plex Sans" charset="0"/>
                <a:cs typeface="IBM Plex Sans" charset="0"/>
                <a:sym typeface="IBM Plex Sans Light"/>
              </a:rPr>
              <a:t>Lorem ipsum</a:t>
            </a: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IBM Plex Sans" charset="0"/>
              <a:cs typeface="IBM Plex Sans" charset="0"/>
              <a:sym typeface="IBM Plex Sans Light"/>
            </a:endParaRP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rPr>
              <a:t>02	</a:t>
            </a: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IBM Plex Sans" charset="0"/>
                <a:cs typeface="IBM Plex Sans" charset="0"/>
                <a:sym typeface="IBM Plex Sans Light"/>
              </a:rPr>
              <a:t>Lorem ipsum</a:t>
            </a: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IBM Plex Sans" charset="0"/>
              <a:cs typeface="IBM Plex Sans" charset="0"/>
              <a:sym typeface="IBM Plex Sans Light"/>
            </a:endParaRP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rPr>
              <a:t>03	</a:t>
            </a:r>
          </a:p>
          <a:p>
            <a:pPr lvl="0" defTabSz="914217">
              <a:defRPr/>
            </a:pPr>
            <a:r>
              <a:rPr lang="en-US" sz="1350" dirty="0">
                <a:solidFill>
                  <a:srgbClr val="000000"/>
                </a:solidFill>
                <a:ea typeface="IBM Plex Sans" charset="0"/>
                <a:cs typeface="IBM Plex Sans" charset="0"/>
              </a:rPr>
              <a:t>Lorem ipsum</a:t>
            </a:r>
          </a:p>
          <a:p>
            <a:pPr marL="0" marR="0" lvl="0" indent="0" algn="l" defTabSz="91421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  <a:sym typeface="IBM Plex Sans Light"/>
            </a:endParaRPr>
          </a:p>
          <a:p>
            <a:pPr lvl="0" defTabSz="914217">
              <a:defRPr/>
            </a:pPr>
            <a:r>
              <a:rPr lang="en-US" sz="1350" kern="0" dirty="0">
                <a:solidFill>
                  <a:srgbClr val="000000"/>
                </a:solidFill>
                <a:latin typeface="IBM Plex Sans Medm" panose="020B0503050203000203" pitchFamily="34" charset="0"/>
              </a:rPr>
              <a:t>04	</a:t>
            </a:r>
          </a:p>
          <a:p>
            <a:pPr lvl="0" defTabSz="914217">
              <a:defRPr/>
            </a:pPr>
            <a:r>
              <a:rPr lang="en-US" sz="1350" dirty="0">
                <a:solidFill>
                  <a:srgbClr val="000000"/>
                </a:solidFill>
                <a:ea typeface="IBM Plex Sans" charset="0"/>
                <a:cs typeface="IBM Plex Sans" charset="0"/>
              </a:rPr>
              <a:t>Lorem ipsum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1F4F9551-61D0-95CD-4620-7318D1A796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BFD9F-5B37-5DA7-E96F-E39C19093AB9}"/>
              </a:ext>
            </a:extLst>
          </p:cNvPr>
          <p:cNvSpPr txBox="1"/>
          <p:nvPr/>
        </p:nvSpPr>
        <p:spPr>
          <a:xfrm>
            <a:off x="3891010" y="483249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834320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4312"/>
            <a:ext cx="4140635" cy="4716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4" y="4716661"/>
            <a:ext cx="576797" cy="2146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116681"/>
            <a:ext cx="3787409" cy="3883819"/>
          </a:xfrm>
        </p:spPr>
        <p:txBody>
          <a:bodyPr/>
          <a:lstStyle>
            <a:lvl1pPr>
              <a:lnSpc>
                <a:spcPct val="100000"/>
              </a:lnSpc>
              <a:defRPr sz="31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6051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ection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72" y="216027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567000"/>
            <a:ext cx="3786885" cy="3430191"/>
          </a:xfrm>
        </p:spPr>
        <p:txBody>
          <a:bodyPr/>
          <a:lstStyle>
            <a:lvl1pPr>
              <a:lnSpc>
                <a:spcPct val="100000"/>
              </a:lnSpc>
              <a:defRPr sz="31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4" y="4716661"/>
            <a:ext cx="576797" cy="21465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7"/>
            <a:ext cx="4140635" cy="47175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05597237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00" y="239231"/>
            <a:ext cx="5031204" cy="3430191"/>
          </a:xfrm>
        </p:spPr>
        <p:txBody>
          <a:bodyPr/>
          <a:lstStyle>
            <a:lvl1pPr>
              <a:lnSpc>
                <a:spcPct val="100000"/>
              </a:lnSpc>
              <a:defRPr sz="315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0357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4139931" cy="572096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72" y="1140619"/>
            <a:ext cx="1854847" cy="343257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1178" y="1140619"/>
            <a:ext cx="1856538" cy="343257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89" y="216027"/>
            <a:ext cx="4139931" cy="47143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2607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wide columns, 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descr="Vertical quarter slide background in green 10">
            <a:extLst>
              <a:ext uri="{FF2B5EF4-FFF2-40B4-BE49-F238E27FC236}">
                <a16:creationId xmlns:a16="http://schemas.microsoft.com/office/drawing/2014/main" id="{36324606-303E-6A5A-043E-DFF87A4EADAA}"/>
              </a:ext>
            </a:extLst>
          </p:cNvPr>
          <p:cNvSpPr/>
          <p:nvPr/>
        </p:nvSpPr>
        <p:spPr bwMode="auto">
          <a:xfrm>
            <a:off x="6858298" y="0"/>
            <a:ext cx="2285702" cy="5143500"/>
          </a:xfrm>
          <a:prstGeom prst="rect">
            <a:avLst/>
          </a:prstGeom>
          <a:solidFill>
            <a:srgbClr val="EDF5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42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  <a:defRPr/>
            </a:pPr>
            <a:endParaRPr kumimoji="0" lang="en-RO" sz="5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1876" y="1702719"/>
            <a:ext cx="1818055" cy="287285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1BCACB2-2177-96DD-036D-15120FB855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5972" y="216027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9A700F-CEF5-7B2D-B246-3671F65D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567000"/>
            <a:ext cx="3786885" cy="437777"/>
          </a:xfrm>
        </p:spPr>
        <p:txBody>
          <a:bodyPr/>
          <a:lstStyle>
            <a:lvl1pPr>
              <a:lnSpc>
                <a:spcPct val="10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FDEBEF-A680-6EAF-95FC-22DA5216F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72" y="1709284"/>
            <a:ext cx="3664657" cy="287285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 descr="Vertical column divider line">
            <a:extLst>
              <a:ext uri="{FF2B5EF4-FFF2-40B4-BE49-F238E27FC236}">
                <a16:creationId xmlns:a16="http://schemas.microsoft.com/office/drawing/2014/main" id="{365CC5CE-7B1B-2308-C933-AF48CDCA7798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1405" y="1714500"/>
            <a:ext cx="0" cy="285978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498F449-0499-4E92-47CE-C8F66EEA8F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04157" y="1702719"/>
            <a:ext cx="1818055" cy="287285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rgbClr val="0F62FE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650">
                <a:solidFill>
                  <a:srgbClr val="0F62FE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650">
                <a:solidFill>
                  <a:srgbClr val="0F62FE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650">
                <a:solidFill>
                  <a:srgbClr val="0F62FE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056930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imagery,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9A700F-CEF5-7B2D-B246-3671F65D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2957202" cy="437777"/>
          </a:xfrm>
        </p:spPr>
        <p:txBody>
          <a:bodyPr/>
          <a:lstStyle>
            <a:lvl1pPr>
              <a:lnSpc>
                <a:spcPct val="10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FDEBEF-A680-6EAF-95FC-22DA5216F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72" y="1709284"/>
            <a:ext cx="2957202" cy="287285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CD5CE9-7B6A-475B-323C-74FE1613FB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72" y="791744"/>
            <a:ext cx="2957202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6" descr="Place imagery here">
            <a:extLst>
              <a:ext uri="{FF2B5EF4-FFF2-40B4-BE49-F238E27FC236}">
                <a16:creationId xmlns:a16="http://schemas.microsoft.com/office/drawing/2014/main" id="{185665AF-5C33-926F-B43E-978CB8D7162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28553" y="404065"/>
            <a:ext cx="5515447" cy="433537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9521627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3938132" cy="310092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0CC875-9F64-001B-D706-679D1CFF5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72" y="574703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6052B-E271-2F8A-1664-19D5B56E1C81}"/>
              </a:ext>
            </a:extLst>
          </p:cNvPr>
          <p:cNvSpPr txBox="1"/>
          <p:nvPr/>
        </p:nvSpPr>
        <p:spPr>
          <a:xfrm>
            <a:off x="1746170" y="179424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5" name="Picture 4" descr="IBM 8-bar logo">
            <a:extLst>
              <a:ext uri="{FF2B5EF4-FFF2-40B4-BE49-F238E27FC236}">
                <a16:creationId xmlns:a16="http://schemas.microsoft.com/office/drawing/2014/main" id="{C0BF36D4-A859-0B3D-71F3-8B5F39DD15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7504" y="4716661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9789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1855943" cy="1498473"/>
          </a:xfrm>
        </p:spPr>
        <p:txBody>
          <a:bodyPr/>
          <a:lstStyle>
            <a:lvl1pPr>
              <a:lnSpc>
                <a:spcPct val="11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213789"/>
            <a:ext cx="1858276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1876" y="213789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2" y="213788"/>
            <a:ext cx="1854847" cy="185737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 bwMode="auto">
          <a:xfrm>
            <a:off x="2285703" y="2286000"/>
            <a:ext cx="664520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7" y="2500837"/>
            <a:ext cx="1858276" cy="185737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876" y="2500837"/>
            <a:ext cx="1858276" cy="185737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2" y="2500838"/>
            <a:ext cx="1854847" cy="185736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/>
        </p:nvCxnSpPr>
        <p:spPr bwMode="auto">
          <a:xfrm>
            <a:off x="2285702" y="213789"/>
            <a:ext cx="0" cy="43582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/>
        </p:nvCxnSpPr>
        <p:spPr bwMode="auto">
          <a:xfrm>
            <a:off x="4571452" y="213789"/>
            <a:ext cx="0" cy="4359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/>
        </p:nvCxnSpPr>
        <p:spPr bwMode="auto">
          <a:xfrm>
            <a:off x="6857107" y="213789"/>
            <a:ext cx="0" cy="43582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726B49-5017-B9CF-0C53-5BADE4BD2668}"/>
              </a:ext>
            </a:extLst>
          </p:cNvPr>
          <p:cNvSpPr txBox="1"/>
          <p:nvPr/>
        </p:nvSpPr>
        <p:spPr>
          <a:xfrm>
            <a:off x="996673" y="290268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2019541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imagery,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 descr="Place imagery here">
            <a:extLst>
              <a:ext uri="{FF2B5EF4-FFF2-40B4-BE49-F238E27FC236}">
                <a16:creationId xmlns:a16="http://schemas.microsoft.com/office/drawing/2014/main" id="{B21278F8-931F-FDC3-4D6F-5AE334C155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1674" y="214313"/>
            <a:ext cx="6423875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036E5F48-E77E-8AB7-2227-FFCAA0B474E7}"/>
              </a:ext>
            </a:extLst>
          </p:cNvPr>
          <p:cNvSpPr txBox="1">
            <a:spLocks/>
          </p:cNvSpPr>
          <p:nvPr/>
        </p:nvSpPr>
        <p:spPr>
          <a:xfrm>
            <a:off x="0" y="2571750"/>
            <a:ext cx="2285702" cy="2571750"/>
          </a:xfrm>
          <a:prstGeom prst="rect">
            <a:avLst/>
          </a:prstGeom>
          <a:solidFill>
            <a:srgbClr val="EDF5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05713" tIns="205713" rIns="205713" bIns="205713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750"/>
              </a:spcBef>
            </a:pPr>
            <a:endParaRPr lang="en-US" sz="1350" kern="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9A700F-CEF5-7B2D-B246-3671F65D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813420"/>
            <a:ext cx="1858324" cy="437777"/>
          </a:xfrm>
        </p:spPr>
        <p:txBody>
          <a:bodyPr/>
          <a:lstStyle>
            <a:lvl1pPr>
              <a:lnSpc>
                <a:spcPct val="10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CD5CE9-7B6A-475B-323C-74FE1613FB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72" y="3389137"/>
            <a:ext cx="1858324" cy="821356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9EE90AD-8540-9465-00B8-F8C41351E6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5972" y="4346590"/>
            <a:ext cx="1858324" cy="214313"/>
          </a:xfrm>
        </p:spPr>
        <p:txBody>
          <a:bodyPr anchor="b"/>
          <a:lstStyle>
            <a:lvl1pPr>
              <a:spcBef>
                <a:spcPts val="0"/>
              </a:spcBef>
              <a:defRPr sz="1050" u="sng">
                <a:solidFill>
                  <a:srgbClr val="0F62FE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233EE-2E6A-EFB7-D475-5BE525E029DA}"/>
              </a:ext>
            </a:extLst>
          </p:cNvPr>
          <p:cNvSpPr txBox="1"/>
          <p:nvPr/>
        </p:nvSpPr>
        <p:spPr>
          <a:xfrm>
            <a:off x="2774736" y="223283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67455740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2 columns, decorative image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4152331" cy="1498473"/>
          </a:xfrm>
        </p:spPr>
        <p:txBody>
          <a:bodyPr/>
          <a:lstStyle>
            <a:lvl1pPr>
              <a:lnSpc>
                <a:spcPct val="11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1876" y="216000"/>
            <a:ext cx="1857133" cy="435828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582" y="216000"/>
            <a:ext cx="1852967" cy="435828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BD536-DE70-4123-18D4-2F45B52DB7CB}"/>
              </a:ext>
            </a:extLst>
          </p:cNvPr>
          <p:cNvSpPr txBox="1"/>
          <p:nvPr/>
        </p:nvSpPr>
        <p:spPr>
          <a:xfrm>
            <a:off x="142856" y="682942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9" name="Picture 8" descr="A black and white image of circles&#10;&#10;AI-generated content may be incorrect.">
            <a:extLst>
              <a:ext uri="{FF2B5EF4-FFF2-40B4-BE49-F238E27FC236}">
                <a16:creationId xmlns:a16="http://schemas.microsoft.com/office/drawing/2014/main" id="{8561A70E-5A98-6BC0-1B3D-9336E40B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9" y="1847537"/>
            <a:ext cx="2914271" cy="282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500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decorative image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2783985" cy="714971"/>
          </a:xfrm>
        </p:spPr>
        <p:txBody>
          <a:bodyPr/>
          <a:lstStyle>
            <a:lvl1pPr>
              <a:lnSpc>
                <a:spcPct val="11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72" y="1142999"/>
            <a:ext cx="3786885" cy="3432572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colorful squares and rectangles&#10;&#10;AI-generated content may be incorrect.">
            <a:extLst>
              <a:ext uri="{FF2B5EF4-FFF2-40B4-BE49-F238E27FC236}">
                <a16:creationId xmlns:a16="http://schemas.microsoft.com/office/drawing/2014/main" id="{40F47F80-8BA1-40DC-D494-989B2423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143" y="989945"/>
            <a:ext cx="2914271" cy="31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8744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15972" y="1141809"/>
            <a:ext cx="923281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15972" y="2286000"/>
            <a:ext cx="923281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15972" y="3427809"/>
            <a:ext cx="923281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91876" y="1141809"/>
            <a:ext cx="922281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791876" y="2286000"/>
            <a:ext cx="922281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791876" y="3427809"/>
            <a:ext cx="922281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" y="216027"/>
            <a:ext cx="3210201" cy="572096"/>
          </a:xfrm>
        </p:spPr>
        <p:txBody>
          <a:bodyPr/>
          <a:lstStyle>
            <a:lvl1pPr>
              <a:lnSpc>
                <a:spcPct val="110000"/>
              </a:lnSpc>
              <a:defRPr sz="16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141809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86000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427809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141809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86000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427809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5972" y="4806000"/>
            <a:ext cx="1858324" cy="1428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83CD0-31C4-8F7A-458A-3A36F0E11350}"/>
              </a:ext>
            </a:extLst>
          </p:cNvPr>
          <p:cNvSpPr txBox="1"/>
          <p:nvPr/>
        </p:nvSpPr>
        <p:spPr>
          <a:xfrm>
            <a:off x="2894337" y="484047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166674" indent="-167531" algn="l" defTabSz="914400">
              <a:spcBef>
                <a:spcPts val="1088"/>
              </a:spcBef>
              <a:buSzPct val="100000"/>
              <a:buFontTx/>
              <a:buChar char="–"/>
            </a:pPr>
            <a:endParaRPr lang="en-US" sz="675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4159732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003" y="2313173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721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F8C5A-89D9-07C1-73F9-57F5B85F2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1E33161-2019-120F-93DE-A5492AA0D9C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5972" y="1212652"/>
            <a:ext cx="8470221" cy="3286720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de-DE" dirty="0"/>
              <a:t>Titel Text</a:t>
            </a:r>
          </a:p>
        </p:txBody>
      </p:sp>
    </p:spTree>
    <p:extLst>
      <p:ext uri="{BB962C8B-B14F-4D97-AF65-F5344CB8AC3E}">
        <p14:creationId xmlns:p14="http://schemas.microsoft.com/office/powerpoint/2010/main" val="14274146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L_Two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EAD598B-31BC-E613-6A0C-C5C23A0BF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F177E5D-A4B0-59EA-3725-C88E5C5F5A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972" y="1262657"/>
            <a:ext cx="4049473" cy="3240000"/>
          </a:xfrm>
        </p:spPr>
        <p:txBody>
          <a:bodyPr/>
          <a:lstStyle>
            <a:lvl1pPr marL="108000" indent="-108000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de-DE" dirty="0"/>
              <a:t> Textblock 1 (Bullet Points)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28583875-4D4C-97FF-623E-258C0651685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36720" y="1262657"/>
            <a:ext cx="4049473" cy="3240000"/>
          </a:xfrm>
        </p:spPr>
        <p:txBody>
          <a:bodyPr/>
          <a:lstStyle>
            <a:lvl1pPr marL="108000" indent="-108000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de-DE" dirty="0"/>
              <a:t>Text oder Bild</a:t>
            </a:r>
          </a:p>
          <a:p>
            <a:pPr lvl="0"/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DDF143F-EC05-F45E-E073-B447EDB39C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C13AA5D-C372-BBFF-C6D2-A25D75A6BA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1" descr="IBM 8-bar logo">
            <a:extLst>
              <a:ext uri="{FF2B5EF4-FFF2-40B4-BE49-F238E27FC236}">
                <a16:creationId xmlns:a16="http://schemas.microsoft.com/office/drawing/2014/main" id="{A1151474-9DFE-813B-4997-141BDA6BE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396" y="4736957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7421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972" y="116681"/>
            <a:ext cx="4140635" cy="59805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15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Context</a:t>
            </a:r>
            <a:br>
              <a:rPr lang="en-GB" dirty="0"/>
            </a:b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D14A4-4960-2A34-723D-4DBAE72BD37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0CB334-ABFA-B7A4-7601-1E09444B09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39D058-EF20-35E6-6D27-A55F5EB918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2462" y="1085850"/>
            <a:ext cx="4154145" cy="3686175"/>
          </a:xfrm>
        </p:spPr>
        <p:txBody>
          <a:bodyPr lIns="0">
            <a:noAutofit/>
          </a:bodyPr>
          <a:lstStyle>
            <a:lvl1pPr marL="108000" indent="-108000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960955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L_Con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972" y="116681"/>
            <a:ext cx="4140635" cy="59805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15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Context</a:t>
            </a:r>
            <a:br>
              <a:rPr lang="en-GB" dirty="0"/>
            </a:b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DD14A4-4960-2A34-723D-4DBAE72BD37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0CB334-ABFA-B7A4-7601-1E09444B09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239D058-EF20-35E6-6D27-A55F5EB918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2462" y="1085850"/>
            <a:ext cx="4154145" cy="3686175"/>
          </a:xfrm>
        </p:spPr>
        <p:txBody>
          <a:bodyPr lIns="0">
            <a:noAutofit/>
          </a:bodyPr>
          <a:lstStyle>
            <a:lvl1pPr marL="108000" indent="-108000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2AFF6-BFFF-C98C-B439-C1269627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748" y="1208033"/>
            <a:ext cx="2977106" cy="29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1712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L_Image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E3C29D9-EA15-C503-283E-E8CF5DDD8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972" y="214535"/>
            <a:ext cx="8470194" cy="416195"/>
          </a:xfrm>
        </p:spPr>
        <p:txBody>
          <a:bodyPr/>
          <a:lstStyle/>
          <a:p>
            <a:r>
              <a:rPr lang="de-DE" dirty="0"/>
              <a:t>Titel Bild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AE106E59-5AC4-DD17-9FE4-9EC228E339E1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>
          <a:xfrm>
            <a:off x="951087" y="805851"/>
            <a:ext cx="6999964" cy="3152775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2F77654-C418-50AD-271A-050B0C8D16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2" y="4075408"/>
            <a:ext cx="4955331" cy="381000"/>
          </a:xfrm>
        </p:spPr>
        <p:txBody>
          <a:bodyPr/>
          <a:lstStyle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de-DE" dirty="0"/>
              <a:t>Bildunterschrift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75E92CF-055E-5A5B-DA01-5897A17F2F5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B2A9463-62BB-5A73-8375-92A7660DA5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11" descr="IBM 8-bar logo">
            <a:extLst>
              <a:ext uri="{FF2B5EF4-FFF2-40B4-BE49-F238E27FC236}">
                <a16:creationId xmlns:a16="http://schemas.microsoft.com/office/drawing/2014/main" id="{0AC3A6E2-E66D-29A2-3A3A-7778B3FA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396" y="4736957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912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L_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003" y="2313173"/>
            <a:ext cx="1295993" cy="51715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69B098-A2DB-3DD8-CB84-89289E7F4A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2052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6944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399">
                <a:solidFill>
                  <a:schemeClr val="tx2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5974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91948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87921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0" y="1285875"/>
            <a:ext cx="3785694" cy="3214688"/>
          </a:xfrm>
        </p:spPr>
        <p:txBody>
          <a:bodyPr/>
          <a:lstStyle>
            <a:lvl1pPr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5974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91948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87921" indent="-95974"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4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415" y="144018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399">
                <a:solidFill>
                  <a:schemeClr val="tx2"/>
                </a:solidFill>
                <a:latin typeface="IBM Plex Sans" panose="020B0503050203000203" pitchFamily="34" charset="0"/>
              </a:defRPr>
            </a:lvl1pPr>
            <a:lvl2pPr>
              <a:spcBef>
                <a:spcPts val="0"/>
              </a:spcBef>
              <a:defRPr sz="1049"/>
            </a:lvl2pPr>
            <a:lvl3pPr>
              <a:spcBef>
                <a:spcPts val="0"/>
              </a:spcBef>
              <a:defRPr sz="1049"/>
            </a:lvl3pPr>
            <a:lvl4pPr>
              <a:spcBef>
                <a:spcPts val="0"/>
              </a:spcBef>
              <a:defRPr sz="1049"/>
            </a:lvl4pPr>
            <a:lvl5pPr>
              <a:spcBef>
                <a:spcPts val="0"/>
              </a:spcBef>
              <a:defRPr sz="104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3" y="4852065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4434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643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0354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3404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3715457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D4AF5E-3E60-06F1-E3E3-F00E3ADA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5273" y="144019"/>
            <a:ext cx="4152728" cy="3215282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17913200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97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268288" indent="-268288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4D310305-0E4B-0BFA-02AD-2A2BAA4E6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7504" y="4716661"/>
            <a:ext cx="576797" cy="2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675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2" y="4856893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999" y="216027"/>
            <a:ext cx="8470194" cy="92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47775"/>
            <a:ext cx="8470194" cy="332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72" y="4808732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01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3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27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54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4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88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2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25" marR="0" indent="-171450" algn="l" defTabSz="914400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4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12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75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3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2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65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87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09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31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5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74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103252/Db2_Routin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file+.vscode-resource.vscode-cdn.net/c%3A/Users/UliSeelbach/git/Db2_Routines/README.adoc#_formattimestamp" TargetMode="External"/><Relationship Id="rId13" Type="http://schemas.openxmlformats.org/officeDocument/2006/relationships/hyperlink" Target="https://file+.vscode-resource.vscode-cdn.net/c%3A/Users/UliSeelbach/git/Db2_Routines/README.adoc#_regex_matches" TargetMode="External"/><Relationship Id="rId18" Type="http://schemas.openxmlformats.org/officeDocument/2006/relationships/hyperlink" Target="https://file+.vscode-resource.vscode-cdn.net/c%3A/Users/UliSeelbach/git/Db2_Routines/README.adoc#:submit" TargetMode="External"/><Relationship Id="rId3" Type="http://schemas.openxmlformats.org/officeDocument/2006/relationships/hyperlink" Target="https://file+.vscode-resource.vscode-cdn.net/c%3A/Users/UliSeelbach/git/Db2_Routines/README.adoc#_base64decode" TargetMode="External"/><Relationship Id="rId21" Type="http://schemas.openxmlformats.org/officeDocument/2006/relationships/hyperlink" Target="https://file+.vscode-resource.vscode-cdn.net/c%3A/Users/UliSeelbach/git/Db2_Routines/README.adoc#_validate_conversion" TargetMode="External"/><Relationship Id="rId7" Type="http://schemas.openxmlformats.org/officeDocument/2006/relationships/hyperlink" Target="https://file+.vscode-resource.vscode-cdn.net/c%3A/Users/UliSeelbach/git/Db2_Routines/README.adoc#_easter" TargetMode="External"/><Relationship Id="rId12" Type="http://schemas.openxmlformats.org/officeDocument/2006/relationships/hyperlink" Target="https://file+.vscode-resource.vscode-cdn.net/c%3A/Users/UliSeelbach/git/Db2_Routines/README.adoc#_read_generic_file" TargetMode="External"/><Relationship Id="rId17" Type="http://schemas.openxmlformats.org/officeDocument/2006/relationships/hyperlink" Target="https://file+.vscode-resource.vscode-cdn.net/c%3A/Users/UliSeelbach/git/Db2_Routines/README.adoc#_sprintf" TargetMode="External"/><Relationship Id="rId2" Type="http://schemas.openxmlformats.org/officeDocument/2006/relationships/hyperlink" Target="https://file+.vscode-resource.vscode-cdn.net/c%3A/Users/UliSeelbach/git/Db2_Routines/README.adoc#_apflist" TargetMode="External"/><Relationship Id="rId16" Type="http://schemas.openxmlformats.org/officeDocument/2006/relationships/hyperlink" Target="https://file+.vscode-resource.vscode-cdn.net/c%3A/Users/UliSeelbach/git/Db2_Routines/README.adoc#_split" TargetMode="External"/><Relationship Id="rId20" Type="http://schemas.openxmlformats.org/officeDocument/2006/relationships/hyperlink" Target="https://file+.vscode-resource.vscode-cdn.net/c%3A/Users/UliSeelbach/git/Db2_Routines/README.adoc#:try_integer" TargetMode="Externa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file+.vscode-resource.vscode-cdn.net/c%3A/Users/UliSeelbach/git/Db2_Routines/README.adoc#_db2utility" TargetMode="External"/><Relationship Id="rId11" Type="http://schemas.openxmlformats.org/officeDocument/2006/relationships/hyperlink" Target="https://file+.vscode-resource.vscode-cdn.net/c%3A/Users/UliSeelbach/git/Db2_Routines/README.adoc#_racfprofile" TargetMode="External"/><Relationship Id="rId5" Type="http://schemas.openxmlformats.org/officeDocument/2006/relationships/hyperlink" Target="https://file+.vscode-resource.vscode-cdn.net/c%3A/Users/UliSeelbach/git/Db2_Routines/README.adoc#_crossload" TargetMode="External"/><Relationship Id="rId15" Type="http://schemas.openxmlformats.org/officeDocument/2006/relationships/hyperlink" Target="https://file+.vscode-resource.vscode-cdn.net/c%3A/Users/UliSeelbach/git/Db2_Routines/README.adoc#_runstats" TargetMode="External"/><Relationship Id="rId10" Type="http://schemas.openxmlformats.org/officeDocument/2006/relationships/hyperlink" Target="https://file+.vscode-resource.vscode-cdn.net/c%3A/Users/UliSeelbach/git/Db2_Routines/README.adoc#_hextoint" TargetMode="External"/><Relationship Id="rId19" Type="http://schemas.openxmlformats.org/officeDocument/2006/relationships/hyperlink" Target="https://file+.vscode-resource.vscode-cdn.net/c%3A/Users/UliSeelbach/git/Db2_Routines/README.adoc#_to_roman" TargetMode="External"/><Relationship Id="rId4" Type="http://schemas.openxmlformats.org/officeDocument/2006/relationships/hyperlink" Target="https://file+.vscode-resource.vscode-cdn.net/c%3A/Users/UliSeelbach/git/Db2_Routines/README.adoc#_base64encode" TargetMode="External"/><Relationship Id="rId9" Type="http://schemas.openxmlformats.org/officeDocument/2006/relationships/hyperlink" Target="https://file+.vscode-resource.vscode-cdn.net/c%3A/Users/UliSeelbach/git/Db2_Routines/README.adoc#_generate_series" TargetMode="External"/><Relationship Id="rId14" Type="http://schemas.openxmlformats.org/officeDocument/2006/relationships/hyperlink" Target="https://file+.vscode-resource.vscode-cdn.net/c%3A/Users/UliSeelbach/git/Db2_Routines/README.adoc#_regex_replace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2" y="116681"/>
            <a:ext cx="5089718" cy="1550727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Beyond Built-ins: Supercharging Db2 for z/OS with Custom 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2"/>
          </p:nvPr>
        </p:nvSpPr>
        <p:spPr>
          <a:xfrm>
            <a:off x="216071" y="1784090"/>
            <a:ext cx="4822165" cy="3429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A DBA's Guide to Functions IBM Forgot to Include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Uli Seelbach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40284-C647-A3D1-321D-6F69CA252AB7}"/>
              </a:ext>
            </a:extLst>
          </p:cNvPr>
          <p:cNvSpPr txBox="1"/>
          <p:nvPr/>
        </p:nvSpPr>
        <p:spPr>
          <a:xfrm>
            <a:off x="215972" y="4321669"/>
            <a:ext cx="7614205" cy="30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fr-FR" sz="1600" dirty="0"/>
              <a:t>Source Code and documentation in GitHub: </a:t>
            </a:r>
            <a:r>
              <a:rPr lang="fr-FR" sz="1600" dirty="0">
                <a:hlinkClick r:id="rId2"/>
              </a:rPr>
              <a:t>de103252/Db2_Routines</a:t>
            </a:r>
            <a:endParaRPr lang="fr-FR" sz="1600" dirty="0"/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DE" sz="16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D88B40A-8579-0A50-4FFA-F72C4B30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8470194" cy="409798"/>
          </a:xfrm>
        </p:spPr>
        <p:txBody>
          <a:bodyPr/>
          <a:lstStyle/>
          <a:p>
            <a:r>
              <a:rPr lang="en-US" dirty="0"/>
              <a:t>Appetizer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8DDD48-65F2-5CF7-8942-07E2CC52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5" y="733606"/>
            <a:ext cx="8470194" cy="193658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with</a:t>
            </a:r>
          </a:p>
          <a:p>
            <a:pPr>
              <a:lnSpc>
                <a:spcPct val="100000"/>
              </a:lnSpc>
            </a:pPr>
            <a:r>
              <a:rPr lang="en-US" sz="1000" dirty="0" err="1">
                <a:latin typeface="IBM Plex Mono Text" panose="020B0509050203000203" pitchFamily="49" charset="0"/>
              </a:rPr>
              <a:t>jahre</a:t>
            </a:r>
            <a:r>
              <a:rPr lang="en-US" sz="1000" dirty="0">
                <a:latin typeface="IBM Plex Mono Text" panose="020B0509050203000203" pitchFamily="49" charset="0"/>
              </a:rPr>
              <a:t> as (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select value as </a:t>
            </a:r>
            <a:r>
              <a:rPr lang="en-US" sz="1000" dirty="0" err="1">
                <a:latin typeface="IBM Plex Mono Text" panose="020B0509050203000203" pitchFamily="49" charset="0"/>
              </a:rPr>
              <a:t>jahr</a:t>
            </a:r>
            <a:endParaRPr lang="en-US" sz="1000" dirty="0">
              <a:latin typeface="IBM Plex Mono Text" panose="020B0509050203000203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   , timestamp(</a:t>
            </a:r>
            <a:r>
              <a:rPr lang="en-US" sz="1000" dirty="0">
                <a:highlight>
                  <a:srgbClr val="00FFFF"/>
                </a:highlight>
                <a:latin typeface="IBM Plex Mono Text" panose="020B0509050203000203" pitchFamily="49" charset="0"/>
              </a:rPr>
              <a:t>easter</a:t>
            </a:r>
            <a:r>
              <a:rPr lang="en-US" sz="1000" dirty="0">
                <a:latin typeface="IBM Plex Mono Text" panose="020B0509050203000203" pitchFamily="49" charset="0"/>
              </a:rPr>
              <a:t>(value)) as 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endParaRPr lang="en-US" sz="1000" dirty="0">
              <a:latin typeface="IBM Plex Mono Text" panose="020B0509050203000203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from table(</a:t>
            </a:r>
            <a:r>
              <a:rPr lang="en-US" sz="1000" dirty="0" err="1">
                <a:highlight>
                  <a:srgbClr val="00FFFF"/>
                </a:highlight>
                <a:latin typeface="IBM Plex Mono Text" panose="020B0509050203000203" pitchFamily="49" charset="0"/>
              </a:rPr>
              <a:t>generate_series</a:t>
            </a:r>
            <a:r>
              <a:rPr lang="en-US" sz="1000" dirty="0">
                <a:latin typeface="IBM Plex Mono Text" panose="020B0509050203000203" pitchFamily="49" charset="0"/>
              </a:rPr>
              <a:t>(year(current date), year(current date) + 10))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select </a:t>
            </a:r>
            <a:r>
              <a:rPr lang="en-US" sz="1000" dirty="0" err="1">
                <a:highlight>
                  <a:srgbClr val="00FFFF"/>
                </a:highlight>
                <a:latin typeface="IBM Plex Mono Text" panose="020B0509050203000203" pitchFamily="49" charset="0"/>
              </a:rPr>
              <a:t>to_roman</a:t>
            </a:r>
            <a:r>
              <a:rPr lang="en-US" sz="1000" dirty="0">
                <a:latin typeface="IBM Plex Mono Text" panose="020B0509050203000203" pitchFamily="49" charset="0"/>
              </a:rPr>
              <a:t>(</a:t>
            </a:r>
            <a:r>
              <a:rPr lang="en-US" sz="1000" dirty="0" err="1">
                <a:latin typeface="IBM Plex Mono Text" panose="020B0509050203000203" pitchFamily="49" charset="0"/>
              </a:rPr>
              <a:t>jahr</a:t>
            </a:r>
            <a:r>
              <a:rPr lang="en-US" sz="1000" dirty="0">
                <a:latin typeface="IBM Plex Mono Text" panose="020B0509050203000203" pitchFamily="49" charset="0"/>
              </a:rPr>
              <a:t>) as "Jahr"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 , </a:t>
            </a:r>
            <a:r>
              <a:rPr lang="en-US" sz="1000" dirty="0" err="1">
                <a:highlight>
                  <a:srgbClr val="00FFFF"/>
                </a:highlight>
                <a:latin typeface="IBM Plex Mono Text" panose="020B0509050203000203" pitchFamily="49" charset="0"/>
              </a:rPr>
              <a:t>formattimestamp</a:t>
            </a:r>
            <a:r>
              <a:rPr lang="en-US" sz="1000" dirty="0">
                <a:latin typeface="IBM Plex Mono Text" panose="020B0509050203000203" pitchFamily="49" charset="0"/>
              </a:rPr>
              <a:t>(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r>
              <a:rPr lang="en-US" sz="1000" dirty="0">
                <a:latin typeface="IBM Plex Mono Text" panose="020B0509050203000203" pitchFamily="49" charset="0"/>
              </a:rPr>
              <a:t>,           'd. MMMM', 'de-DE') as "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r>
              <a:rPr lang="en-US" sz="1000" dirty="0">
                <a:latin typeface="IBM Plex Mono Text" panose="020B0509050203000203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 , </a:t>
            </a:r>
            <a:r>
              <a:rPr lang="en-US" sz="1000" dirty="0" err="1">
                <a:latin typeface="IBM Plex Mono Text" panose="020B0509050203000203" pitchFamily="49" charset="0"/>
              </a:rPr>
              <a:t>formattimestamp</a:t>
            </a:r>
            <a:r>
              <a:rPr lang="en-US" sz="1000" dirty="0">
                <a:latin typeface="IBM Plex Mono Text" panose="020B0509050203000203" pitchFamily="49" charset="0"/>
              </a:rPr>
              <a:t>(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r>
              <a:rPr lang="en-US" sz="1000" dirty="0">
                <a:latin typeface="IBM Plex Mono Text" panose="020B0509050203000203" pitchFamily="49" charset="0"/>
              </a:rPr>
              <a:t> + 39 days, 'd. MMMM', 'de-DE') as "</a:t>
            </a:r>
            <a:r>
              <a:rPr lang="en-US" sz="1000" dirty="0" err="1">
                <a:latin typeface="IBM Plex Mono Text" panose="020B0509050203000203" pitchFamily="49" charset="0"/>
              </a:rPr>
              <a:t>Himmelfahrt</a:t>
            </a:r>
            <a:r>
              <a:rPr lang="en-US" sz="1000" dirty="0">
                <a:latin typeface="IBM Plex Mono Text" panose="020B0509050203000203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 , </a:t>
            </a:r>
            <a:r>
              <a:rPr lang="en-US" sz="1000" dirty="0" err="1">
                <a:latin typeface="IBM Plex Mono Text" panose="020B0509050203000203" pitchFamily="49" charset="0"/>
              </a:rPr>
              <a:t>formattimestamp</a:t>
            </a:r>
            <a:r>
              <a:rPr lang="en-US" sz="1000" dirty="0">
                <a:latin typeface="IBM Plex Mono Text" panose="020B0509050203000203" pitchFamily="49" charset="0"/>
              </a:rPr>
              <a:t>(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r>
              <a:rPr lang="en-US" sz="1000" dirty="0">
                <a:latin typeface="IBM Plex Mono Text" panose="020B0509050203000203" pitchFamily="49" charset="0"/>
              </a:rPr>
              <a:t> + 49 days, 'd. MMMM', 'de-DE') as "Pfingsten"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   , </a:t>
            </a:r>
            <a:r>
              <a:rPr lang="en-US" sz="1000" dirty="0" err="1">
                <a:latin typeface="IBM Plex Mono Text" panose="020B0509050203000203" pitchFamily="49" charset="0"/>
              </a:rPr>
              <a:t>formattimestamp</a:t>
            </a:r>
            <a:r>
              <a:rPr lang="en-US" sz="1000" dirty="0">
                <a:latin typeface="IBM Plex Mono Text" panose="020B0509050203000203" pitchFamily="49" charset="0"/>
              </a:rPr>
              <a:t>(</a:t>
            </a:r>
            <a:r>
              <a:rPr lang="en-US" sz="1000" dirty="0" err="1">
                <a:latin typeface="IBM Plex Mono Text" panose="020B0509050203000203" pitchFamily="49" charset="0"/>
              </a:rPr>
              <a:t>ostern</a:t>
            </a:r>
            <a:r>
              <a:rPr lang="en-US" sz="1000" dirty="0">
                <a:latin typeface="IBM Plex Mono Text" panose="020B0509050203000203" pitchFamily="49" charset="0"/>
              </a:rPr>
              <a:t> + 60 days, 'd. MMMM', 'de-DE') as "</a:t>
            </a:r>
            <a:r>
              <a:rPr lang="en-US" sz="1000" dirty="0" err="1">
                <a:latin typeface="IBM Plex Mono Text" panose="020B0509050203000203" pitchFamily="49" charset="0"/>
              </a:rPr>
              <a:t>Fronleichnam</a:t>
            </a:r>
            <a:r>
              <a:rPr lang="en-US" sz="1000" dirty="0">
                <a:latin typeface="IBM Plex Mono Text" panose="020B0509050203000203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latin typeface="IBM Plex Mono Text" panose="020B0509050203000203" pitchFamily="49" charset="0"/>
              </a:rPr>
              <a:t>  from </a:t>
            </a:r>
            <a:r>
              <a:rPr lang="en-US" sz="1000" dirty="0" err="1">
                <a:latin typeface="IBM Plex Mono Text" panose="020B0509050203000203" pitchFamily="49" charset="0"/>
              </a:rPr>
              <a:t>jahre</a:t>
            </a:r>
            <a:endParaRPr lang="en-US" sz="1000" dirty="0">
              <a:latin typeface="IBM Plex Mono Text" panose="020B0509050203000203" pitchFamily="49" charset="0"/>
            </a:endParaRPr>
          </a:p>
          <a:p>
            <a:pPr>
              <a:lnSpc>
                <a:spcPct val="100000"/>
              </a:lnSpc>
            </a:pPr>
            <a:endParaRPr lang="en-US" sz="1000" dirty="0">
              <a:latin typeface="IBM Plex Mono Text" panose="020B0509050203000203" pitchFamily="49" charset="0"/>
            </a:endParaRPr>
          </a:p>
          <a:p>
            <a:pPr>
              <a:lnSpc>
                <a:spcPct val="100000"/>
              </a:lnSpc>
            </a:pPr>
            <a:endParaRPr lang="en-US" sz="1000" dirty="0">
              <a:latin typeface="IBM Plex Mono Text" panose="020B0509050203000203" pitchFamily="49" charset="0"/>
            </a:endParaRPr>
          </a:p>
          <a:p>
            <a:pPr>
              <a:lnSpc>
                <a:spcPct val="100000"/>
              </a:lnSpc>
            </a:pPr>
            <a:endParaRPr lang="en-DE" sz="1000" dirty="0">
              <a:latin typeface="IBM Plex Mono Text" panose="020B0509050203000203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1BF287-68B5-0788-7618-75D974B6A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35214"/>
              </p:ext>
            </p:extLst>
          </p:nvPr>
        </p:nvGraphicFramePr>
        <p:xfrm>
          <a:off x="215475" y="2911157"/>
          <a:ext cx="8469315" cy="1219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93863">
                  <a:extLst>
                    <a:ext uri="{9D8B030D-6E8A-4147-A177-3AD203B41FA5}">
                      <a16:colId xmlns:a16="http://schemas.microsoft.com/office/drawing/2014/main" val="1810311180"/>
                    </a:ext>
                  </a:extLst>
                </a:gridCol>
                <a:gridCol w="1693863">
                  <a:extLst>
                    <a:ext uri="{9D8B030D-6E8A-4147-A177-3AD203B41FA5}">
                      <a16:colId xmlns:a16="http://schemas.microsoft.com/office/drawing/2014/main" val="1833299943"/>
                    </a:ext>
                  </a:extLst>
                </a:gridCol>
                <a:gridCol w="1693863">
                  <a:extLst>
                    <a:ext uri="{9D8B030D-6E8A-4147-A177-3AD203B41FA5}">
                      <a16:colId xmlns:a16="http://schemas.microsoft.com/office/drawing/2014/main" val="2157064620"/>
                    </a:ext>
                  </a:extLst>
                </a:gridCol>
                <a:gridCol w="1693863">
                  <a:extLst>
                    <a:ext uri="{9D8B030D-6E8A-4147-A177-3AD203B41FA5}">
                      <a16:colId xmlns:a16="http://schemas.microsoft.com/office/drawing/2014/main" val="3582713625"/>
                    </a:ext>
                  </a:extLst>
                </a:gridCol>
                <a:gridCol w="1693863">
                  <a:extLst>
                    <a:ext uri="{9D8B030D-6E8A-4147-A177-3AD203B41FA5}">
                      <a16:colId xmlns:a16="http://schemas.microsoft.com/office/drawing/2014/main" val="2999981508"/>
                    </a:ext>
                  </a:extLst>
                </a:gridCol>
              </a:tblGrid>
              <a:tr h="142309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Jahr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sz="1000" dirty="0" err="1">
                          <a:solidFill>
                            <a:schemeClr val="bg1"/>
                          </a:solidFill>
                          <a:effectLst/>
                        </a:rPr>
                        <a:t>Ostern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sz="1000" dirty="0" err="1">
                          <a:solidFill>
                            <a:schemeClr val="bg1"/>
                          </a:solidFill>
                          <a:effectLst/>
                        </a:rPr>
                        <a:t>Himmelfahrt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Pfingsten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sz="1000" dirty="0" err="1">
                          <a:solidFill>
                            <a:schemeClr val="bg1"/>
                          </a:solidFill>
                          <a:effectLst/>
                        </a:rPr>
                        <a:t>Fronleichnam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686641"/>
                  </a:ext>
                </a:extLst>
              </a:tr>
              <a:tr h="14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MMXXVI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5. April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14. Mai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</a:rPr>
                        <a:t>24. Mai</a:t>
                      </a:r>
                      <a:endParaRPr lang="en-US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4. Juni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494457"/>
                  </a:ext>
                </a:extLst>
              </a:tr>
              <a:tr h="14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MMXXVII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</a:rPr>
                        <a:t>28. März</a:t>
                      </a:r>
                      <a:endParaRPr lang="en-US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6. Mai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16. Mai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27. Mai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590880"/>
                  </a:ext>
                </a:extLst>
              </a:tr>
              <a:tr h="14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MMXXVIII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</a:rPr>
                        <a:t>16. April</a:t>
                      </a:r>
                      <a:endParaRPr lang="en-US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25. Mai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4. Juni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>
                          <a:solidFill>
                            <a:srgbClr val="525252"/>
                          </a:solidFill>
                          <a:effectLst/>
                        </a:rPr>
                        <a:t>15. Juni</a:t>
                      </a:r>
                      <a:endParaRPr lang="en-US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423736"/>
                  </a:ext>
                </a:extLst>
              </a:tr>
              <a:tr h="14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64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7691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8BA7231-C9B5-95DB-C4DD-74B3CE7B8F2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7069" y="214312"/>
            <a:ext cx="3996000" cy="3996000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2" y="116681"/>
            <a:ext cx="4193388" cy="38838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Why This Library Exists (2 minutes)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Db2 for z/OS lacks many </a:t>
            </a:r>
            <a:r>
              <a:rPr lang="en-US" dirty="0"/>
              <a:t>useful </a:t>
            </a:r>
            <a:r>
              <a:rPr dirty="0"/>
              <a:t>functions that </a:t>
            </a:r>
            <a:r>
              <a:rPr lang="en-US" dirty="0"/>
              <a:t>may be useful to developers and DBs alike</a:t>
            </a:r>
            <a:r>
              <a:rPr dirty="0"/>
              <a:t>: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R</a:t>
            </a:r>
            <a:r>
              <a:rPr dirty="0"/>
              <a:t>egular expression support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Data type testing and conversion</a:t>
            </a: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dirty="0"/>
              <a:t>Base64 encoding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/>
              <a:t>decoding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CSV unload in user-defined formats</a:t>
            </a: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Dir</a:t>
            </a:r>
            <a:r>
              <a:rPr dirty="0"/>
              <a:t>ect JCL submission </a:t>
            </a:r>
            <a:r>
              <a:rPr lang="en-US" dirty="0"/>
              <a:t>and output retrieval </a:t>
            </a:r>
            <a:r>
              <a:rPr dirty="0"/>
              <a:t>from SQL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R</a:t>
            </a:r>
            <a:r>
              <a:rPr dirty="0"/>
              <a:t>ead</a:t>
            </a:r>
            <a:r>
              <a:rPr lang="en-US" dirty="0"/>
              <a:t>ing</a:t>
            </a:r>
            <a:r>
              <a:rPr dirty="0"/>
              <a:t> flat files</a:t>
            </a:r>
            <a:r>
              <a:rPr lang="en-US" dirty="0"/>
              <a:t> as “virtual” database tables</a:t>
            </a: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Extended s</a:t>
            </a:r>
            <a:r>
              <a:rPr dirty="0"/>
              <a:t>tring </a:t>
            </a:r>
            <a:r>
              <a:rPr lang="en-US" dirty="0"/>
              <a:t>formatting capabilities</a:t>
            </a: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S</a:t>
            </a:r>
            <a:r>
              <a:rPr dirty="0"/>
              <a:t>ystem integration (APF lists, RACF profiles)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20+ production-ready user-defined functions that:</a:t>
            </a:r>
            <a:br>
              <a:rPr lang="en-US" dirty="0"/>
            </a:br>
            <a:endParaRPr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b="1" dirty="0"/>
              <a:t>Extend Db2</a:t>
            </a:r>
            <a:r>
              <a:rPr dirty="0"/>
              <a:t> without modifying the subsystem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b="1" dirty="0"/>
              <a:t>Integrate</a:t>
            </a:r>
            <a:r>
              <a:rPr dirty="0"/>
              <a:t> with z/OS services (JES, RACF, APF)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b="1" dirty="0"/>
              <a:t>Support</a:t>
            </a:r>
            <a:r>
              <a:rPr dirty="0"/>
              <a:t> modern formats (JSON, CSV, Base64, regex)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b="1" dirty="0"/>
              <a:t>Simplify</a:t>
            </a:r>
            <a:r>
              <a:rPr dirty="0"/>
              <a:t> complex operations into SQL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Value Proposition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154524"/>
              </p:ext>
            </p:extLst>
          </p:nvPr>
        </p:nvGraphicFramePr>
        <p:xfrm>
          <a:off x="457200" y="1193800"/>
          <a:ext cx="8229600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1" dirty="0">
                          <a:solidFill>
                            <a:schemeClr val="bg1"/>
                          </a:solidFill>
                          <a:latin typeface="IBM Plex Sans SemiBold" panose="020B0703050203000203" pitchFamily="34" charset="0"/>
                        </a:rPr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1" dirty="0">
                          <a:solidFill>
                            <a:schemeClr val="bg1"/>
                          </a:solidFill>
                          <a:latin typeface="IBM Plex Sans SemiBold" panose="020B0703050203000203" pitchFamily="34" charset="0"/>
                        </a:rPr>
                        <a:t>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Write COBOL program to read flat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0" dirty="0">
                          <a:solidFill>
                            <a:schemeClr val="tx1"/>
                          </a:solidFill>
                          <a:latin typeface="IBM Plex Mono Light" panose="020B0409050203000203" pitchFamily="49" charset="0"/>
                        </a:rPr>
                        <a:t>SELECT * FROM TABLE(READ_GENERIC_FILE(…))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Submit JCL manually, check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0" dirty="0">
                          <a:solidFill>
                            <a:schemeClr val="tx1"/>
                          </a:solidFill>
                          <a:latin typeface="IBM Plex Mono Light" panose="020B0409050203000203" pitchFamily="49" charset="0"/>
                        </a:rPr>
                        <a:t>SELECT * FROM TABLE(SUBMIT_T(…))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Complex string parsing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IBM Plex Mono Light" panose="020B0409050203000203" pitchFamily="49" charset="0"/>
                        </a:rPr>
                        <a:t> … </a:t>
                      </a:r>
                      <a:r>
                        <a:rPr sz="1200" b="0" dirty="0">
                          <a:solidFill>
                            <a:schemeClr val="tx1"/>
                          </a:solidFill>
                          <a:latin typeface="IBM Plex Mono Light" panose="020B0409050203000203" pitchFamily="49" charset="0"/>
                        </a:rPr>
                        <a:t>WHERE REGEX_MATCHES(column, pattern)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Multiple utility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0" dirty="0">
                          <a:solidFill>
                            <a:schemeClr val="tx1"/>
                          </a:solidFill>
                          <a:latin typeface="IBM Plex Mono Light" panose="020B0409050203000203" pitchFamily="49" charset="0"/>
                        </a:rPr>
                        <a:t>CALL RUNSTATS(’SCHEMA.%’, ’TABLE’)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42AFF38-42C0-83AC-29E6-9BEDDD65229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7069" y="214312"/>
            <a:ext cx="3996000" cy="3996000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2" y="116681"/>
            <a:ext cx="4016290" cy="38838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Architecture Overview (2 minutes)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Four Implementation Types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927802"/>
              </p:ext>
            </p:extLst>
          </p:nvPr>
        </p:nvGraphicFramePr>
        <p:xfrm>
          <a:off x="457200" y="1193800"/>
          <a:ext cx="8229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7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When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TRY_INTEGER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sz="1400" dirty="0">
                          <a:solidFill>
                            <a:schemeClr val="tx1"/>
                          </a:solidFill>
                        </a:rPr>
                        <a:t>SPLIT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REGEX_MATCH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Fastest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Simple logic, set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BASE64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sz="1400" dirty="0">
                          <a:solidFill>
                            <a:schemeClr val="tx1"/>
                          </a:solidFill>
                        </a:rPr>
                        <a:t>REGEX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_MATCH</a:t>
                      </a:r>
                      <a:r>
                        <a:rPr sz="1400" dirty="0">
                          <a:solidFill>
                            <a:schemeClr val="tx1"/>
                          </a:solidFill>
                        </a:rPr>
                        <a:t> SPRINTF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Complex logic, existing libraries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READ_GENERIC_FILE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Very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Unix-style</a:t>
                      </a:r>
                      <a:r>
                        <a:rPr sz="1400" dirty="0">
                          <a:solidFill>
                            <a:schemeClr val="tx1"/>
                          </a:solidFill>
                        </a:rPr>
                        <a:t> system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</a:rPr>
                        <a:t>COBOL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APFLIST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sz="1400" dirty="0">
                          <a:solidFill>
                            <a:schemeClr val="tx1"/>
                          </a:solidFill>
                        </a:rPr>
                        <a:t>RACFPROFILE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Mainframe integration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MVS-style system calls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IBM Plex Mono Light" panose="020B0409050203000203" pitchFamily="49" charset="0"/>
              </a:rPr>
              <a:t>SQL Query → Db2 Engine → WLM Environment → Function Code → Result</a:t>
            </a:r>
          </a:p>
          <a:p>
            <a:br>
              <a:rPr lang="en-US" dirty="0"/>
            </a:br>
            <a:r>
              <a:rPr lang="en-US" dirty="0" err="1"/>
              <a:t>Inlined</a:t>
            </a:r>
            <a:r>
              <a:rPr lang="en-US" dirty="0"/>
              <a:t> SQL functions execute in Db2 engine (fastest)</a:t>
            </a:r>
          </a:p>
          <a:p>
            <a:pPr lvl="0"/>
            <a:r>
              <a:rPr lang="en-US" dirty="0"/>
              <a:t>Compiled SQL functions also execute in Db2 engine (fastest)</a:t>
            </a:r>
          </a:p>
          <a:p>
            <a:pPr lvl="0"/>
            <a:r>
              <a:rPr lang="en-US" dirty="0"/>
              <a:t>External functions run in WLM-managed address spaces</a:t>
            </a:r>
          </a:p>
          <a:p>
            <a:pPr lvl="0"/>
            <a:r>
              <a:rPr dirty="0"/>
              <a:t>Java functions require JVM startup (one-time cost)</a:t>
            </a:r>
          </a:p>
          <a:p>
            <a:pPr lvl="0"/>
            <a:r>
              <a:rPr dirty="0"/>
              <a:t>C</a:t>
            </a:r>
            <a:r>
              <a:rPr lang="en-US" dirty="0"/>
              <a:t> or </a:t>
            </a:r>
            <a:r>
              <a:rPr dirty="0"/>
              <a:t>COBOL functions have minimal overhead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D4537F2-4D46-EB86-D1E9-6FDAA7A3AB6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7067" y="214310"/>
            <a:ext cx="3996000" cy="3996000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Quick Installation</a:t>
            </a:r>
            <a:br>
              <a:rPr lang="en-US" dirty="0"/>
            </a:br>
            <a:r>
              <a:rPr dirty="0"/>
              <a:t>(3 minutes)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dirty="0"/>
              <a:t>Db2 12 or 13 for z/OS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dirty="0"/>
              <a:t>WLM environments configured (Java, C, COBOL)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dirty="0"/>
              <a:t>Appropriate authorities (SYSADM or schema owner)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-- 1. Create schema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CREATE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SCHEMA</a:t>
            </a:r>
            <a:r>
              <a:rPr dirty="0">
                <a:latin typeface="IBM Plex Mono Light" panose="020B0409050203000203" pitchFamily="49" charset="0"/>
              </a:rPr>
              <a:t> PROD_ROUTINES;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-- 2. Install SQL functions (run DDL scripts)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@install/sql/easter.sql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@install/sql/split.sql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@install/sql/runstats.sql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-- 3. Install Java JAR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CALL</a:t>
            </a:r>
            <a:r>
              <a:rPr dirty="0">
                <a:latin typeface="IBM Plex Mono Light" panose="020B0409050203000203" pitchFamily="49" charset="0"/>
              </a:rPr>
              <a:t> SQLJ.DB2_INSTALL_JAR(</a:t>
            </a:r>
            <a:br>
              <a:rPr dirty="0"/>
            </a:br>
            <a:r>
              <a:rPr dirty="0">
                <a:latin typeface="IBM Plex Mono Light" panose="020B0409050203000203" pitchFamily="49" charset="0"/>
              </a:rPr>
              <a:t>  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'file:///u/db2prod/lib/routines.jar'</a:t>
            </a:r>
            <a:r>
              <a:rPr dirty="0">
                <a:latin typeface="IBM Plex Mono Light" panose="020B0409050203000203" pitchFamily="49" charset="0"/>
              </a:rPr>
              <a:t>,</a:t>
            </a:r>
            <a:br>
              <a:rPr dirty="0"/>
            </a:br>
            <a:r>
              <a:rPr dirty="0">
                <a:latin typeface="IBM Plex Mono Light" panose="020B0409050203000203" pitchFamily="49" charset="0"/>
              </a:rPr>
              <a:t>  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'PROD_ROUTINES.ROUTINES'</a:t>
            </a:r>
            <a:r>
              <a:rPr dirty="0">
                <a:latin typeface="IBM Plex Mono Light" panose="020B0409050203000203" pitchFamily="49" charset="0"/>
              </a:rPr>
              <a:t>,</a:t>
            </a:r>
            <a:br>
              <a:rPr dirty="0"/>
            </a:br>
            <a:r>
              <a:rPr dirty="0">
                <a:latin typeface="IBM Plex Mono Light" panose="020B0409050203000203" pitchFamily="49" charset="0"/>
              </a:rPr>
              <a:t>  </a:t>
            </a:r>
            <a:r>
              <a:rPr dirty="0">
                <a:solidFill>
                  <a:srgbClr val="40A070"/>
                </a:solidFill>
                <a:latin typeface="IBM Plex Mono Light" panose="020B0409050203000203" pitchFamily="49" charset="0"/>
              </a:rPr>
              <a:t>0</a:t>
            </a:r>
            <a:br>
              <a:rPr dirty="0"/>
            </a:br>
            <a:r>
              <a:rPr dirty="0">
                <a:latin typeface="IBM Plex Mono Light" panose="020B0409050203000203" pitchFamily="49" charset="0"/>
              </a:rPr>
              <a:t>);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-- 4. Create Java function definitions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@install/java/base64.sql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@install/java/regex.sql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-- 5. Create C/COBOL function definitions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@install/c/read_generic_file.sql</a:t>
            </a:r>
            <a:br>
              <a:rPr dirty="0"/>
            </a:br>
            <a:r>
              <a:rPr dirty="0">
                <a:solidFill>
                  <a:srgbClr val="007020"/>
                </a:solidFill>
                <a:latin typeface="IBM Plex Mono Light" panose="020B0409050203000203" pitchFamily="49" charset="0"/>
              </a:rPr>
              <a:t>@install/cobol/apflist.sql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-- 6. Grant privileges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GRANT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EXECUTE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ON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FUNCTION</a:t>
            </a:r>
            <a:r>
              <a:rPr dirty="0">
                <a:latin typeface="IBM Plex Mono Light" panose="020B0409050203000203" pitchFamily="49" charset="0"/>
              </a:rPr>
              <a:t> PROD_ROUTINES.</a:t>
            </a:r>
            <a:r>
              <a:rPr dirty="0">
                <a:solidFill>
                  <a:srgbClr val="666666"/>
                </a:solidFill>
                <a:latin typeface="IBM Plex Mono Light" panose="020B0409050203000203" pitchFamily="49" charset="0"/>
              </a:rPr>
              <a:t>*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TO</a:t>
            </a:r>
            <a:r>
              <a:rPr dirty="0">
                <a:latin typeface="IBM Plex Mono Light" panose="020B0409050203000203" pitchFamily="49" charset="0"/>
              </a:rPr>
              <a:t> APP_ROLE;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-- 7. Refresh WLM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CALL</a:t>
            </a:r>
            <a:r>
              <a:rPr dirty="0">
                <a:latin typeface="IBM Plex Mono Light" panose="020B0409050203000203" pitchFamily="49" charset="0"/>
              </a:rPr>
              <a:t> SYSPROC.WLM_REFRESH(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'WLMJAVA'</a:t>
            </a:r>
            <a:r>
              <a:rPr dirty="0">
                <a:latin typeface="IBM Plex Mono Light" panose="020B0409050203000203" pitchFamily="49" charset="0"/>
              </a:rPr>
              <a:t>,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NULL</a:t>
            </a:r>
            <a:r>
              <a:rPr dirty="0">
                <a:latin typeface="IBM Plex Mono Light" panose="020B0409050203000203" pitchFamily="49" charset="0"/>
              </a:rPr>
              <a:t>, ?, ?);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Test each category</a:t>
            </a:r>
            <a:br>
              <a:rPr dirty="0"/>
            </a:b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EASTER(</a:t>
            </a:r>
            <a:r>
              <a:rPr dirty="0">
                <a:solidFill>
                  <a:srgbClr val="40A070"/>
                </a:solidFill>
                <a:latin typeface="IBM Plex Mono Light" panose="020B0409050203000203" pitchFamily="49" charset="0"/>
              </a:rPr>
              <a:t>2026</a:t>
            </a:r>
            <a:r>
              <a:rPr dirty="0">
                <a:latin typeface="IBM Plex Mono Light" panose="020B0409050203000203" pitchFamily="49" charset="0"/>
              </a:rPr>
              <a:t>)</a:t>
            </a:r>
            <a:r>
              <a:rPr lang="en-US" dirty="0">
                <a:latin typeface="IBM Plex Mono Light" panose="020B0409050203000203" pitchFamily="49" charset="0"/>
              </a:rPr>
              <a:t> FROM SYSIBM.SYSDUMMY1</a:t>
            </a:r>
            <a:r>
              <a:rPr dirty="0">
                <a:latin typeface="IBM Plex Mono Light" panose="020B0409050203000203" pitchFamily="49" charset="0"/>
              </a:rPr>
              <a:t>;                 </a:t>
            </a: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SQL function</a:t>
            </a:r>
            <a:br>
              <a:rPr dirty="0"/>
            </a:b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BASE64ENCODE(</a:t>
            </a:r>
            <a:r>
              <a:rPr dirty="0">
                <a:solidFill>
                  <a:srgbClr val="902000"/>
                </a:solidFill>
                <a:latin typeface="IBM Plex Mono Light" panose="020B0409050203000203" pitchFamily="49" charset="0"/>
              </a:rPr>
              <a:t>BLOB</a:t>
            </a:r>
            <a:r>
              <a:rPr dirty="0">
                <a:latin typeface="IBM Plex Mono Light" panose="020B0409050203000203" pitchFamily="49" charset="0"/>
              </a:rPr>
              <a:t>(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'Hello'</a:t>
            </a:r>
            <a:r>
              <a:rPr dirty="0">
                <a:latin typeface="IBM Plex Mono Light" panose="020B0409050203000203" pitchFamily="49" charset="0"/>
              </a:rPr>
              <a:t>))</a:t>
            </a:r>
            <a:r>
              <a:rPr lang="en-US" dirty="0">
                <a:latin typeface="IBM Plex Mono Light" panose="020B0409050203000203" pitchFamily="49" charset="0"/>
              </a:rPr>
              <a:t> FROM SYSIBM.SYSDUMMY1</a:t>
            </a:r>
            <a:r>
              <a:rPr dirty="0">
                <a:latin typeface="IBM Plex Mono Light" panose="020B0409050203000203" pitchFamily="49" charset="0"/>
              </a:rPr>
              <a:t>;  </a:t>
            </a:r>
            <a:r>
              <a:rPr lang="en-DE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</a:t>
            </a: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 Java function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dirty="0">
                <a:solidFill>
                  <a:srgbClr val="666666"/>
                </a:solidFill>
                <a:latin typeface="IBM Plex Mono Light" panose="020B0409050203000203" pitchFamily="49" charset="0"/>
              </a:rPr>
              <a:t>*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TABLE</a:t>
            </a:r>
            <a:r>
              <a:rPr dirty="0">
                <a:latin typeface="IBM Plex Mono Light" panose="020B0409050203000203" pitchFamily="49" charset="0"/>
              </a:rPr>
              <a:t>(APFLIST())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dirty="0">
                <a:latin typeface="IBM Plex Mono Light" panose="020B0409050203000203" pitchFamily="49" charset="0"/>
              </a:rPr>
              <a:t> T</a:t>
            </a:r>
            <a:r>
              <a:rPr lang="en-US" dirty="0">
                <a:latin typeface="IBM Plex Mono Light" panose="020B0409050203000203" pitchFamily="49" charset="0"/>
              </a:rPr>
              <a:t>;</a:t>
            </a:r>
            <a:r>
              <a:rPr dirty="0">
                <a:latin typeface="IBM Plex Mono Light" panose="020B0409050203000203" pitchFamily="49" charset="0"/>
              </a:rPr>
              <a:t>   </a:t>
            </a:r>
            <a:r>
              <a:rPr lang="en-US" dirty="0">
                <a:latin typeface="IBM Plex Mono Light" panose="020B0409050203000203" pitchFamily="49" charset="0"/>
              </a:rPr>
              <a:t>		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lang="en-US" dirty="0">
                <a:latin typeface="IBM Plex Mono Light" panose="020B0409050203000203" pitchFamily="49" charset="0"/>
              </a:rPr>
              <a:t>     </a:t>
            </a: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COBOL function</a:t>
            </a:r>
            <a:br>
              <a:rPr dirty="0"/>
            </a:br>
            <a:endParaRPr dirty="0">
              <a:latin typeface="IBM Plex Mono Light" panose="020B0409050203000203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EA74670-236F-C39A-AA3F-D503E39E287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7068" y="214311"/>
            <a:ext cx="3996000" cy="3996000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Critical Security Points (2 minutes)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Security Models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114134"/>
              </p:ext>
            </p:extLst>
          </p:nvPr>
        </p:nvGraphicFramePr>
        <p:xfrm>
          <a:off x="457200" y="1193800"/>
          <a:ext cx="8229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SECURITY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Invoker’s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</a:rPr>
                        <a:t>Use for most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SECURITY DEFINER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Owner’s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</a:rPr>
                        <a:t>Only when necessary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Security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Input Validation</a:t>
            </a:r>
            <a:r>
              <a:t> - Always validate NULL, length, format</a:t>
            </a:r>
          </a:p>
          <a:p>
            <a:pPr marL="342900" lvl="0" indent="-342900">
              <a:buAutoNum type="arabicPeriod"/>
            </a:pPr>
            <a:r>
              <a:rPr b="1"/>
              <a:t>Least Privilege</a:t>
            </a:r>
            <a:r>
              <a:t> - Grant EXECUTE only to authorized users</a:t>
            </a:r>
          </a:p>
          <a:p>
            <a:pPr marL="342900" lvl="0" indent="-342900">
              <a:buAutoNum type="arabicPeriod"/>
            </a:pPr>
            <a:r>
              <a:rPr b="1"/>
              <a:t>Audit Logging</a:t>
            </a:r>
            <a:r>
              <a:t> - Track function usage</a:t>
            </a:r>
          </a:p>
          <a:p>
            <a:pPr marL="342900" lvl="0" indent="-342900">
              <a:buAutoNum type="arabicPeriod"/>
            </a:pPr>
            <a:r>
              <a:rPr b="1"/>
              <a:t>RACF Integration</a:t>
            </a:r>
            <a:r>
              <a:t> - Functions respect RACF controls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273D517-9692-E874-133B-79BA470B5B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7068" y="214311"/>
            <a:ext cx="3996000" cy="3996000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Routine Categories (4 minutes)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Data Type Conversion</a:t>
            </a:r>
            <a:br>
              <a:rPr lang="en-US" dirty="0"/>
            </a:b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Safe type conversion and encoding</a:t>
            </a:r>
            <a:b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Base64 encoding/decoding</a:t>
            </a:r>
            <a:br>
              <a:rPr dirty="0"/>
            </a:b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BASE64ENCODE(</a:t>
            </a:r>
            <a:r>
              <a:rPr dirty="0">
                <a:solidFill>
                  <a:srgbClr val="902000"/>
                </a:solidFill>
                <a:latin typeface="IBM Plex Mono Light" panose="020B0409050203000203" pitchFamily="49" charset="0"/>
              </a:rPr>
              <a:t>BLOB</a:t>
            </a:r>
            <a:r>
              <a:rPr dirty="0">
                <a:latin typeface="IBM Plex Mono Light" panose="020B0409050203000203" pitchFamily="49" charset="0"/>
              </a:rPr>
              <a:t>(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'Hello World'</a:t>
            </a:r>
            <a:r>
              <a:rPr dirty="0">
                <a:latin typeface="IBM Plex Mono Light" panose="020B0409050203000203" pitchFamily="49" charset="0"/>
              </a:rPr>
              <a:t>))</a:t>
            </a:r>
            <a:r>
              <a:rPr lang="en-US" dirty="0">
                <a:latin typeface="IBM Plex Mono Light" panose="020B0409050203000203" pitchFamily="49" charset="0"/>
              </a:rPr>
              <a:t> </a:t>
            </a: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 SYSIBM.SYSDUMMY1</a:t>
            </a:r>
            <a:r>
              <a:rPr dirty="0">
                <a:latin typeface="IBM Plex Mono Light" panose="020B0409050203000203" pitchFamily="49" charset="0"/>
              </a:rPr>
              <a:t>;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Result: SGVsbG8gV29ybGQ=</a:t>
            </a:r>
            <a:br>
              <a:rPr dirty="0"/>
            </a:br>
            <a:br>
              <a:rPr dirty="0"/>
            </a:b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BASE64DECODE(</a:t>
            </a:r>
            <a:r>
              <a:rPr dirty="0">
                <a:solidFill>
                  <a:srgbClr val="4070A0"/>
                </a:solidFill>
                <a:latin typeface="IBM Plex Mono Light" panose="020B0409050203000203" pitchFamily="49" charset="0"/>
              </a:rPr>
              <a:t>'SGVsbG8gV29ybGQ='</a:t>
            </a:r>
            <a:r>
              <a:rPr dirty="0">
                <a:latin typeface="IBM Plex Mono Light" panose="020B0409050203000203" pitchFamily="49" charset="0"/>
              </a:rPr>
              <a:t>)</a:t>
            </a:r>
            <a:r>
              <a:rPr lang="en-US" dirty="0">
                <a:latin typeface="IBM Plex Mono Light" panose="020B0409050203000203" pitchFamily="49" charset="0"/>
              </a:rPr>
              <a:t> </a:t>
            </a:r>
            <a:r>
              <a:rPr lang="en-US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 SYSIBM.SYSDUMMY1</a:t>
            </a:r>
            <a:r>
              <a:rPr dirty="0">
                <a:latin typeface="IBM Plex Mono Light" panose="020B0409050203000203" pitchFamily="49" charset="0"/>
              </a:rPr>
              <a:t>;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Result: BLOB('Hello World')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Safe integer conversion (returns NULL on failure)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dirty="0">
                <a:latin typeface="IBM Plex Mono Light" panose="020B0409050203000203" pitchFamily="49" charset="0"/>
              </a:rPr>
              <a:t> TRY_INTEGER(</a:t>
            </a:r>
            <a:r>
              <a:rPr dirty="0" err="1">
                <a:latin typeface="IBM Plex Mono Light" panose="020B0409050203000203" pitchFamily="49" charset="0"/>
              </a:rPr>
              <a:t>s</a:t>
            </a:r>
            <a:r>
              <a:rPr lang="en-US" dirty="0" err="1">
                <a:latin typeface="IBM Plex Mono Light" panose="020B0409050203000203" pitchFamily="49" charset="0"/>
              </a:rPr>
              <a:t>tatus</a:t>
            </a:r>
            <a:r>
              <a:rPr dirty="0" err="1">
                <a:latin typeface="IBM Plex Mono Light" panose="020B0409050203000203" pitchFamily="49" charset="0"/>
              </a:rPr>
              <a:t>_text</a:t>
            </a:r>
            <a:r>
              <a:rPr dirty="0">
                <a:latin typeface="IBM Plex Mono Light" panose="020B0409050203000203" pitchFamily="49" charset="0"/>
              </a:rPr>
              <a:t>)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lang="en-US" dirty="0" err="1">
                <a:latin typeface="IBM Plex Mono Light" panose="020B0409050203000203" pitchFamily="49" charset="0"/>
              </a:rPr>
              <a:t>status_code</a:t>
            </a:r>
            <a:br>
              <a:rPr dirty="0"/>
            </a:br>
            <a:r>
              <a:rPr dirty="0">
                <a:latin typeface="IBM Plex Mono Light" panose="020B0409050203000203" pitchFamily="49" charset="0"/>
              </a:rPr>
              <a:t>  </a:t>
            </a:r>
            <a:r>
              <a:rPr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dirty="0">
                <a:latin typeface="IBM Plex Mono Light" panose="020B0409050203000203" pitchFamily="49" charset="0"/>
              </a:rPr>
              <a:t> </a:t>
            </a:r>
            <a:r>
              <a:rPr dirty="0" err="1">
                <a:latin typeface="IBM Plex Mono Light" panose="020B0409050203000203" pitchFamily="49" charset="0"/>
              </a:rPr>
              <a:t>staging_table</a:t>
            </a:r>
            <a:r>
              <a:rPr dirty="0">
                <a:latin typeface="IBM Plex Mono Light" panose="020B0409050203000203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String Processing</a:t>
            </a:r>
            <a:br>
              <a:rPr lang="en-US" dirty="0"/>
            </a:b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Pattern matching and manipulation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Regular expression matching</a:t>
            </a:r>
            <a:r>
              <a:rPr lang="en-US"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: Find customers with invalid email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customer_id</a:t>
            </a:r>
            <a:r>
              <a:rPr sz="1200" dirty="0">
                <a:latin typeface="IBM Plex Mono Light" panose="020B0409050203000203" pitchFamily="49" charset="0"/>
              </a:rPr>
              <a:t>, email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customers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WHERE</a:t>
            </a:r>
            <a:r>
              <a:rPr sz="1200" dirty="0">
                <a:latin typeface="IBM Plex Mono Light" panose="020B0409050203000203" pitchFamily="49" charset="0"/>
              </a:rPr>
              <a:t> REGEX_MATCHES(email, 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'^[a-zA-Z0-9._%+-]+@[a-zA-Z0-9.-]+\.[a-</a:t>
            </a:r>
            <a:r>
              <a:rPr sz="1200" dirty="0" err="1">
                <a:solidFill>
                  <a:srgbClr val="4070A0"/>
                </a:solidFill>
                <a:latin typeface="IBM Plex Mono Light" panose="020B0409050203000203" pitchFamily="49" charset="0"/>
              </a:rPr>
              <a:t>zA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-Z]{2,}$'</a:t>
            </a:r>
            <a:r>
              <a:rPr sz="1200" dirty="0">
                <a:latin typeface="IBM Plex Mono Light" panose="020B0409050203000203" pitchFamily="49" charset="0"/>
              </a:rPr>
              <a:t>) </a:t>
            </a:r>
            <a:r>
              <a:rPr sz="1200" dirty="0">
                <a:solidFill>
                  <a:srgbClr val="666666"/>
                </a:solidFill>
                <a:latin typeface="IBM Plex Mono Light" panose="020B0409050203000203" pitchFamily="49" charset="0"/>
              </a:rPr>
              <a:t>=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lang="en-US" sz="1200" dirty="0">
                <a:solidFill>
                  <a:srgbClr val="40A070"/>
                </a:solidFill>
                <a:latin typeface="IBM Plex Mono Light" panose="020B0409050203000203" pitchFamily="49" charset="0"/>
              </a:rPr>
              <a:t>0</a:t>
            </a:r>
            <a:r>
              <a:rPr sz="1200" dirty="0">
                <a:latin typeface="IBM Plex Mono Light" panose="020B0409050203000203" pitchFamily="49" charset="0"/>
              </a:rPr>
              <a:t>;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String splitting (inverse of LISTAGG)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IBM Plex Mono Light" panose="020B0409050203000203" pitchFamily="49" charset="0"/>
              </a:rPr>
              <a:t>*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TABLE</a:t>
            </a:r>
            <a:r>
              <a:rPr sz="1200" dirty="0">
                <a:latin typeface="IBM Plex Mono Light" panose="020B0409050203000203" pitchFamily="49" charset="0"/>
              </a:rPr>
              <a:t>(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SPLIT</a:t>
            </a:r>
            <a:r>
              <a:rPr sz="1200" dirty="0">
                <a:latin typeface="IBM Plex Mono Light" panose="020B0409050203000203" pitchFamily="49" charset="0"/>
              </a:rPr>
              <a:t>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</a:t>
            </a:r>
            <a:r>
              <a:rPr sz="1200" dirty="0" err="1">
                <a:solidFill>
                  <a:srgbClr val="4070A0"/>
                </a:solidFill>
                <a:latin typeface="IBM Plex Mono Light" panose="020B0409050203000203" pitchFamily="49" charset="0"/>
              </a:rPr>
              <a:t>apple,banana,cherry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</a:t>
            </a:r>
            <a:r>
              <a:rPr sz="1200" dirty="0">
                <a:latin typeface="IBM Plex Mono Light" panose="020B0409050203000203" pitchFamily="49" charset="0"/>
              </a:rPr>
              <a:t>,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','</a:t>
            </a:r>
            <a:r>
              <a:rPr sz="1200" dirty="0">
                <a:latin typeface="IBM Plex Mono Light" panose="020B0409050203000203" pitchFamily="49" charset="0"/>
              </a:rPr>
              <a:t>))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sz="1200" dirty="0">
                <a:latin typeface="IBM Plex Mono Light" panose="020B0409050203000203" pitchFamily="49" charset="0"/>
              </a:rPr>
              <a:t> T;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Returns: apple | banana | cherry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</a:t>
            </a:r>
            <a:r>
              <a:rPr sz="1200" i="1" dirty="0" err="1">
                <a:solidFill>
                  <a:srgbClr val="60A0B0"/>
                </a:solidFill>
                <a:latin typeface="IBM Plex Mono Light" panose="020B0409050203000203" pitchFamily="49" charset="0"/>
              </a:rPr>
              <a:t>Printf</a:t>
            </a: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-style formatting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SPRINTF(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'Customer %s has balance $%.2f'</a:t>
            </a:r>
            <a:r>
              <a:rPr sz="1200" dirty="0">
                <a:latin typeface="IBM Plex Mono Light" panose="020B0409050203000203" pitchFamily="49" charset="0"/>
              </a:rPr>
              <a:t>, name, balance))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lang="en-US" sz="1200" dirty="0">
                <a:latin typeface="IBM Plex Mono Light" panose="020B0409050203000203" pitchFamily="49" charset="0"/>
              </a:rPr>
              <a:t>"Balance"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accounts;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System Integration</a:t>
            </a:r>
            <a:br>
              <a:rPr lang="en-US" dirty="0"/>
            </a:b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Access z/OS system information</a:t>
            </a:r>
            <a:b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List APF-authorized libraries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dsname</a:t>
            </a:r>
            <a:r>
              <a:rPr sz="1200" dirty="0">
                <a:latin typeface="IBM Plex Mono Light" panose="020B0409050203000203" pitchFamily="49" charset="0"/>
              </a:rPr>
              <a:t>, </a:t>
            </a:r>
            <a:r>
              <a:rPr sz="1200" dirty="0" err="1">
                <a:latin typeface="IBM Plex Mono Light" panose="020B0409050203000203" pitchFamily="49" charset="0"/>
              </a:rPr>
              <a:t>volser</a:t>
            </a:r>
            <a:r>
              <a:rPr sz="1200" dirty="0">
                <a:latin typeface="IBM Plex Mono Light" panose="020B0409050203000203" pitchFamily="49" charset="0"/>
              </a:rPr>
              <a:t>, </a:t>
            </a:r>
            <a:r>
              <a:rPr sz="1200" dirty="0" err="1">
                <a:latin typeface="IBM Plex Mono Light" panose="020B0409050203000203" pitchFamily="49" charset="0"/>
              </a:rPr>
              <a:t>sms_managed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TABLE</a:t>
            </a:r>
            <a:r>
              <a:rPr sz="1200" dirty="0">
                <a:latin typeface="IBM Plex Mono Light" panose="020B0409050203000203" pitchFamily="49" charset="0"/>
              </a:rPr>
              <a:t>(APFLIST())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sz="1200" dirty="0">
                <a:latin typeface="IBM Plex Mono Light" panose="020B0409050203000203" pitchFamily="49" charset="0"/>
              </a:rPr>
              <a:t> T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ORDER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BY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dsname</a:t>
            </a:r>
            <a:r>
              <a:rPr sz="1200" dirty="0">
                <a:latin typeface="IBM Plex Mono Light" panose="020B0409050203000203" pitchFamily="49" charset="0"/>
              </a:rPr>
              <a:t>;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Find RACF profile for dataset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VALUES</a:t>
            </a:r>
            <a:r>
              <a:rPr sz="1200" dirty="0">
                <a:latin typeface="IBM Plex Mono Light" panose="020B0409050203000203" pitchFamily="49" charset="0"/>
              </a:rPr>
              <a:t> RACFPROFILE(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'PROD.PAYROLL.DATA'</a:t>
            </a:r>
            <a:r>
              <a:rPr sz="1200" dirty="0">
                <a:latin typeface="IBM Plex Mono Light" panose="020B0409050203000203" pitchFamily="49" charset="0"/>
              </a:rPr>
              <a:t>);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Result: PROD.PAYROLL.**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Read flat file with complex structure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account_id</a:t>
            </a:r>
            <a:r>
              <a:rPr sz="1200" dirty="0">
                <a:latin typeface="IBM Plex Mono Light" panose="020B0409050203000203" pitchFamily="49" charset="0"/>
              </a:rPr>
              <a:t>, balance, </a:t>
            </a:r>
            <a:r>
              <a:rPr sz="1200" dirty="0" err="1">
                <a:latin typeface="IBM Plex Mono Light" panose="020B0409050203000203" pitchFamily="49" charset="0"/>
              </a:rPr>
              <a:t>last_update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TABLE</a:t>
            </a:r>
            <a:r>
              <a:rPr sz="1200" dirty="0">
                <a:latin typeface="IBM Plex Mono Light" panose="020B0409050203000203" pitchFamily="49" charset="0"/>
              </a:rPr>
              <a:t>(READ_GENERIC_FILE(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'PROD.CUSTOMER.DATA'</a:t>
            </a:r>
            <a:r>
              <a:rPr sz="1200" dirty="0">
                <a:latin typeface="IBM Plex Mono Light" panose="020B0409050203000203" pitchFamily="49" charset="0"/>
              </a:rPr>
              <a:t>))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sz="1200" dirty="0">
                <a:latin typeface="IBM Plex Mono Light" panose="020B0409050203000203" pitchFamily="49" charset="0"/>
              </a:rPr>
              <a:t> T(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  </a:t>
            </a:r>
            <a:r>
              <a:rPr sz="1200" dirty="0" err="1">
                <a:latin typeface="IBM Plex Mono Light" panose="020B0409050203000203" pitchFamily="49" charset="0"/>
              </a:rPr>
              <a:t>account_id</a:t>
            </a: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dirty="0">
                <a:solidFill>
                  <a:srgbClr val="902000"/>
                </a:solidFill>
                <a:latin typeface="IBM Plex Mono Light" panose="020B0409050203000203" pitchFamily="49" charset="0"/>
              </a:rPr>
              <a:t>CHAR</a:t>
            </a:r>
            <a:r>
              <a:rPr sz="1200" dirty="0">
                <a:latin typeface="IBM Plex Mono Light" panose="020B0409050203000203" pitchFamily="49" charset="0"/>
              </a:rPr>
              <a:t>(</a:t>
            </a:r>
            <a:r>
              <a:rPr sz="1200" dirty="0">
                <a:solidFill>
                  <a:srgbClr val="40A070"/>
                </a:solidFill>
                <a:latin typeface="IBM Plex Mono Light" panose="020B0409050203000203" pitchFamily="49" charset="0"/>
              </a:rPr>
              <a:t>10</a:t>
            </a:r>
            <a:r>
              <a:rPr sz="1200" dirty="0">
                <a:latin typeface="IBM Plex Mono Light" panose="020B0409050203000203" pitchFamily="49" charset="0"/>
              </a:rPr>
              <a:t>),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  balance     </a:t>
            </a:r>
            <a:r>
              <a:rPr sz="1200" dirty="0">
                <a:solidFill>
                  <a:srgbClr val="902000"/>
                </a:solidFill>
                <a:latin typeface="IBM Plex Mono Light" panose="020B0409050203000203" pitchFamily="49" charset="0"/>
              </a:rPr>
              <a:t>DECIMAL</a:t>
            </a:r>
            <a:r>
              <a:rPr sz="1200" dirty="0">
                <a:latin typeface="IBM Plex Mono Light" panose="020B0409050203000203" pitchFamily="49" charset="0"/>
              </a:rPr>
              <a:t>(</a:t>
            </a:r>
            <a:r>
              <a:rPr sz="1200" dirty="0">
                <a:solidFill>
                  <a:srgbClr val="40A070"/>
                </a:solidFill>
                <a:latin typeface="IBM Plex Mono Light" panose="020B0409050203000203" pitchFamily="49" charset="0"/>
              </a:rPr>
              <a:t>15</a:t>
            </a:r>
            <a:r>
              <a:rPr sz="1200" dirty="0">
                <a:latin typeface="IBM Plex Mono Light" panose="020B0409050203000203" pitchFamily="49" charset="0"/>
              </a:rPr>
              <a:t>,</a:t>
            </a:r>
            <a:r>
              <a:rPr sz="1200" dirty="0">
                <a:solidFill>
                  <a:srgbClr val="40A070"/>
                </a:solidFill>
                <a:latin typeface="IBM Plex Mono Light" panose="020B0409050203000203" pitchFamily="49" charset="0"/>
              </a:rPr>
              <a:t>2</a:t>
            </a:r>
            <a:r>
              <a:rPr sz="1200" dirty="0">
                <a:latin typeface="IBM Plex Mono Light" panose="020B0409050203000203" pitchFamily="49" charset="0"/>
              </a:rPr>
              <a:t>),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  </a:t>
            </a:r>
            <a:r>
              <a:rPr sz="1200" dirty="0" err="1">
                <a:latin typeface="IBM Plex Mono Light" panose="020B0409050203000203" pitchFamily="49" charset="0"/>
              </a:rPr>
              <a:t>last_update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>
                <a:solidFill>
                  <a:srgbClr val="902000"/>
                </a:solidFill>
                <a:latin typeface="IBM Plex Mono Light" panose="020B0409050203000203" pitchFamily="49" charset="0"/>
              </a:rPr>
              <a:t>DATE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     );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sz="1200" b="1" dirty="0">
                <a:latin typeface="IBM Plex Mono Light" panose="020B0409050203000203" pitchFamily="49" charset="0"/>
              </a:rPr>
              <a:t>Demo Ready:</a:t>
            </a:r>
            <a:r>
              <a:rPr sz="1200" dirty="0">
                <a:latin typeface="IBM Plex Mono Light" panose="020B0409050203000203" pitchFamily="49" charset="0"/>
              </a:rPr>
              <a:t> APF list query, RACF profile lookup, flat file reading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Database Utilities</a:t>
            </a:r>
            <a:br>
              <a:rPr lang="en-US" dirty="0"/>
            </a:b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Automate common DBA tasks and make them easier accessible for end users</a:t>
            </a:r>
            <a:b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Run statistics on multiple tables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CALL</a:t>
            </a:r>
            <a:r>
              <a:rPr sz="1200" dirty="0">
                <a:latin typeface="IBM Plex Mono Light" panose="020B0409050203000203" pitchFamily="49" charset="0"/>
              </a:rPr>
              <a:t> RUNSTATS(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'PROD.%'</a:t>
            </a:r>
            <a:r>
              <a:rPr sz="1200" dirty="0">
                <a:latin typeface="IBM Plex Mono Light" panose="020B0409050203000203" pitchFamily="49" charset="0"/>
              </a:rPr>
              <a:t>,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'TABLE SHRLEVEL CHANGE'</a:t>
            </a:r>
            <a:r>
              <a:rPr sz="1200" dirty="0">
                <a:latin typeface="IBM Plex Mono Light" panose="020B0409050203000203" pitchFamily="49" charset="0"/>
              </a:rPr>
              <a:t>);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Copy table across databases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CALL</a:t>
            </a:r>
            <a:r>
              <a:rPr sz="1200" dirty="0">
                <a:latin typeface="IBM Plex Mono Light" panose="020B0409050203000203" pitchFamily="49" charset="0"/>
              </a:rPr>
              <a:t> CROSSLOAD(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'PROD.SCHEMA.CUSTOMER'</a:t>
            </a:r>
            <a:r>
              <a:rPr sz="1200" dirty="0">
                <a:latin typeface="IBM Plex Mono Light" panose="020B0409050203000203" pitchFamily="49" charset="0"/>
              </a:rPr>
              <a:t>,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'TEST.SCHEMA.CUSTOMER'</a:t>
            </a:r>
            <a:r>
              <a:rPr sz="1200" dirty="0">
                <a:latin typeface="IBM Plex Mono Light" panose="020B0409050203000203" pitchFamily="49" charset="0"/>
              </a:rPr>
              <a:t>,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'DALLASPD'</a:t>
            </a:r>
            <a:r>
              <a:rPr sz="1200" dirty="0">
                <a:latin typeface="IBM Plex Mono Light" panose="020B0409050203000203" pitchFamily="49" charset="0"/>
              </a:rPr>
              <a:t>,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'DALLASTD'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);</a:t>
            </a:r>
            <a:br>
              <a:rPr sz="1200" dirty="0">
                <a:latin typeface="IBM Plex Mono Light" panose="020B0409050203000203" pitchFamily="49" charset="0"/>
              </a:rPr>
            </a:br>
            <a:br>
              <a:rPr sz="1200" dirty="0">
                <a:latin typeface="IBM Plex Mono Light" panose="020B0409050203000203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IBM Plex Mono Light" panose="020B0409050203000203" pitchFamily="49" charset="0"/>
              </a:rPr>
              <a:t>-- Submit JCL and capture output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SELECT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line_number</a:t>
            </a:r>
            <a:r>
              <a:rPr sz="1200" dirty="0">
                <a:latin typeface="IBM Plex Mono Light" panose="020B0409050203000203" pitchFamily="49" charset="0"/>
              </a:rPr>
              <a:t>, </a:t>
            </a:r>
            <a:r>
              <a:rPr sz="1200" dirty="0" err="1">
                <a:latin typeface="IBM Plex Mono Light" panose="020B0409050203000203" pitchFamily="49" charset="0"/>
              </a:rPr>
              <a:t>line_text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FROM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TABLE</a:t>
            </a:r>
            <a:r>
              <a:rPr sz="1200" dirty="0">
                <a:latin typeface="IBM Plex Mono Light" panose="020B0409050203000203" pitchFamily="49" charset="0"/>
              </a:rPr>
              <a:t>(SUBMIT_T(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'//BACKUP JOB ...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//STEP1 EXEC PGM=IEBGENER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//'</a:t>
            </a:r>
            <a:r>
              <a:rPr sz="1200" dirty="0">
                <a:latin typeface="IBM Plex Mono Light" panose="020B0409050203000203" pitchFamily="49" charset="0"/>
              </a:rPr>
              <a:t>))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AS</a:t>
            </a:r>
            <a:r>
              <a:rPr sz="1200" dirty="0">
                <a:latin typeface="IBM Plex Mono Light" panose="020B0409050203000203" pitchFamily="49" charset="0"/>
              </a:rPr>
              <a:t> T</a:t>
            </a:r>
            <a:br>
              <a:rPr sz="1200" dirty="0">
                <a:latin typeface="IBM Plex Mono Light" panose="020B0409050203000203" pitchFamily="49" charset="0"/>
              </a:rPr>
            </a:b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WHERE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 err="1">
                <a:latin typeface="IBM Plex Mono Light" panose="020B0409050203000203" pitchFamily="49" charset="0"/>
              </a:rPr>
              <a:t>line_text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b="1" dirty="0">
                <a:solidFill>
                  <a:srgbClr val="007020"/>
                </a:solidFill>
                <a:latin typeface="IBM Plex Mono Light" panose="020B0409050203000203" pitchFamily="49" charset="0"/>
              </a:rPr>
              <a:t>LIKE</a:t>
            </a:r>
            <a:r>
              <a:rPr sz="1200" dirty="0">
                <a:latin typeface="IBM Plex Mono Light" panose="020B0409050203000203" pitchFamily="49" charset="0"/>
              </a:rPr>
              <a:t> </a:t>
            </a:r>
            <a:r>
              <a:rPr sz="1200" dirty="0">
                <a:solidFill>
                  <a:srgbClr val="4070A0"/>
                </a:solidFill>
                <a:latin typeface="IBM Plex Mono Light" panose="020B0409050203000203" pitchFamily="49" charset="0"/>
              </a:rPr>
              <a:t>'%ERROR%'</a:t>
            </a:r>
            <a:r>
              <a:rPr sz="1200" dirty="0">
                <a:latin typeface="IBM Plex Mono Light" panose="020B0409050203000203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CSV Unload: </a:t>
            </a:r>
            <a:r>
              <a:rPr dirty="0"/>
              <a:t>Purpose &amp; Technical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en-US" dirty="0"/>
              <a:t>Native Db2 for z/OS UNLOAD utility can produce CSV, but without format flexibility</a:t>
            </a: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dirty="0"/>
              <a:t>This Java UDF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Extends Db2 for z/OS beyond native utility-style unload flows when immediate CSV output is required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Fits ad hoc extract, operational reporting, and downstream file handoff scenarios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dirty="0"/>
          </a:p>
          <a:p>
            <a:pPr lvl="0"/>
            <a:r>
              <a:rPr dirty="0"/>
              <a:t>Key capabilities</a:t>
            </a:r>
            <a:r>
              <a:rPr lang="en-US" dirty="0"/>
              <a:t>:</a:t>
            </a:r>
            <a:endParaRPr dirty="0"/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Executes caller-supplied dynamic </a:t>
            </a:r>
            <a:r>
              <a:rPr dirty="0">
                <a:latin typeface="Courier"/>
              </a:rPr>
              <a:t>SELECT</a:t>
            </a:r>
            <a:r>
              <a:rPr dirty="0"/>
              <a:t>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Supports USS paths and MVS data set targets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Supports predefined Apache Commons CSV formats and custom </a:t>
            </a:r>
            <a:r>
              <a:rPr dirty="0">
                <a:latin typeface="Courier"/>
              </a:rPr>
              <a:t>key=value</a:t>
            </a:r>
            <a:r>
              <a:rPr dirty="0"/>
              <a:t> format </a:t>
            </a:r>
            <a:r>
              <a:rPr lang="en-US" dirty="0"/>
              <a:t>specs</a:t>
            </a:r>
            <a:endParaRPr dirty="0"/>
          </a:p>
          <a:p>
            <a:pPr lvl="1">
              <a:buFont typeface="Wingdings" panose="05000000000000000000" pitchFamily="2" charset="2"/>
              <a:buChar char="§"/>
            </a:pPr>
            <a:r>
              <a:rPr dirty="0"/>
              <a:t>Applies CCSID-aware output encoding</a:t>
            </a:r>
            <a:r>
              <a:rPr lang="en-US" dirty="0"/>
              <a:t> and t</a:t>
            </a:r>
            <a:r>
              <a:rPr dirty="0"/>
              <a:t>ags USS files with the requested CCSID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CSV Unload</a:t>
            </a:r>
            <a:r>
              <a:rPr dirty="0"/>
              <a:t>: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lvl="1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0B0F0"/>
                </a:solidFill>
                <a:latin typeface="Courier"/>
              </a:rPr>
              <a:t>-- </a:t>
            </a:r>
            <a:r>
              <a:rPr sz="1100" i="1" dirty="0">
                <a:solidFill>
                  <a:srgbClr val="00B0F0"/>
                </a:solidFill>
                <a:latin typeface="Courier"/>
              </a:rPr>
              <a:t>Default invocation</a:t>
            </a:r>
            <a:endParaRPr lang="en-US" sz="1100" i="1" dirty="0">
              <a:solidFill>
                <a:srgbClr val="00B0F0"/>
              </a:solidFill>
              <a:latin typeface="Courier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sz="1100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UNLOADCSV(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'SELECT EMPNO, LASTNAME, WORKDEPT</a:t>
            </a:r>
            <a:br>
              <a:rPr lang="en-US" sz="1100" dirty="0">
                <a:solidFill>
                  <a:srgbClr val="4070A0"/>
                </a:solidFill>
                <a:latin typeface="Courier"/>
              </a:rPr>
            </a:br>
            <a:r>
              <a:rPr lang="en-US" sz="1100" dirty="0">
                <a:solidFill>
                  <a:srgbClr val="4070A0"/>
                </a:solidFill>
                <a:latin typeface="Courier"/>
              </a:rPr>
              <a:t>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FROM DSN81310.EMP'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'/u/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adcdmst</a:t>
            </a:r>
            <a:r>
              <a:rPr sz="1100" dirty="0">
                <a:solidFill>
                  <a:srgbClr val="4070A0"/>
                </a:solidFill>
                <a:latin typeface="Courier"/>
              </a:rPr>
              <a:t>/emp.csv'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SYSIBM.SYSDUMMYU;</a:t>
            </a:r>
            <a:endParaRPr lang="en-US" sz="1100" dirty="0">
              <a:latin typeface="Courier"/>
            </a:endParaRPr>
          </a:p>
          <a:p>
            <a:pPr marL="0" lvl="1" indent="0">
              <a:lnSpc>
                <a:spcPct val="100000"/>
              </a:lnSpc>
              <a:buNone/>
            </a:pPr>
            <a:br>
              <a:rPr lang="en-US" sz="1100" b="1" dirty="0">
                <a:solidFill>
                  <a:srgbClr val="007020"/>
                </a:solidFill>
                <a:latin typeface="Courier"/>
              </a:rPr>
            </a:br>
            <a:br>
              <a:rPr lang="en-US" sz="1100" b="1" dirty="0">
                <a:solidFill>
                  <a:srgbClr val="007020"/>
                </a:solidFill>
                <a:latin typeface="Courier"/>
              </a:rPr>
            </a:br>
            <a:br>
              <a:rPr lang="en-US" sz="1100" b="1" dirty="0">
                <a:solidFill>
                  <a:srgbClr val="007020"/>
                </a:solidFill>
                <a:latin typeface="Courier"/>
              </a:rPr>
            </a:br>
            <a:endParaRPr lang="en-US" sz="1100" b="1" dirty="0">
              <a:solidFill>
                <a:srgbClr val="007020"/>
              </a:solidFill>
              <a:latin typeface="Courier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0B0F0"/>
                </a:solidFill>
                <a:latin typeface="Courier"/>
              </a:rPr>
              <a:t>-- Extended invocation: format and CCSID specs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sz="1100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UNLOADCSV(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'SELECT * FROM SYSIBM.SYSTABLES'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'/u/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adcdmst</a:t>
            </a:r>
            <a:r>
              <a:rPr sz="1100" dirty="0">
                <a:solidFill>
                  <a:srgbClr val="4070A0"/>
                </a:solidFill>
                <a:latin typeface="Courier"/>
              </a:rPr>
              <a:t>/systables.csv'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'RFC4180'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A070"/>
                </a:solidFill>
                <a:latin typeface="Courier"/>
              </a:rPr>
              <a:t>1208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'N'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SYSIBM.SYSDUMMYU;</a:t>
            </a:r>
            <a:br>
              <a:rPr lang="en-US" sz="1100" dirty="0">
                <a:latin typeface="Courier"/>
              </a:rPr>
            </a:br>
            <a:br>
              <a:rPr lang="en-US" sz="1100" dirty="0">
                <a:latin typeface="Courier"/>
              </a:rPr>
            </a:br>
            <a:r>
              <a:rPr lang="en-US" sz="1100" i="1" dirty="0">
                <a:solidFill>
                  <a:srgbClr val="00B0F0"/>
                </a:solidFill>
                <a:latin typeface="Courier"/>
              </a:rPr>
              <a:t>-- Custom format invocation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sz="1100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UNLOADCSV(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'SELECT C1, C2, C3 FROM APP.T1'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'/u/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adcdmst</a:t>
            </a:r>
            <a:r>
              <a:rPr sz="1100" dirty="0">
                <a:solidFill>
                  <a:srgbClr val="4070A0"/>
                </a:solidFill>
                <a:latin typeface="Courier"/>
              </a:rPr>
              <a:t>/t1_pipe.txt’</a:t>
            </a:r>
            <a:r>
              <a:rPr sz="1100" dirty="0">
                <a:latin typeface="Courier"/>
              </a:rPr>
              <a:t>,</a:t>
            </a:r>
            <a:br>
              <a:rPr lang="en-US" sz="1100" dirty="0">
                <a:latin typeface="Courier"/>
              </a:rPr>
            </a:br>
            <a:r>
              <a:rPr lang="en-US" sz="1100" dirty="0">
                <a:latin typeface="Courier"/>
              </a:rPr>
              <a:t>       </a:t>
            </a:r>
            <a:r>
              <a:rPr lang="en-DE" sz="1100" dirty="0">
                <a:latin typeface="Courier"/>
              </a:rPr>
              <a:t>  </a:t>
            </a:r>
            <a:r>
              <a:rPr lang="en-DE" sz="1100" dirty="0">
                <a:solidFill>
                  <a:srgbClr val="4070A0"/>
                </a:solidFill>
                <a:latin typeface="Courier"/>
              </a:rPr>
              <a:t>'</a:t>
            </a:r>
            <a:r>
              <a:rPr sz="1100" dirty="0">
                <a:solidFill>
                  <a:srgbClr val="4070A0"/>
                </a:solidFill>
                <a:latin typeface="Courier"/>
              </a:rPr>
              <a:t>delimiter=\|;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quoteMode</a:t>
            </a:r>
            <a:r>
              <a:rPr sz="1100" dirty="0">
                <a:solidFill>
                  <a:srgbClr val="4070A0"/>
                </a:solidFill>
                <a:latin typeface="Courier"/>
              </a:rPr>
              <a:t>=MINIMAL;</a:t>
            </a:r>
            <a:r>
              <a:rPr lang="en-US" sz="1100" dirty="0">
                <a:solidFill>
                  <a:srgbClr val="4070A0"/>
                </a:solidFill>
                <a:latin typeface="Courier"/>
              </a:rPr>
              <a:t>’ ||</a:t>
            </a:r>
            <a:br>
              <a:rPr lang="en-US" sz="1100" dirty="0">
                <a:solidFill>
                  <a:srgbClr val="4070A0"/>
                </a:solidFill>
                <a:latin typeface="Courier"/>
              </a:rPr>
            </a:br>
            <a:r>
              <a:rPr lang="en-US" sz="1100" dirty="0">
                <a:solidFill>
                  <a:srgbClr val="4070A0"/>
                </a:solidFill>
                <a:latin typeface="Courier"/>
              </a:rPr>
              <a:t>         </a:t>
            </a:r>
            <a:r>
              <a:rPr lang="en-DE" sz="1100" dirty="0">
                <a:solidFill>
                  <a:srgbClr val="4070A0"/>
                </a:solidFill>
                <a:latin typeface="Courier"/>
              </a:rPr>
              <a:t>'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nullString</a:t>
            </a:r>
            <a:r>
              <a:rPr sz="1100" dirty="0">
                <a:solidFill>
                  <a:srgbClr val="4070A0"/>
                </a:solidFill>
                <a:latin typeface="Courier"/>
              </a:rPr>
              <a:t>=\</a:t>
            </a:r>
            <a:r>
              <a:rPr sz="1100" dirty="0" err="1">
                <a:solidFill>
                  <a:srgbClr val="4070A0"/>
                </a:solidFill>
                <a:latin typeface="Courier"/>
              </a:rPr>
              <a:t>N;trim</a:t>
            </a:r>
            <a:r>
              <a:rPr sz="1100" dirty="0">
                <a:solidFill>
                  <a:srgbClr val="4070A0"/>
                </a:solidFill>
                <a:latin typeface="Courier"/>
              </a:rPr>
              <a:t>=true'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A070"/>
                </a:solidFill>
                <a:latin typeface="Courier"/>
              </a:rPr>
              <a:t>1208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'Y'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SYSIBM.SYSDUMMYU;</a:t>
            </a:r>
            <a:br>
              <a:rPr lang="en-US" sz="1100" dirty="0">
                <a:latin typeface="Courier"/>
              </a:rPr>
            </a:br>
            <a:endParaRPr sz="1100" dirty="0">
              <a:latin typeface="Courier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0B0F0"/>
                </a:solidFill>
                <a:latin typeface="Courier"/>
              </a:rPr>
              <a:t>-- </a:t>
            </a:r>
            <a:r>
              <a:rPr sz="1100" i="1" dirty="0">
                <a:solidFill>
                  <a:srgbClr val="00B0F0"/>
                </a:solidFill>
                <a:latin typeface="Courier"/>
              </a:rPr>
              <a:t>MVS target invocation</a:t>
            </a:r>
            <a:endParaRPr lang="en-US" sz="1100" i="1" dirty="0">
              <a:solidFill>
                <a:srgbClr val="00B0F0"/>
              </a:solidFill>
              <a:latin typeface="Courier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sz="1100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UNLOADCSV(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'SELECT * FROM DSN81310.EMP'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'//HLQ.EXPORT.EMP'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'Excel'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A070"/>
                </a:solidFill>
                <a:latin typeface="Courier"/>
              </a:rPr>
              <a:t>1047</a:t>
            </a:r>
            <a:r>
              <a:rPr sz="1100" dirty="0">
                <a:latin typeface="Courier"/>
              </a:rPr>
              <a:t>,</a:t>
            </a:r>
            <a:br>
              <a:rPr sz="1100" dirty="0"/>
            </a:br>
            <a:r>
              <a:rPr sz="1100" dirty="0">
                <a:latin typeface="Courier"/>
              </a:rPr>
              <a:t>         </a:t>
            </a:r>
            <a:r>
              <a:rPr sz="1100" dirty="0">
                <a:solidFill>
                  <a:srgbClr val="4070A0"/>
                </a:solidFill>
                <a:latin typeface="Courier"/>
              </a:rPr>
              <a:t>'Y'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007020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SYSIBM.SYSDUMMYU;</a:t>
            </a:r>
            <a:endParaRPr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EC730-8047-9964-3C8D-2E394A07D2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Performance </a:t>
            </a:r>
            <a:r>
              <a:rPr lang="en-US" dirty="0"/>
              <a:t>and </a:t>
            </a:r>
            <a:r>
              <a:rPr dirty="0"/>
              <a:t>Monitoring</a:t>
            </a:r>
            <a:br>
              <a:rPr lang="en-US" dirty="0"/>
            </a:br>
            <a:r>
              <a:rPr dirty="0"/>
              <a:t>(1 minute)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Performance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 dirty="0"/>
              <a:t>Use SQL functions</a:t>
            </a:r>
            <a:r>
              <a:rPr dirty="0"/>
              <a:t> when possible (lowest overhead)</a:t>
            </a:r>
          </a:p>
          <a:p>
            <a:pPr marL="342900" lvl="0" indent="-342900">
              <a:buAutoNum type="arabicPeriod"/>
            </a:pPr>
            <a:r>
              <a:rPr b="1" dirty="0"/>
              <a:t>Set ASUTIME limits</a:t>
            </a:r>
            <a:r>
              <a:rPr dirty="0"/>
              <a:t> to prevent runaway execution</a:t>
            </a:r>
          </a:p>
          <a:p>
            <a:pPr marL="342900" lvl="0" indent="-342900">
              <a:buAutoNum type="arabicPeriod"/>
            </a:pPr>
            <a:r>
              <a:rPr b="1" dirty="0"/>
              <a:t>Filter early</a:t>
            </a:r>
            <a:r>
              <a:rPr dirty="0"/>
              <a:t> with WHERE clauses</a:t>
            </a:r>
            <a:r>
              <a:rPr lang="en-US" dirty="0"/>
              <a:t> (e.g., avoid regex tests as the only predicate)</a:t>
            </a:r>
            <a:endParaRPr dirty="0"/>
          </a:p>
          <a:p>
            <a:pPr marL="342900" lvl="0" indent="-342900">
              <a:buAutoNum type="arabicPeriod"/>
            </a:pPr>
            <a:r>
              <a:rPr b="1" dirty="0"/>
              <a:t>Mark DETERMINISTIC</a:t>
            </a:r>
            <a:r>
              <a:rPr dirty="0"/>
              <a:t> when appropriate for caching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Typical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363173"/>
              </p:ext>
            </p:extLst>
          </p:nvPr>
        </p:nvGraphicFramePr>
        <p:xfrm>
          <a:off x="457200" y="1193800"/>
          <a:ext cx="82296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Rows/Second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EASTER 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Pure SQL, very 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REGEX_MATCHES (Java)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Pattern caching helps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READ_GENERIC_FILE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Direct BSAM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75D31-2069-DD99-4199-7944298BD7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Quick Troubleshooting</a:t>
            </a:r>
            <a:br>
              <a:rPr lang="en-US" dirty="0"/>
            </a:br>
            <a:r>
              <a:rPr dirty="0"/>
              <a:t>(1 minute)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Common Issues &amp; Fixes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218225"/>
              </p:ext>
            </p:extLst>
          </p:nvPr>
        </p:nvGraphicFramePr>
        <p:xfrm>
          <a:off x="457200" y="1193800"/>
          <a:ext cx="8229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Quick 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SQLCODE -430 (Java)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Reinstall JAR, refresh WLM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ABEND S0C4 (C/COBOL)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Check STEPLIB, verify APF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SQLCODE -905 (Timeout)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Increase ASUTIME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</a:rPr>
                        <a:t>SQLCODE -551 (Auth)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Grant EXECUTE privilege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1E0A9-FBC8-F3EA-BAC3-832DC1DD17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Preparation Checklist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Before Demos (5 minutes setup)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☐ Verify WLM environments active</a:t>
            </a:r>
          </a:p>
          <a:p>
            <a:pPr lvl="0"/>
            <a:r>
              <a:t>☐ Test database connection</a:t>
            </a:r>
          </a:p>
          <a:p>
            <a:pPr lvl="0"/>
            <a:r>
              <a:t>☐ Prepare sample data tables</a:t>
            </a:r>
          </a:p>
          <a:p>
            <a:pPr lvl="0"/>
            <a:r>
              <a:t>☐ Have JCL ready for SUBMIT demo</a:t>
            </a:r>
          </a:p>
          <a:p>
            <a:pPr lvl="0"/>
            <a:r>
              <a:t>☐ Prepare flat file for READ_GENERIC_FILE</a:t>
            </a:r>
          </a:p>
          <a:p>
            <a:pPr lvl="0"/>
            <a:r>
              <a:t>☐ Test each demo query once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Sequence (30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lang="en-US" sz="1300" b="1" dirty="0"/>
              <a:t>D</a:t>
            </a:r>
            <a:r>
              <a:rPr sz="1300" b="1" dirty="0"/>
              <a:t>ata Type Conversion</a:t>
            </a:r>
            <a:r>
              <a:rPr sz="1300" dirty="0"/>
              <a:t> (5 min)</a:t>
            </a:r>
          </a:p>
          <a:p>
            <a:pPr marL="342000" lvl="1" indent="342000"/>
            <a:r>
              <a:rPr sz="1300" dirty="0"/>
              <a:t>Base64 encode/decode</a:t>
            </a:r>
          </a:p>
          <a:p>
            <a:pPr marL="342000" lvl="1" indent="342000"/>
            <a:r>
              <a:rPr sz="1300" dirty="0"/>
              <a:t>TRY_INTEGER with bad data</a:t>
            </a:r>
          </a:p>
          <a:p>
            <a:pPr marL="342900" lvl="0" indent="-342900">
              <a:buAutoNum type="arabicPeriod"/>
            </a:pPr>
            <a:r>
              <a:rPr sz="1300" b="1" dirty="0"/>
              <a:t>String Processing</a:t>
            </a:r>
            <a:r>
              <a:rPr sz="1300" dirty="0"/>
              <a:t> (7 min)</a:t>
            </a:r>
          </a:p>
          <a:p>
            <a:pPr marL="342000" lvl="1" indent="342000"/>
            <a:r>
              <a:rPr sz="1300" dirty="0"/>
              <a:t>Email validation with REGEX_MATCHES</a:t>
            </a:r>
          </a:p>
          <a:p>
            <a:pPr marL="342000" lvl="1" indent="342000"/>
            <a:r>
              <a:rPr sz="1300" dirty="0"/>
              <a:t>CSV parsing with SPLIT</a:t>
            </a:r>
          </a:p>
          <a:p>
            <a:pPr marL="342000" lvl="1" indent="342000"/>
            <a:r>
              <a:rPr sz="1300" dirty="0"/>
              <a:t>Formatted output with SPRINTF</a:t>
            </a:r>
          </a:p>
          <a:p>
            <a:pPr marL="342900" lvl="0" indent="-342900">
              <a:buAutoNum type="arabicPeriod"/>
            </a:pPr>
            <a:r>
              <a:rPr sz="1300" b="1" dirty="0"/>
              <a:t>System Integration</a:t>
            </a:r>
            <a:r>
              <a:rPr sz="1300" dirty="0"/>
              <a:t> (8 min)</a:t>
            </a:r>
          </a:p>
          <a:p>
            <a:pPr marL="342000" lvl="1" indent="342000"/>
            <a:r>
              <a:rPr sz="1300" dirty="0"/>
              <a:t>Query APF list</a:t>
            </a:r>
          </a:p>
          <a:p>
            <a:pPr marL="342000" lvl="1" indent="342000"/>
            <a:r>
              <a:rPr sz="1300" dirty="0"/>
              <a:t>Check RACF profiles</a:t>
            </a:r>
          </a:p>
          <a:p>
            <a:pPr marL="342000" lvl="1" indent="342000"/>
            <a:r>
              <a:rPr sz="1300" dirty="0"/>
              <a:t>Read flat file with complex structure</a:t>
            </a:r>
          </a:p>
          <a:p>
            <a:pPr marL="342900" lvl="0" indent="-342900">
              <a:buAutoNum type="arabicPeriod"/>
            </a:pPr>
            <a:r>
              <a:rPr sz="1300" b="1" dirty="0"/>
              <a:t>Database Utilities</a:t>
            </a:r>
            <a:r>
              <a:rPr sz="1300" dirty="0"/>
              <a:t> (10 min)</a:t>
            </a:r>
          </a:p>
          <a:p>
            <a:pPr marL="342000" lvl="1" indent="342000"/>
            <a:r>
              <a:rPr sz="1300" dirty="0"/>
              <a:t>Automated RUNSTATS</a:t>
            </a:r>
          </a:p>
          <a:p>
            <a:pPr marL="342000" lvl="1" indent="342000"/>
            <a:r>
              <a:rPr sz="1300" dirty="0"/>
              <a:t>CROSSLOAD table copy</a:t>
            </a:r>
          </a:p>
          <a:p>
            <a:pPr marL="342000" lvl="1" indent="342000"/>
            <a:r>
              <a:rPr sz="1300" dirty="0"/>
              <a:t>JCL submission with output capture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EC3FB19-2D17-8365-F899-D495A55C8A4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109" r="6109"/>
          <a:stretch>
            <a:fillRect/>
          </a:stretch>
        </p:blipFill>
        <p:spPr>
          <a:prstGeom prst="rect">
            <a:avLst/>
          </a:prstGeom>
          <a:solidFill>
            <a:srgbClr val="E0E0E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Quick Reference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74BDF8-54F7-DE9D-8DBD-C47BFC35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8470194" cy="354282"/>
          </a:xfrm>
        </p:spPr>
        <p:txBody>
          <a:bodyPr/>
          <a:lstStyle/>
          <a:p>
            <a:r>
              <a:rPr lang="en-US" dirty="0"/>
              <a:t>Quick reference – all functions</a:t>
            </a:r>
            <a:endParaRPr lang="en-D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85F664-AA24-F09B-29E0-3ADD87FD7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139741"/>
              </p:ext>
            </p:extLst>
          </p:nvPr>
        </p:nvGraphicFramePr>
        <p:xfrm>
          <a:off x="215999" y="660816"/>
          <a:ext cx="8583798" cy="402210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7095">
                  <a:extLst>
                    <a:ext uri="{9D8B030D-6E8A-4147-A177-3AD203B41FA5}">
                      <a16:colId xmlns:a16="http://schemas.microsoft.com/office/drawing/2014/main" val="879005719"/>
                    </a:ext>
                  </a:extLst>
                </a:gridCol>
                <a:gridCol w="481388">
                  <a:extLst>
                    <a:ext uri="{9D8B030D-6E8A-4147-A177-3AD203B41FA5}">
                      <a16:colId xmlns:a16="http://schemas.microsoft.com/office/drawing/2014/main" val="1593252952"/>
                    </a:ext>
                  </a:extLst>
                </a:gridCol>
                <a:gridCol w="1133073">
                  <a:extLst>
                    <a:ext uri="{9D8B030D-6E8A-4147-A177-3AD203B41FA5}">
                      <a16:colId xmlns:a16="http://schemas.microsoft.com/office/drawing/2014/main" val="1159322384"/>
                    </a:ext>
                  </a:extLst>
                </a:gridCol>
                <a:gridCol w="3713845">
                  <a:extLst>
                    <a:ext uri="{9D8B030D-6E8A-4147-A177-3AD203B41FA5}">
                      <a16:colId xmlns:a16="http://schemas.microsoft.com/office/drawing/2014/main" val="2564253303"/>
                    </a:ext>
                  </a:extLst>
                </a:gridCol>
                <a:gridCol w="1288397">
                  <a:extLst>
                    <a:ext uri="{9D8B030D-6E8A-4147-A177-3AD203B41FA5}">
                      <a16:colId xmlns:a16="http://schemas.microsoft.com/office/drawing/2014/main" val="1456578960"/>
                    </a:ext>
                  </a:extLst>
                </a:gridCol>
              </a:tblGrid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880" marR="21880" marT="10940" marB="10940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880" marR="21880" marT="10940" marB="10940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880" marR="21880" marT="10940" marB="10940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880" marR="21880" marT="10940" marB="10940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Implemented in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880" marR="21880" marT="10940" marB="10940"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15054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2" tooltip="#_apflis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APFLIST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System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Returns a table with all APF authorized data sets on the system.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COBOL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4081313797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marL="0" marR="0" indent="0" algn="l" defTabSz="685983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Mono Text" panose="020B0509050203000203" pitchFamily="49" charset="0"/>
                          <a:ea typeface="+mn-ea"/>
                          <a:cs typeface="+mn-cs"/>
                          <a:sym typeface="IBM Plex Sans"/>
                          <a:hlinkClick r:id="rId3" tooltip="#_base64decod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BASE64DECODE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BM Plex Mono Text" panose="020B0509050203000203" pitchFamily="49" charset="0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Decodes BASE64 format to binary data.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231309283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4" tooltip="#_base64encod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BASE64ENCODE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Encodes binary data to BASE64 format.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2474946263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5" tooltip="#_crossload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CROSSLOAD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Utilities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Copies data from one table to another.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2865163629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6" tooltip="#_db2utility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DB2UTILITY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Utilities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Runs one or more Db2 utility statements.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4264706830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>
                          <a:effectLst/>
                          <a:latin typeface="IBM Plex Mono Text" panose="020B0509050203000203" pitchFamily="49" charset="0"/>
                          <a:hlinkClick r:id="rId7" tooltip="#_easte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EASTER</a:t>
                      </a:r>
                      <a:endParaRPr lang="en-US" sz="800" b="0" u="none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Date and time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Calculates the date of Easter for a given year.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2305834008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8" tooltip="#_formattimesta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FORMATTIMESTAMP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Date and time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Locale-sensitive formatting of a timestamp value.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725999339"/>
                  </a:ext>
                </a:extLst>
              </a:tr>
              <a:tr h="28352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9" tooltip="#_generate_serie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GENERATE_SERIES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Generate a series of values between a start and an end value, with an optional step.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906725440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>
                          <a:effectLst/>
                          <a:latin typeface="IBM Plex Mono Text" panose="020B0509050203000203" pitchFamily="49" charset="0"/>
                          <a:hlinkClick r:id="rId10" tooltip="#_hextoin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HEXTOINT</a:t>
                      </a:r>
                      <a:endParaRPr lang="en-US" sz="800" b="0" u="none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Converts a hex string to integer.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3040618460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Mono Text" panose="020B0509050203000203" pitchFamily="49" charset="0"/>
                          <a:ea typeface="+mn-ea"/>
                          <a:cs typeface="+mn-cs"/>
                          <a:sym typeface="IBM Plex Sans"/>
                          <a:hlinkClick r:id="rId11" tooltip="#_racfpro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RACFPROFILE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BM Plex Mono Text" panose="020B0509050203000203" pitchFamily="49" charset="0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S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System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Returns the RACF profile that covers the input data set name.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COBOL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3588023385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>
                          <a:effectLst/>
                          <a:latin typeface="IBM Plex Mono Text" panose="020B0509050203000203" pitchFamily="49" charset="0"/>
                          <a:hlinkClick r:id="rId12" tooltip="#_read_generic_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READ_GENERIC_FILE</a:t>
                      </a:r>
                      <a:endParaRPr lang="en-US" sz="800" b="0" u="none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GT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System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Reads records from a flat file and returns them as a table.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C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985876444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3" tooltip="#_regex_matche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REGEX_MATCHES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Strings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Matches a regular expression against a string.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 or 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882380269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4" tooltip="#_regex_replac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REGEX_REPLACE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Strings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Replaces regular expression matches within a string.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41938958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5" tooltip="#_runstat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RUNSTATS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Utilities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Runs statistics against a table or a set of tables.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2838696396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6" tooltip="#_spli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SPLIT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Text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Tokenizes a comma-separated string (inverse of LISTAGG).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993922555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7" tooltip="#_sprintf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SPRINTF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Text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Formats one or more values according to a Java-style format string.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Java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526321570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8" tooltip="#:submi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SUBMIT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Utilities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Submits a JCL job stream and returns the job output as a CLOB.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116575045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8" tooltip="#:submit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SUBMIT_T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Utilities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Submits a JCL job stream and returns the job output as a table.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3289395775"/>
                  </a:ext>
                </a:extLst>
              </a:tr>
              <a:tr h="1522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19" tooltip="#_to_roma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TO_ROMAN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Converts a small integer to a Roman numeral.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767613059"/>
                  </a:ext>
                </a:extLst>
              </a:tr>
              <a:tr h="35467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20" tooltip="#:try_intege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TRY_INTEGER, TRY_SMALLINT,</a:t>
                      </a:r>
                      <a:b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20" tooltip="#:try_intege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20" tooltip="#:try_intege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TRY_BIGINT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Returns text converted to an integer or NULL on failure.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1296017568"/>
                  </a:ext>
                </a:extLst>
              </a:tr>
              <a:tr h="23468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effectLst/>
                          <a:latin typeface="IBM Plex Mono Text" panose="020B0509050203000203" pitchFamily="49" charset="0"/>
                          <a:hlinkClick r:id="rId21" tooltip="#_validate_convers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VALIDATE_CONVERSION</a:t>
                      </a:r>
                      <a:endParaRPr lang="en-US" sz="800" b="0" u="none" dirty="0">
                        <a:solidFill>
                          <a:schemeClr val="tx1"/>
                        </a:solidFill>
                        <a:effectLst/>
                        <a:latin typeface="IBM Plex Mono Text" panose="020B0509050203000203" pitchFamily="49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T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>
                          <a:effectLst/>
                          <a:latin typeface="IBM Plex Sans Text" panose="020B0503050203000203" pitchFamily="34" charset="0"/>
                        </a:rPr>
                        <a:t>Data types</a:t>
                      </a:r>
                      <a:endParaRPr lang="en-US" sz="800" b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Tests whether a given string can be converted to a specified target type.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dirty="0">
                          <a:effectLst/>
                          <a:latin typeface="IBM Plex Sans Text" panose="020B0503050203000203" pitchFamily="34" charset="0"/>
                        </a:rPr>
                        <a:t>SQL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IBM Plex Sans Text" panose="020B0503050203000203" pitchFamily="34" charset="0"/>
                      </a:endParaRP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4153849728"/>
                  </a:ext>
                </a:extLst>
              </a:tr>
              <a:tr h="23468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u="none" dirty="0">
                          <a:solidFill>
                            <a:schemeClr val="tx1"/>
                          </a:solidFill>
                          <a:effectLst/>
                          <a:latin typeface="IBM Plex Mono Text" panose="020B0509050203000203" pitchFamily="49" charset="0"/>
                        </a:rPr>
                        <a:t>UNLOAD_CSV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S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Utilities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Unloads the result of a SELECT statement in user-defined CSV format</a:t>
                      </a:r>
                    </a:p>
                  </a:txBody>
                  <a:tcPr marL="21880" marR="21880" marT="10940" marB="109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Text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Java</a:t>
                      </a:r>
                    </a:p>
                  </a:txBody>
                  <a:tcPr marL="21880" marR="21880" marT="10940" marB="10940"/>
                </a:tc>
                <a:extLst>
                  <a:ext uri="{0D108BD9-81ED-4DB2-BD59-A6C34878D82A}">
                    <a16:rowId xmlns:a16="http://schemas.microsoft.com/office/drawing/2014/main" val="419839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44905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13228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Expert Labs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Bob for Db2</Template>
  <TotalTime>1606</TotalTime>
  <Words>2319</Words>
  <Application>Microsoft Office PowerPoint</Application>
  <PresentationFormat>On-screen Show (16:9)</PresentationFormat>
  <Paragraphs>331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Courier</vt:lpstr>
      <vt:lpstr>IBM Plex Mono Light</vt:lpstr>
      <vt:lpstr>IBM Plex Mono Text</vt:lpstr>
      <vt:lpstr>IBM Plex Sans</vt:lpstr>
      <vt:lpstr>IBM Plex Sans Light</vt:lpstr>
      <vt:lpstr>IBM Plex Sans Medm</vt:lpstr>
      <vt:lpstr>IBM Plex Sans SemiBold</vt:lpstr>
      <vt:lpstr>IBM Plex Sans Text</vt:lpstr>
      <vt:lpstr>inherit</vt:lpstr>
      <vt:lpstr>Wingdings</vt:lpstr>
      <vt:lpstr>IBM Expert Labs template</vt:lpstr>
      <vt:lpstr>Beyond Built-ins: Supercharging Db2 for z/OS with Custom Routines</vt:lpstr>
      <vt:lpstr>Appetizer </vt:lpstr>
      <vt:lpstr>Why This Library Exists (2 minutes)</vt:lpstr>
      <vt:lpstr>The Problem</vt:lpstr>
      <vt:lpstr>The Solution</vt:lpstr>
      <vt:lpstr>Value Proposition</vt:lpstr>
      <vt:lpstr>Architecture Overview (2 minutes)</vt:lpstr>
      <vt:lpstr>Four Implementation Types</vt:lpstr>
      <vt:lpstr>Execution Flow</vt:lpstr>
      <vt:lpstr>Quick Installation (3 minutes)</vt:lpstr>
      <vt:lpstr>Prerequisites</vt:lpstr>
      <vt:lpstr>Installation Steps</vt:lpstr>
      <vt:lpstr>Verification</vt:lpstr>
      <vt:lpstr>Critical Security Points (2 minutes)</vt:lpstr>
      <vt:lpstr>Security Models</vt:lpstr>
      <vt:lpstr>Key Security Rules</vt:lpstr>
      <vt:lpstr>Routine Categories (4 minutes)</vt:lpstr>
      <vt:lpstr>Data Type Conversion Safe type conversion and encoding </vt:lpstr>
      <vt:lpstr>String Processing Pattern matching and manipulation</vt:lpstr>
      <vt:lpstr>System Integration Access z/OS system information </vt:lpstr>
      <vt:lpstr>Database Utilities Automate common DBA tasks and make them easier accessible for end users </vt:lpstr>
      <vt:lpstr>CSV Unload: Purpose &amp; Technical Objectives</vt:lpstr>
      <vt:lpstr>CSV Unload: Usage</vt:lpstr>
      <vt:lpstr>Performance and Monitoring (1 minute)</vt:lpstr>
      <vt:lpstr>Performance Tips</vt:lpstr>
      <vt:lpstr>Typical Performance</vt:lpstr>
      <vt:lpstr>Quick Troubleshooting (1 minute)</vt:lpstr>
      <vt:lpstr>Common Issues &amp; Fixes</vt:lpstr>
      <vt:lpstr>Demo Preparation Checklist</vt:lpstr>
      <vt:lpstr>Before Demos (5 minutes setup)</vt:lpstr>
      <vt:lpstr>Demo Sequence (30 minutes)</vt:lpstr>
      <vt:lpstr>Quick Reference</vt:lpstr>
      <vt:lpstr>Quick reference – all functions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Built-ins: Supercharging Db2 for z/OS with Custom Routines</dc:title>
  <dc:creator>Technical Documentation Team</dc:creator>
  <cp:keywords/>
  <cp:lastModifiedBy>Uli Seelbach</cp:lastModifiedBy>
  <cp:revision>10</cp:revision>
  <dcterms:created xsi:type="dcterms:W3CDTF">2026-06-09T10:56:26Z</dcterms:created>
  <dcterms:modified xsi:type="dcterms:W3CDTF">2026-06-11T12:24:11Z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lpwstr>article</vt:lpwstr>
  </property>
  <property fmtid="{D5CDD505-2E9C-101B-9397-08002B2CF9AE}" pid="3" name="icons">
    <vt:lpwstr>font</vt:lpwstr>
  </property>
  <property fmtid="{D5CDD505-2E9C-101B-9397-08002B2CF9AE}" pid="4" name="revdate">
    <vt:lpwstr>2026-06-08</vt:lpwstr>
  </property>
  <property fmtid="{D5CDD505-2E9C-101B-9397-08002B2CF9AE}" pid="5" name="source-highlighter">
    <vt:lpwstr>rouge</vt:lpwstr>
  </property>
  <property fmtid="{D5CDD505-2E9C-101B-9397-08002B2CF9AE}" pid="6" name="subtitle">
    <vt:lpwstr>A DBA's Guide to Functions IBM Forgot to Include</vt:lpwstr>
  </property>
  <property fmtid="{D5CDD505-2E9C-101B-9397-08002B2CF9AE}" pid="7" name="toc">
    <vt:lpwstr>left</vt:lpwstr>
  </property>
  <property fmtid="{D5CDD505-2E9C-101B-9397-08002B2CF9AE}" pid="8" name="toclevels">
    <vt:lpwstr>2</vt:lpwstr>
  </property>
</Properties>
</file>