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57" r:id="rId23"/>
    <p:sldId id="301" r:id="rId24"/>
    <p:sldId id="279" r:id="rId25"/>
    <p:sldId id="280" r:id="rId26"/>
    <p:sldId id="282" r:id="rId27"/>
    <p:sldId id="284" r:id="rId28"/>
    <p:sldId id="285" r:id="rId29"/>
    <p:sldId id="287" r:id="rId30"/>
    <p:sldId id="288" r:id="rId31"/>
    <p:sldId id="289" r:id="rId32"/>
    <p:sldId id="290" r:id="rId33"/>
    <p:sldId id="300" r:id="rId34"/>
    <p:sldId id="291" r:id="rId35"/>
    <p:sldId id="292" r:id="rId36"/>
    <p:sldId id="294" r:id="rId37"/>
    <p:sldId id="295" r:id="rId38"/>
    <p:sldId id="296" r:id="rId39"/>
    <p:sldId id="297" r:id="rId40"/>
    <p:sldId id="298" r:id="rId41"/>
    <p:sldId id="299" r:id="rId42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7" d="100"/>
          <a:sy n="137" d="100"/>
        </p:scale>
        <p:origin x="69" y="9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D08CF6-69FB-099B-8509-235D09CDDF0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 Built-ins: Supercharging Db2 for z/OS with Custom 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 This Library Exists (2 minutes)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 for z/OS lacks many </a:t>
            </a:r>
            <a:r>
              <a:rPr lang="en-US" dirty="0"/>
              <a:t>useful </a:t>
            </a:r>
            <a:r>
              <a:rPr dirty="0"/>
              <a:t>functions that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egular expression 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type testing and conversion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Base64 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 JCL submission </a:t>
            </a:r>
            <a:r>
              <a:rPr lang="en-US" dirty="0"/>
              <a:t>and output retrieval </a:t>
            </a:r>
            <a:r>
              <a:rPr dirty="0"/>
              <a:t>from 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dirty="0"/>
              <a:t> flat files</a:t>
            </a:r>
            <a:r>
              <a:rPr lang="en-US" dirty="0"/>
              <a:t> 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Extended s</a:t>
            </a:r>
            <a:r>
              <a:rPr dirty="0"/>
              <a:t>tring </a:t>
            </a:r>
            <a:r>
              <a:rPr lang="en-US" dirty="0"/>
              <a:t>formatting capabilities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dirty="0"/>
              <a:t>ystem integration (APF lists, RACF profiles)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 production-ready user-defined functions 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 Db2</a:t>
            </a:r>
            <a:r>
              <a:rPr dirty="0"/>
              <a:t> without modifying the 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dirty="0"/>
              <a:t> with z/OS services (JES, RACF, 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dirty="0"/>
              <a:t> modern formats (JSON, CSV, Base64, 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dirty="0"/>
              <a:t> complex operations into SQL 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Value 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 COBOL program to read flat 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Submit JCL manually, check 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Complex string parsing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 REGEX_MATCHES(column, pattern)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Multiple utility 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 RUNSTATS(’SCHEMA.%’, 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 Overview (2 minutes)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Four Implementation 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Simple logic, set 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Complex logic, existing 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system 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 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Execution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 Query → Db2 Engine → WLM Environment → Function Code → 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 functions require JVM startup (one-time 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 functions have minimal overhead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Installation</a:t>
            </a:r>
            <a:br>
              <a:rPr lang="en-US" dirty="0"/>
            </a:br>
            <a:r>
              <a:rPr dirty="0"/>
              <a:t>(3 minutes)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 12 or 13 for 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 environments configured (Java, C, 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 authorities (SYSADM or schema owner)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-- 1. Create schema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dirty="0">
                <a:latin typeface="IBM Plex Mono Light" panose="020B0409050203000203" pitchFamily="49" charset="0"/>
              </a:rPr>
              <a:t> PROD_ROUTINES;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-- 2. Install SQL functions (run DDL scripts)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-- 3. Install Java JAR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SQLJ.DB2_INSTALL_JAR(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);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-- 4. Create Java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-- 5. Create C/COBOL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-- 6. Grant privileges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dirty="0">
                <a:latin typeface="IBM Plex Mono Light" panose="020B0409050203000203" pitchFamily="49" charset="0"/>
              </a:rPr>
              <a:t> PROD_ROUTINES.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dirty="0">
                <a:latin typeface="IBM Plex Mono Light" panose="020B0409050203000203" pitchFamily="49" charset="0"/>
              </a:rPr>
              <a:t> APP_ROLE;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-- 7. Refresh WLM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SYSPROC.WLM_REFRESH(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dirty="0">
                <a:latin typeface="IBM Plex Mono Light" panose="020B0409050203000203" pitchFamily="49" charset="0"/>
              </a:rPr>
              <a:t>,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dirty="0">
                <a:latin typeface="IBM Plex Mono Light" panose="020B0409050203000203" pitchFamily="49" charset="0"/>
              </a:rPr>
              <a:t>, ?, ?);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Test each 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SQL 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 Java 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>
                <a:latin typeface="IBM Plex Mono Light" panose="020B0409050203000203" pitchFamily="49" charset="0"/>
              </a:rPr>
              <a:t>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COBOL 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Critical Security Points (2 minutes)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Security 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 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</a:rPr>
                        <a:t>Use for most 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SECURITY 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 when 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Security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/>
              <a:t>Input Validation</a:t>
            </a:r>
            <a:r>
              <a:t> - Always validate NULL, length, format</a:t>
            </a:r>
          </a:p>
          <a:p>
            <a:pPr marL="342900" lvl="0" indent="-342900">
              <a:buAutoNum type="arabicPeriod"/>
            </a:pPr>
            <a:r>
              <a:rPr b="1"/>
              <a:t>Least Privilege</a:t>
            </a:r>
            <a:r>
              <a:t> - Grant EXECUTE only to authorized users</a:t>
            </a:r>
          </a:p>
          <a:p>
            <a:pPr marL="342900" lvl="0" indent="-342900">
              <a:buAutoNum type="arabicPeriod"/>
            </a:pPr>
            <a:r>
              <a:rPr b="1"/>
              <a:t>Audit Logging</a:t>
            </a:r>
            <a:r>
              <a:t> - Track function usage</a:t>
            </a:r>
          </a:p>
          <a:p>
            <a:pPr marL="342900" lvl="0" indent="-342900">
              <a:buAutoNum type="arabicPeriod"/>
            </a:pPr>
            <a:r>
              <a:rPr b="1"/>
              <a:t>RACF Integration</a:t>
            </a:r>
            <a:r>
              <a:t> - Functions respect RACF controls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High-Risk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SUBMIT: Can execute JCL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dirty="0">
                <a:latin typeface="IBM Plex Mono Light" panose="020B0409050203000203" pitchFamily="49" charset="0"/>
              </a:rPr>
              <a:t> PROD_ROUTINES.SUBMIT 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dirty="0">
                <a:latin typeface="IBM Plex Mono Light" panose="020B0409050203000203" pitchFamily="49" charset="0"/>
              </a:rPr>
              <a:t> BATCH_ADMIN_ROLE;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Not PUBLIC!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READ_GENERIC_FILE: Reads datasets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Uses </a:t>
            </a:r>
            <a:r>
              <a:rPr b="1" dirty="0">
                <a:solidFill>
                  <a:srgbClr val="FF0000"/>
                </a:solidFill>
                <a:latin typeface="IBM Plex Mono Light" panose="020B0409050203000203" pitchFamily="49" charset="0"/>
              </a:rPr>
              <a:t>SECURITY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USER - RACF controls access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 Categories (4 minutes)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 Type 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Base64 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 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BLOB('Hello 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Safe integer conversion (returns NULL on 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 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Regular expression 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REGEX_MATCHES(email,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String splitting (inverse of 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Returns: apple | banana | 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 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 %s has balance $%.2f'</a:t>
            </a:r>
            <a:r>
              <a:rPr sz="1200" dirty="0">
                <a:latin typeface="IBM Plex Mono Light" panose="020B0409050203000203" pitchFamily="49" charset="0"/>
              </a:rPr>
              <a:t>, name, balance))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accounts;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 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List APF-authorized 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Find RACF profile for 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sz="1200" dirty="0">
                <a:latin typeface="IBM Plex Mono Light" panose="020B0409050203000203" pitchFamily="49" charset="0"/>
              </a:rPr>
              <a:t> 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Read flat file with complex 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 balance,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balance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 Ready:</a:t>
            </a:r>
            <a:r>
              <a:rPr sz="1200" dirty="0">
                <a:latin typeface="IBM Plex Mono Light" panose="020B0409050203000203" pitchFamily="49" charset="0"/>
              </a:rPr>
              <a:t> APF list query, RACF profile lookup, flat file reading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 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Run statistics on multiple 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 SHRLEVEL 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Copy table across 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Submit JCL and capture 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 JOB 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 EXEC 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 &amp; Technical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 Db2 for z/OS beyond native utility-style unload flows when immediate CSV output is 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 ad hoc extract, operational reporting, and downstream file handoff 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 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 caller-supplied dynamic </a:t>
            </a:r>
            <a:r>
              <a:rPr dirty="0">
                <a:latin typeface="Courier"/>
              </a:rPr>
              <a:t>SELECT</a:t>
            </a:r>
            <a:r>
              <a:rPr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 USS paths and MVS data set 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 predefined Apache Commons CSV formats and custom </a:t>
            </a:r>
            <a:r>
              <a:rPr dirty="0">
                <a:latin typeface="Courier"/>
              </a:rPr>
              <a:t>key=value</a:t>
            </a:r>
            <a:r>
              <a:rPr dirty="0"/>
              <a:t> format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 CCSID-aware output encoding</a:t>
            </a:r>
            <a:r>
              <a:rPr lang="en-US" dirty="0"/>
              <a:t> and t</a:t>
            </a:r>
            <a:r>
              <a:rPr dirty="0"/>
              <a:t>ags USS files with the requested CCSID 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 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EMPNO, LASTNAME, 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 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* FROM 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C1, C2, C3 FROM 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</a:t>
            </a:r>
            <a:r>
              <a:rPr lang="en-DE" sz="1100" dirty="0">
                <a:latin typeface="Courier"/>
              </a:rPr>
              <a:t>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 target 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* FROM 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endParaRPr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Performance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 SQL functions</a:t>
            </a:r>
            <a:r>
              <a:rPr dirty="0"/>
              <a:t> when possible (lowest overhead)</a:t>
            </a:r>
          </a:p>
          <a:p>
            <a:pPr marL="342900" lvl="0" indent="-342900">
              <a:buAutoNum type="arabicPeriod"/>
            </a:pPr>
            <a:r>
              <a:rPr b="1" dirty="0"/>
              <a:t>Set ASUTIME limits</a:t>
            </a:r>
            <a:r>
              <a:rPr dirty="0"/>
              <a:t> to prevent runaway execution</a:t>
            </a:r>
          </a:p>
          <a:p>
            <a:pPr marL="342900" lvl="0" indent="-342900">
              <a:buAutoNum type="arabicPeriod"/>
            </a:pPr>
            <a:r>
              <a:rPr b="1" dirty="0"/>
              <a:t>Filter early</a:t>
            </a:r>
            <a:r>
              <a:rPr dirty="0"/>
              <a:t> with WHERE 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 DETERMINISTIC</a:t>
            </a:r>
            <a:r>
              <a:rPr dirty="0"/>
              <a:t> when appropriate for caching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Typical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EASTER 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Pure SQL, very 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REGEX_MATCHES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 caching 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 BSAM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Troubleshooting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Common Issues &amp; 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-430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 JAR, refresh 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ABEND S0C4 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 STEPLIB, verify APF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-905 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 ASUTIME 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-551 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 EXECUTE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Preparation Checklist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Before Demos (5 minutes 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☐ Verify WLM environments active</a:t>
            </a:r>
          </a:p>
          <a:p>
            <a:pPr lvl="0"/>
            <a:r>
              <a:t>☐ Test database connection</a:t>
            </a:r>
          </a:p>
          <a:p>
            <a:pPr lvl="0"/>
            <a:r>
              <a:t>☐ Prepare sample data tables</a:t>
            </a:r>
          </a:p>
          <a:p>
            <a:pPr lvl="0"/>
            <a:r>
              <a:t>☐ Have JCL ready for SUBMIT demo</a:t>
            </a:r>
          </a:p>
          <a:p>
            <a:pPr lvl="0"/>
            <a:r>
              <a:t>☐ Prepare flat file for READ_GENERIC_FILE</a:t>
            </a:r>
          </a:p>
          <a:p>
            <a:pPr lvl="0"/>
            <a:r>
              <a:t>☐ Test each demo query once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Sequence (30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 Type Conversion</a:t>
            </a:r>
            <a:r>
              <a:rPr sz="1300" dirty="0"/>
              <a:t> (5 min)</a:t>
            </a:r>
          </a:p>
          <a:p>
            <a:pPr marL="342000" lvl="1" indent="342000"/>
            <a:r>
              <a:rPr sz="1300" dirty="0"/>
              <a:t>Base64 encode/decode</a:t>
            </a:r>
          </a:p>
          <a:p>
            <a:pPr marL="342000" lvl="1" indent="342000"/>
            <a:r>
              <a:rPr sz="1300" dirty="0"/>
              <a:t>TRY_INTEGER with bad 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 Processing</a:t>
            </a:r>
            <a:r>
              <a:rPr sz="1300" dirty="0"/>
              <a:t> (7 min)</a:t>
            </a:r>
          </a:p>
          <a:p>
            <a:pPr marL="342000" lvl="1" indent="342000"/>
            <a:r>
              <a:rPr sz="1300" dirty="0"/>
              <a:t>Email validation with REGEX_MATCHES</a:t>
            </a:r>
          </a:p>
          <a:p>
            <a:pPr marL="342000" lvl="1" indent="342000"/>
            <a:r>
              <a:rPr sz="1300" dirty="0"/>
              <a:t>CSV parsing with SPLIT</a:t>
            </a:r>
          </a:p>
          <a:p>
            <a:pPr marL="342000" lvl="1" indent="342000"/>
            <a:r>
              <a:rPr sz="1300" dirty="0"/>
              <a:t>Formatted output with 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 Integration</a:t>
            </a:r>
            <a:r>
              <a:rPr sz="1300" dirty="0"/>
              <a:t> (8 min)</a:t>
            </a:r>
          </a:p>
          <a:p>
            <a:pPr marL="342000" lvl="1" indent="342000"/>
            <a:r>
              <a:rPr sz="1300" dirty="0"/>
              <a:t>Query APF list</a:t>
            </a:r>
          </a:p>
          <a:p>
            <a:pPr marL="342000" lvl="1" indent="342000"/>
            <a:r>
              <a:rPr sz="1300" dirty="0"/>
              <a:t>Check RACF profiles</a:t>
            </a:r>
          </a:p>
          <a:p>
            <a:pPr marL="342000" lvl="1" indent="342000"/>
            <a:r>
              <a:rPr sz="1300" dirty="0"/>
              <a:t>Read flat file with complex 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 Utilities</a:t>
            </a:r>
            <a:r>
              <a:rPr sz="1300" dirty="0"/>
              <a:t> (10 min)</a:t>
            </a:r>
          </a:p>
          <a:p>
            <a:pPr marL="342000" lvl="1" indent="342000"/>
            <a:r>
              <a:rPr sz="1300" dirty="0"/>
              <a:t>Automated RUNSTATS</a:t>
            </a:r>
          </a:p>
          <a:p>
            <a:pPr marL="342000" lvl="1" indent="342000"/>
            <a:r>
              <a:rPr sz="1300" dirty="0"/>
              <a:t>CROSSLOAD table copy</a:t>
            </a:r>
          </a:p>
          <a:p>
            <a:pPr marL="342000" lvl="1" indent="342000"/>
            <a:r>
              <a:rPr sz="1300" dirty="0"/>
              <a:t>JCL submission with output capture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Quick Reference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139741"/>
              </p:ext>
            </p:extLst>
          </p:nvPr>
        </p:nvGraphicFramePr>
        <p:xfrm>
          <a:off x="215999" y="660816"/>
          <a:ext cx="8583798" cy="402210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Most-Used Functions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BASE64ENCODE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Data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VALUES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BASE64ENCODE(BLOB(’text’))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REGEX_MATCHES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Strings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REGEX_MATCHES(col,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Strings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TABLE(SPLIT(’</a:t>
                      </a:r>
                      <a:r>
                        <a:rPr dirty="0" err="1">
                          <a:latin typeface="IBM Plex Mono Light" panose="020B0409050203000203" pitchFamily="49" charset="0"/>
                        </a:rPr>
                        <a:t>a,b,c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’,’))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APFLIST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TABLE(APFLIST())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VALUES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RACFPROFILE(’DATASET.NAME’)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TABLE(READ_GENERIC_FILE(’DSN’))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RUNSTATS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SUBMIT_T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TABLE(SUBMIT_T(’//JCL…’))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Critical SQLSTATE Codes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SQLSTATE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22004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NULL not allowed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Check input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External function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Check WLM, JAR, load module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42501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Authorization 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Grant EXECUTE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57014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ASUTIME exceeded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Increase limit or optimize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3155BF9-7579-30A2-FFED-0D64CC743C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Resources &amp; Next Steps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Full Technical Guide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DB2Z_ROUTINES_TECHNICAL_PRESENTATION.adoc</a:t>
            </a:r>
          </a:p>
          <a:p>
            <a:pPr lvl="0"/>
            <a:r>
              <a:rPr b="1" dirty="0"/>
              <a:t>Source Code</a:t>
            </a:r>
            <a:r>
              <a:rPr dirty="0"/>
              <a:t>: [Repository URL]</a:t>
            </a:r>
          </a:p>
          <a:p>
            <a:pPr lvl="0"/>
            <a:r>
              <a:rPr b="1" dirty="0"/>
              <a:t>Installation Scripts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/install</a:t>
            </a:r>
            <a:r>
              <a:rPr dirty="0"/>
              <a:t> directory</a:t>
            </a:r>
          </a:p>
          <a:p>
            <a:pPr lvl="0"/>
            <a:r>
              <a:rPr b="1" dirty="0"/>
              <a:t>Test Scripts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/test</a:t>
            </a:r>
            <a:r>
              <a:rPr dirty="0"/>
              <a:t> directory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Review full documentation</a:t>
            </a:r>
          </a:p>
          <a:p>
            <a:pPr marL="342900" lvl="0" indent="-342900">
              <a:buAutoNum type="arabicPeriod"/>
            </a:pPr>
            <a:r>
              <a:t>Install in development environment</a:t>
            </a:r>
          </a:p>
          <a:p>
            <a:pPr marL="342900" lvl="0" indent="-342900">
              <a:buAutoNum type="arabicPeriod"/>
            </a:pPr>
            <a:r>
              <a:t>Test with sample data</a:t>
            </a:r>
          </a:p>
          <a:p>
            <a:pPr marL="342900" lvl="0" indent="-342900">
              <a:buAutoNum type="arabicPeriod"/>
            </a:pPr>
            <a:r>
              <a:t>Plan production deployment</a:t>
            </a:r>
          </a:p>
          <a:p>
            <a:pPr marL="342900" lvl="0" indent="-342900">
              <a:buAutoNum type="arabicPeriod"/>
            </a:pPr>
            <a:r>
              <a:t>Train development team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GitHub Issues</a:t>
            </a:r>
            <a:r>
              <a:t>: Bug reports and feature requests</a:t>
            </a:r>
          </a:p>
          <a:p>
            <a:pPr lvl="0"/>
            <a:r>
              <a:rPr b="1"/>
              <a:t>Internal Wiki</a:t>
            </a:r>
            <a:r>
              <a:t>: [Add URL]</a:t>
            </a:r>
          </a:p>
          <a:p>
            <a:pPr lvl="0"/>
            <a:r>
              <a:rPr b="1"/>
              <a:t>DBA Team</a:t>
            </a:r>
            <a:r>
              <a:t>: [Add contact]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Presentation Time: 15 minutes</a:t>
            </a:r>
            <a:br/>
            <a:r>
              <a:rPr b="1"/>
              <a:t>Demo Time: 30 minutes</a:t>
            </a:r>
            <a:br/>
            <a:r>
              <a:rPr b="1"/>
              <a:t>Total Session: 45 minutes</a:t>
            </a:r>
          </a:p>
          <a:p>
            <a:pPr marL="0" lvl="0" indent="0">
              <a:buNone/>
            </a:pPr>
            <a:r>
              <a:rPr b="1"/>
              <a:t>Questions before we start the demos?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626</TotalTime>
  <Words>2409</Words>
  <Application>Microsoft Office PowerPoint</Application>
  <PresentationFormat>On-screen Show (16:9)</PresentationFormat>
  <Paragraphs>354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2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Wingdings</vt:lpstr>
      <vt:lpstr>IBM Expert Labs template</vt:lpstr>
      <vt:lpstr>Beyond Built-ins: Supercharging Db2 for z/OS with Custom Routines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High-Risk Functions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Most-Used Functions</vt:lpstr>
      <vt:lpstr>Critical SQLSTATE Codes</vt:lpstr>
      <vt:lpstr>Resources &amp; Next Steps</vt:lpstr>
      <vt:lpstr>Documentation</vt:lpstr>
      <vt:lpstr>Getting Started</vt:lpstr>
      <vt:lpstr>Support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9</cp:revision>
  <dcterms:created xsi:type="dcterms:W3CDTF">2026-06-09T10:56:26Z</dcterms:created>
  <dcterms:modified xsi:type="dcterms:W3CDTF">2026-06-10T20:03:46Z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