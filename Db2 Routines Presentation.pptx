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300" r:id="rId8"/>
    <p:sldId id="263" r:id="rId9"/>
    <p:sldId id="264" r:id="rId10"/>
    <p:sldId id="265" r:id="rId11"/>
    <p:sldId id="274" r:id="rId12"/>
    <p:sldId id="275" r:id="rId13"/>
    <p:sldId id="276" r:id="rId14"/>
    <p:sldId id="277" r:id="rId15"/>
    <p:sldId id="278" r:id="rId16"/>
    <p:sldId id="257" r:id="rId17"/>
    <p:sldId id="301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9" r:id="rId34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300"/>
          </p14:sldIdLst>
        </p14:section>
        <p14:section name="Architecture" id="{82F8EFC2-02A3-4068-AB33-F40059B6EF33}">
          <p14:sldIdLst>
            <p14:sldId id="263"/>
            <p14:sldId id="264"/>
            <p14:sldId id="265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Installation" id="{51B1159D-C037-4CC1-A000-05451B3668CC}">
          <p14:sldIdLst>
            <p14:sldId id="266"/>
            <p14:sldId id="267"/>
            <p14:sldId id="268"/>
            <p14:sldId id="269"/>
          </p14:sldIdLst>
        </p14:section>
        <p14:section name="Security" id="{44D11B48-10BB-453E-95C4-702AAF537B31}">
          <p14:sldIdLst>
            <p14:sldId id="270"/>
            <p14:sldId id="271"/>
            <p14:sldId id="272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10" d="100"/>
          <a:sy n="110" d="100"/>
        </p:scale>
        <p:origin x="43" y="17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>
              <a:spcBef>
                <a:spcPts val="1200"/>
              </a:spcBef>
            </a:pPr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Seelbach, IBM Expert Labs</a:t>
            </a:r>
          </a:p>
          <a:p>
            <a:pPr lvl="0">
              <a:spcBef>
                <a:spcPts val="1200"/>
              </a:spcBef>
            </a:pP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96975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select </a:t>
            </a:r>
            <a:r>
              <a:rPr lang="en-US" sz="1600" dirty="0" err="1">
                <a:latin typeface="IBM Plex Mono Text" panose="020B0509050203000203" pitchFamily="49" charset="0"/>
              </a:rPr>
              <a:t>runstats</a:t>
            </a:r>
            <a:r>
              <a:rPr lang="en-US" sz="1600" dirty="0">
                <a:latin typeface="IBM Plex Mono Text" panose="020B0509050203000203" pitchFamily="49" charset="0"/>
              </a:rPr>
              <a:t>('TABLES', 'DSN81310', ‘EMP%', '') </a:t>
            </a:r>
          </a:p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  from </a:t>
            </a:r>
            <a:r>
              <a:rPr lang="en-US" sz="1600" dirty="0" err="1">
                <a:latin typeface="IBM Plex Mono Text" panose="020B0509050203000203" pitchFamily="49" charset="0"/>
              </a:rPr>
              <a:t>sysibm.sysdummyu</a:t>
            </a:r>
            <a:r>
              <a:rPr lang="en-US" sz="16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US" sz="16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600" dirty="0">
                <a:latin typeface="IBM Plex Mono Text" panose="020B0509050203000203" pitchFamily="49" charset="0"/>
              </a:rPr>
              <a:t>  from </a:t>
            </a:r>
            <a:r>
              <a:rPr lang="en-US" sz="1600" dirty="0" err="1">
                <a:latin typeface="IBM Plex Mono Text" panose="020B0509050203000203" pitchFamily="49" charset="0"/>
              </a:rPr>
              <a:t>sysibm.sysdummyu</a:t>
            </a:r>
            <a:r>
              <a:rPr lang="en-US" sz="16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6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571750"/>
            <a:ext cx="8470194" cy="18381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DSNU000I    166 18:17:55.80 DSNUGUTC - OUTPUT START FOR UTILITY, UTILID = UTIL08885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DSNU1045I   166 18:17:55.82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DSNU050I    166 18:17:55.84 DSNUGUTC -  LISTDEF RSLIST INCLUDE TABLE DSN81310."EMP" INCLUDE TABLE 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DSN81310."EMPPROJACT" INCLUDE TABLE DSN81310."EMP_PHOTO_RESUME"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...</a:t>
            </a:r>
          </a:p>
          <a:p>
            <a:pPr>
              <a:lnSpc>
                <a:spcPct val="100000"/>
              </a:lnSpc>
            </a:pPr>
            <a:r>
              <a:rPr lang="en-US" sz="1200" kern="0" dirty="0">
                <a:latin typeface="IBM Plex Mono Text" panose="020B0509050203000203" pitchFamily="49" charset="0"/>
              </a:rPr>
              <a:t>DSNU010I    166 18:17:59.12 DSNUGBAC - UTILITY EXECUTION COMPLETE, HIGHEST RETURN CODE=0 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224515"/>
              </p:ext>
            </p:extLst>
          </p:nvPr>
        </p:nvGraphicFramePr>
        <p:xfrm>
          <a:off x="215999" y="660816"/>
          <a:ext cx="8583798" cy="37864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APFLIST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BASE64ENCODE, BASE64DECODE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Encodes binary data to BASE64 and vice versa.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CROSSLOAD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DB2UTILITY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EASTER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FORMATTIMESTAMP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GENERATE_SERIES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GZIP, GUNZIP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compression and decompression using </a:t>
                      </a:r>
                      <a:r>
                        <a:rPr lang="en-US" sz="850" b="0" dirty="0" err="1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Gzip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597548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HEXTOINT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RACFPROFILE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READ_GENERIC_FILE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REGEX_MATCHES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REGEX_REPLACE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5353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RUNSTATS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SPLIT</a:t>
                      </a: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SPRINTF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SUBMIT_T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TO_ROMAN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TRY_INTEGER, …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VALIDATE_CONVERSION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5445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JSON2XML</a:t>
                      </a:r>
                    </a:p>
                  </a:txBody>
                  <a:tcPr marL="21880" marR="21880" marT="10940" marB="10940">
                    <a:solidFill>
                      <a:schemeClr val="accent5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Data types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Converts JSON to XML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 + SQL wrapper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312297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31609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6364035"/>
              </p:ext>
            </p:extLst>
          </p:nvPr>
        </p:nvGraphicFramePr>
        <p:xfrm>
          <a:off x="457200" y="119380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: Find customers with invalid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customer_id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email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customers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WHERE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REGEX_MATCHES(email, </a:t>
            </a:r>
          </a:p>
          <a:p>
            <a:pPr>
              <a:lnSpc>
                <a:spcPct val="100000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    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'^[a-zA-Z0-9._%+-]+@[a-zA-Z0-9.-]+</a:t>
            </a:r>
            <a:r>
              <a:rPr lang="en-DE" sz="12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\.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[a-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zA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-Z]{2,}$'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sz="1200" dirty="0">
                <a:latin typeface="IBM Plex Mono" panose="020B0509050203000203" pitchFamily="49" charset="0"/>
              </a:rPr>
            </a:br>
            <a:r>
              <a:rPr lang="en-US" sz="1200" b="1" dirty="0">
                <a:solidFill>
                  <a:srgbClr val="007020"/>
                </a:solidFill>
                <a:latin typeface="IBM Plex Mono" panose="020B0509050203000203" pitchFamily="49" charset="0"/>
              </a:rPr>
              <a:t>	</a:t>
            </a:r>
            <a:br>
              <a:rPr sz="1200" dirty="0">
                <a:latin typeface="IBM Plex Mono" panose="020B0509050203000203" pitchFamily="49" charset="0"/>
              </a:rPr>
            </a:br>
            <a:br>
              <a:rPr sz="1200" dirty="0">
                <a:latin typeface="IBM Plex Mono" panose="020B05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LISTAGG)</a:t>
            </a:r>
            <a:br>
              <a:rPr sz="1200" dirty="0">
                <a:latin typeface="IBM Plex Mono" panose="020B0509050203000203" pitchFamily="49" charset="0"/>
              </a:rPr>
            </a:b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*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(SPLIT(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apple,banana,cherry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','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T;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Returns: apple | banana | cherry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</a:t>
            </a:r>
            <a:r>
              <a:rPr lang="en-DE" sz="1200" i="1" dirty="0" err="1">
                <a:solidFill>
                  <a:srgbClr val="60A0B0"/>
                </a:solidFill>
                <a:latin typeface="IBM Plex Mono" panose="020B0509050203000203" pitchFamily="49" charset="0"/>
              </a:rPr>
              <a:t>Printf</a:t>
            </a:r>
            <a:r>
              <a:rPr lang="en-DE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-style formatting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SPRINTF(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'Customer %s has balance $%.2f'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name, balance))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"Balance"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accounts;</a:t>
            </a:r>
          </a:p>
          <a:p>
            <a:pPr lvl="0">
              <a:lnSpc>
                <a:spcPct val="100000"/>
              </a:lnSpc>
            </a:pPr>
            <a:endParaRPr sz="1200" dirty="0"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List APF-authorized libraries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volser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sms_managed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(APFLIST())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ORDER BY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dsname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Find RACF profile for dataset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RACFPROFILE(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'PROD.PAYROLL.DATA'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</a:t>
            </a:r>
            <a:r>
              <a:rPr lang="en-US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Read flat file with complex structure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balance, 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TABLE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(READ_GENERIC_FILE(</a:t>
            </a:r>
            <a:r>
              <a:rPr lang="en-DE" sz="12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'PROD.CUSTOMER.DATA'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T(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account_id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 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CHAR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balance    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DECIMAL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15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  <a:r>
              <a:rPr lang="en-DE" sz="12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2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),</a:t>
            </a: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200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last_update</a:t>
            </a: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sz="12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DATE</a:t>
            </a:r>
            <a:endParaRPr lang="en-DE" sz="12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DE" sz="12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Run statistics on multiple tables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runstats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'TABLES'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'DSN81310'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'EMP%'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US" sz="1200" dirty="0">
                <a:latin typeface="IBM Plex Mono" panose="020B0509050203000203" pitchFamily="49" charset="0"/>
              </a:rPr>
            </a:br>
            <a:br>
              <a:rPr lang="en-US" sz="1200" dirty="0">
                <a:latin typeface="IBM Plex Mono" panose="020B0509050203000203" pitchFamily="49" charset="0"/>
              </a:rPr>
            </a:br>
            <a:r>
              <a:rPr lang="en-US" sz="1200" i="1" dirty="0">
                <a:solidFill>
                  <a:srgbClr val="60A0B0"/>
                </a:solidFill>
                <a:latin typeface="IBM Plex Mono" panose="020B0509050203000203" pitchFamily="49" charset="0"/>
              </a:rPr>
              <a:t>-- Copy table across databases</a:t>
            </a:r>
            <a:br>
              <a:rPr lang="en-US" sz="1200" dirty="0">
                <a:latin typeface="IBM Plex Mono" panose="020B0509050203000203" pitchFamily="49" charset="0"/>
              </a:rPr>
            </a:b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create table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emp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like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dsn81310.emp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in database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testuts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crossload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(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current </a:t>
            </a:r>
            <a:r>
              <a:rPr lang="en-DE" b="0" dirty="0" err="1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sqlid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 </a:t>
            </a:r>
            <a:r>
              <a:rPr lang="en-DE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'EMP'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        </a:t>
            </a:r>
            <a:r>
              <a:rPr lang="en-DE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100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as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rc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</a:t>
            </a:r>
            <a:r>
              <a:rPr lang="en-DE" b="0" dirty="0" err="1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sysibm.sysdummyu</a:t>
            </a:r>
            <a:endParaRPr lang="en-DE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IBM Plex Mono Text" panose="020B0509050203000203" pitchFamily="49" charset="0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IBM Plex Mono Text" panose="020B0509050203000203" pitchFamily="49" charset="0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Default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EMPNO, LASTNAME, WORKDEPT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/emp.csv'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Extended invocation: format and CCSID specs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SYSIBM.SYSTABLES'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/systables.csv'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'RFC4180'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'N'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Custom format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C1, C2, C3 FROM APP.T1'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'/u/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adcdmst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/t1_pipe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.txt',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'delimiter=\|;</a:t>
            </a:r>
            <a:r>
              <a:rPr lang="en-DE" sz="1100" dirty="0" err="1">
                <a:solidFill>
                  <a:srgbClr val="A31515"/>
                </a:solidFill>
                <a:latin typeface="IBM Plex Mono" panose="020B0509050203000203" pitchFamily="49" charset="0"/>
              </a:rPr>
              <a:t>quoteMode</a:t>
            </a:r>
            <a:r>
              <a:rPr lang="en-DE" sz="1100" dirty="0">
                <a:solidFill>
                  <a:srgbClr val="A31515"/>
                </a:solidFill>
                <a:latin typeface="IBM Plex Mono" panose="020B0509050203000203" pitchFamily="49" charset="0"/>
              </a:rPr>
              <a:t>=MINIMAL;' 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||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nullString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</a:t>
            </a:r>
            <a:r>
              <a:rPr lang="en-DE" sz="1100" b="0" dirty="0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\</a:t>
            </a:r>
            <a:r>
              <a:rPr lang="en-DE" sz="1100" b="0" dirty="0" err="1">
                <a:solidFill>
                  <a:srgbClr val="EE0000"/>
                </a:solidFill>
                <a:effectLst/>
                <a:latin typeface="IBM Plex Mono" panose="020B0509050203000203" pitchFamily="49" charset="0"/>
              </a:rPr>
              <a:t>N</a:t>
            </a:r>
            <a:r>
              <a:rPr lang="en-DE" sz="1100" b="0" dirty="0" err="1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;trim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=true'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1208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8000"/>
                </a:solidFill>
                <a:effectLst/>
                <a:latin typeface="IBM Plex Mono" panose="020B0509050203000203" pitchFamily="49" charset="0"/>
              </a:rPr>
              <a:t>-- MVS target invocation</a:t>
            </a: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SELECT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UNLOADCSV(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'SELECT * FROM DSN81310.EMP'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'//HLQ.EXPORT.EMP'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'Excel'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098658"/>
                </a:solidFill>
                <a:effectLst/>
                <a:latin typeface="IBM Plex Mono" panose="020B0509050203000203" pitchFamily="49" charset="0"/>
              </a:rPr>
              <a:t>1047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       </a:t>
            </a:r>
            <a:r>
              <a:rPr lang="en-DE" sz="1100" b="0" dirty="0">
                <a:solidFill>
                  <a:srgbClr val="A31515"/>
                </a:solidFill>
                <a:effectLst/>
                <a:latin typeface="IBM Plex Mono" panose="020B0509050203000203" pitchFamily="49" charset="0"/>
              </a:rPr>
              <a:t>'Y'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  </a:t>
            </a:r>
            <a:r>
              <a:rPr lang="en-DE" sz="1100" b="0" dirty="0">
                <a:solidFill>
                  <a:srgbClr val="0000FF"/>
                </a:solidFill>
                <a:effectLst/>
                <a:latin typeface="IBM Plex Mono" panose="020B0509050203000203" pitchFamily="49" charset="0"/>
              </a:rPr>
              <a:t>FROM</a:t>
            </a:r>
            <a: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  <a:t> SYSIBM.SYSDUMMYU;</a:t>
            </a:r>
          </a:p>
          <a:p>
            <a:pPr>
              <a:lnSpc>
                <a:spcPct val="100000"/>
              </a:lnSpc>
              <a:buNone/>
            </a:pPr>
            <a:br>
              <a:rPr lang="en-DE" sz="1100" b="0" dirty="0">
                <a:solidFill>
                  <a:srgbClr val="3B3B3B"/>
                </a:solidFill>
                <a:effectLst/>
                <a:latin typeface="IBM Plex Mono" panose="020B0509050203000203" pitchFamily="49" charset="0"/>
              </a:rPr>
            </a:br>
            <a:endParaRPr lang="en-DE" sz="1100" b="0" dirty="0">
              <a:solidFill>
                <a:srgbClr val="3B3B3B"/>
              </a:solidFill>
              <a:effectLst/>
              <a:latin typeface="IBM Plex Mono" panose="020B0509050203000203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7270</TotalTime>
  <Words>2331</Words>
  <Application>Microsoft Office PowerPoint</Application>
  <PresentationFormat>On-screen Show (16:9)</PresentationFormat>
  <Paragraphs>408</Paragraphs>
  <Slides>33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4" baseType="lpstr">
      <vt:lpstr>Arial</vt:lpstr>
      <vt:lpstr>IBM Plex Mono</vt:lpstr>
      <vt:lpstr>IBM Plex Mono Light</vt:lpstr>
      <vt:lpstr>IBM Plex Mono Text</vt:lpstr>
      <vt:lpstr>IBM Plex Sans</vt:lpstr>
      <vt:lpstr>IBM Plex Sans Light</vt:lpstr>
      <vt:lpstr>IBM Plex Sans Medm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Quick reference – all functions</vt:lpstr>
      <vt:lpstr>Architecture Overview (2 minutes)</vt:lpstr>
      <vt:lpstr>Four Implementation Types</vt:lpstr>
      <vt:lpstr>Execution Flow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ulrich.seelbach@de.ibm.com</dc:creator>
  <cp:keywords/>
  <cp:lastModifiedBy>Uli Seelbach</cp:lastModifiedBy>
  <cp:revision>34</cp:revision>
  <dcterms:created xsi:type="dcterms:W3CDTF">2026-06-09T10:56:26Z</dcterms:created>
  <dcterms:modified xsi:type="dcterms:W3CDTF">2026-06-18T08:47:52Z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