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302" r:id="rId3"/>
    <p:sldId id="303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7" r:id="rId22"/>
    <p:sldId id="278" r:id="rId23"/>
    <p:sldId id="257" r:id="rId24"/>
    <p:sldId id="301" r:id="rId25"/>
    <p:sldId id="279" r:id="rId26"/>
    <p:sldId id="280" r:id="rId27"/>
    <p:sldId id="282" r:id="rId28"/>
    <p:sldId id="284" r:id="rId29"/>
    <p:sldId id="285" r:id="rId30"/>
    <p:sldId id="287" r:id="rId31"/>
    <p:sldId id="288" r:id="rId32"/>
    <p:sldId id="289" r:id="rId33"/>
    <p:sldId id="290" r:id="rId34"/>
    <p:sldId id="300" r:id="rId35"/>
    <p:sldId id="299" r:id="rId36"/>
  </p:sldIdLst>
  <p:sldSz cx="9144000" cy="5143500" type="screen16x9"/>
  <p:notesSz cx="6858000" cy="9144000"/>
  <p:defaultTextStyle>
    <a:defPPr>
      <a:defRPr lang="en-US"/>
    </a:defPPr>
    <a:lvl1pPr marL="0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91468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182937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274406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365875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457344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548813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640282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731751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A8A8F86D-BE64-4A2A-B322-79D526C86EA4}">
          <p14:sldIdLst>
            <p14:sldId id="256"/>
            <p14:sldId id="302"/>
            <p14:sldId id="303"/>
            <p14:sldId id="258"/>
            <p14:sldId id="259"/>
            <p14:sldId id="260"/>
            <p14:sldId id="261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Categories" id="{DE0CB976-A529-4DB7-836E-B3FF83C97FBD}">
          <p14:sldIdLst>
            <p14:sldId id="274"/>
            <p14:sldId id="275"/>
            <p14:sldId id="276"/>
            <p14:sldId id="277"/>
            <p14:sldId id="278"/>
            <p14:sldId id="257"/>
            <p14:sldId id="301"/>
          </p14:sldIdLst>
        </p14:section>
        <p14:section name="Performance" id="{F4A37F06-DB24-4398-9F61-FC6181705D47}">
          <p14:sldIdLst>
            <p14:sldId id="279"/>
            <p14:sldId id="280"/>
            <p14:sldId id="282"/>
          </p14:sldIdLst>
        </p14:section>
        <p14:section name="Troubleshooting" id="{71C59B09-6D36-49DC-B592-C46E1050DB76}">
          <p14:sldIdLst>
            <p14:sldId id="284"/>
            <p14:sldId id="285"/>
          </p14:sldIdLst>
        </p14:section>
        <p14:section name="Demo" id="{5C376466-9679-47BB-8EA5-9D428728A77F}">
          <p14:sldIdLst>
            <p14:sldId id="287"/>
            <p14:sldId id="288"/>
            <p14:sldId id="289"/>
          </p14:sldIdLst>
        </p14:section>
        <p14:section name="Reference" id="{74587F1F-96DF-4B10-AEE3-BAF42569ECEC}">
          <p14:sldIdLst>
            <p14:sldId id="290"/>
            <p14:sldId id="300"/>
          </p14:sldIdLst>
        </p14:section>
        <p14:section name="Closing" id="{8FAA098E-7F3C-45CA-A84F-C14D4D6C6A61}">
          <p14:sldIdLst>
            <p14:sldId id="29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62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38" d="100"/>
          <a:sy n="138" d="100"/>
        </p:scale>
        <p:origin x="81" y="63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, ful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624810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457319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CD8D53F-2949-4CE0-B2D9-B234FDB496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5972" y="4716662"/>
            <a:ext cx="1853179" cy="21465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242802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785" y="116681"/>
            <a:ext cx="4158199" cy="967840"/>
          </a:xfrm>
        </p:spPr>
        <p:txBody>
          <a:bodyPr lIns="0" tIns="0" rIns="0" bIns="0" anchor="t"/>
          <a:lstStyle>
            <a:lvl1pPr>
              <a:defRPr sz="2550"/>
            </a:lvl1pPr>
          </a:lstStyle>
          <a:p>
            <a:r>
              <a:rPr lang="en-GB" dirty="0"/>
              <a:t>Agenda</a:t>
            </a:r>
            <a:endParaRPr lang="en-US" dirty="0">
              <a:solidFill>
                <a:srgbClr val="0F62FE"/>
              </a:solidFill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10" descr="Place imagery here">
            <a:extLst>
              <a:ext uri="{FF2B5EF4-FFF2-40B4-BE49-F238E27FC236}">
                <a16:creationId xmlns:a16="http://schemas.microsoft.com/office/drawing/2014/main" id="{AE38D290-6029-C9E6-DFF6-A3E1F770A5E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15785" y="1359851"/>
            <a:ext cx="3221391" cy="320594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cxnSp>
        <p:nvCxnSpPr>
          <p:cNvPr id="7" name="Straight Connector 6" descr="Vertical column divider">
            <a:extLst>
              <a:ext uri="{FF2B5EF4-FFF2-40B4-BE49-F238E27FC236}">
                <a16:creationId xmlns:a16="http://schemas.microsoft.com/office/drawing/2014/main" id="{BA756067-CB0F-D043-2A31-4C740E10976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4096"/>
            <a:ext cx="0" cy="435883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500056-0D63-C061-F847-94674980E76F}"/>
              </a:ext>
            </a:extLst>
          </p:cNvPr>
          <p:cNvSpPr txBox="1"/>
          <p:nvPr/>
        </p:nvSpPr>
        <p:spPr>
          <a:xfrm>
            <a:off x="5804621" y="4768703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4737AB1-5B24-6522-4C30-2A1D4993F0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68428" y="116681"/>
            <a:ext cx="4158194" cy="4449110"/>
          </a:xfrm>
        </p:spPr>
        <p:txBody>
          <a:bodyPr/>
          <a:lstStyle>
            <a:lvl1pPr marL="0" marR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01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02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03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  <a:p>
            <a:pPr lvl="0" defTabSz="914217">
              <a:defRPr/>
            </a:pPr>
            <a:r>
              <a:rPr lang="en-US" sz="1350" kern="0" dirty="0">
                <a:solidFill>
                  <a:srgbClr val="000000"/>
                </a:solidFill>
                <a:latin typeface="IBM Plex Sans Medm" panose="020B0503050203000203" pitchFamily="34" charset="0"/>
              </a:rPr>
              <a:t>04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1F4F9551-61D0-95CD-4620-7318D1A796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5BFD9F-5B37-5DA7-E96F-E39C19093AB9}"/>
              </a:ext>
            </a:extLst>
          </p:cNvPr>
          <p:cNvSpPr txBox="1"/>
          <p:nvPr/>
        </p:nvSpPr>
        <p:spPr>
          <a:xfrm>
            <a:off x="3891010" y="483249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083432082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4312"/>
            <a:ext cx="4140635" cy="4716999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3787409" cy="3883819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360517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ection, imagery, half, lab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E74B7-8F2A-46A5-97C4-76677246CF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3430191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0A3BE97F-BB78-DA67-3A9B-B2FBFA0DF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3717"/>
            <a:ext cx="4140635" cy="47175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4055972378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Mess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200" y="239231"/>
            <a:ext cx="5031204" cy="3430191"/>
          </a:xfrm>
        </p:spPr>
        <p:txBody>
          <a:bodyPr/>
          <a:lstStyle>
            <a:lvl1pPr>
              <a:lnSpc>
                <a:spcPct val="100000"/>
              </a:lnSpc>
              <a:defRPr sz="3150" b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803575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 or imagery, half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39931" cy="572096"/>
          </a:xfrm>
        </p:spPr>
        <p:txBody>
          <a:bodyPr/>
          <a:lstStyle>
            <a:lvl1pPr>
              <a:lnSpc>
                <a:spcPct val="110000"/>
              </a:lnSpc>
              <a:defRPr sz="2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5972" y="1140619"/>
            <a:ext cx="1854847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8F00625-4E10-D884-2256-56B294B4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01178" y="1140619"/>
            <a:ext cx="1856538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Picture Placeholder 10" descr="Place imagery here">
            <a:extLst>
              <a:ext uri="{FF2B5EF4-FFF2-40B4-BE49-F238E27FC236}">
                <a16:creationId xmlns:a16="http://schemas.microsoft.com/office/drawing/2014/main" id="{468A48E8-BE84-7972-AB73-8E31C1C134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85689" y="216027"/>
            <a:ext cx="4139931" cy="471435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65F8DDE-78BD-E2B6-1CAB-2A9EF14E9F7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526079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wide columns, 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 descr="Vertical quarter slide background in green 10">
            <a:extLst>
              <a:ext uri="{FF2B5EF4-FFF2-40B4-BE49-F238E27FC236}">
                <a16:creationId xmlns:a16="http://schemas.microsoft.com/office/drawing/2014/main" id="{36324606-303E-6A5A-043E-DFF87A4EADAA}"/>
              </a:ext>
            </a:extLst>
          </p:cNvPr>
          <p:cNvSpPr/>
          <p:nvPr/>
        </p:nvSpPr>
        <p:spPr bwMode="auto">
          <a:xfrm>
            <a:off x="6858298" y="0"/>
            <a:ext cx="2285702" cy="5143500"/>
          </a:xfrm>
          <a:prstGeom prst="rect">
            <a:avLst/>
          </a:prstGeom>
          <a:solidFill>
            <a:srgbClr val="EDF5FF"/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34286" tIns="34286" rIns="34286" bIns="34286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342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  <a:defRPr/>
            </a:pPr>
            <a:endParaRPr kumimoji="0" lang="en-RO" sz="52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Light"/>
              <a:ea typeface="+mn-ea"/>
              <a:cs typeface="+mn-cs"/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1BCACB2-2177-96DD-036D-15120FB855A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3664657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 descr="Vertical column divider line">
            <a:extLst>
              <a:ext uri="{FF2B5EF4-FFF2-40B4-BE49-F238E27FC236}">
                <a16:creationId xmlns:a16="http://schemas.microsoft.com/office/drawing/2014/main" id="{365CC5CE-7B1B-2308-C933-AF48CDCA7798}"/>
              </a:ext>
            </a:extLst>
          </p:cNvPr>
          <p:cNvCxnSpPr>
            <a:cxnSpLocks/>
          </p:cNvCxnSpPr>
          <p:nvPr/>
        </p:nvCxnSpPr>
        <p:spPr bwMode="auto">
          <a:xfrm flipV="1">
            <a:off x="4571405" y="1714500"/>
            <a:ext cx="0" cy="285978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9498F449-0499-4E92-47CE-C8F66EEA8F5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104157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205693000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half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957202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2957202" cy="2872853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791744"/>
            <a:ext cx="2957202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6" descr="Place imagery here">
            <a:extLst>
              <a:ext uri="{FF2B5EF4-FFF2-40B4-BE49-F238E27FC236}">
                <a16:creationId xmlns:a16="http://schemas.microsoft.com/office/drawing/2014/main" id="{185665AF-5C33-926F-B43E-978CB8D7162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628553" y="404065"/>
            <a:ext cx="5515447" cy="433537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1952162742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3938132" cy="310092"/>
          </a:xfrm>
        </p:spPr>
        <p:txBody>
          <a:bodyPr/>
          <a:lstStyle>
            <a:lvl1pPr>
              <a:lnSpc>
                <a:spcPct val="100000"/>
              </a:lnSpc>
              <a:defRPr sz="165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C0CC875-9F64-001B-D706-679D1CFF5F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574703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C6052B-E271-2F8A-1664-19D5B56E1C81}"/>
              </a:ext>
            </a:extLst>
          </p:cNvPr>
          <p:cNvSpPr txBox="1"/>
          <p:nvPr/>
        </p:nvSpPr>
        <p:spPr>
          <a:xfrm>
            <a:off x="1746170" y="1794244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5" name="Picture 4" descr="IBM 8-bar logo">
            <a:extLst>
              <a:ext uri="{FF2B5EF4-FFF2-40B4-BE49-F238E27FC236}">
                <a16:creationId xmlns:a16="http://schemas.microsoft.com/office/drawing/2014/main" id="{C0BF36D4-A859-0B3D-71F3-8B5F39DD15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997893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, 6 stack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5819-78ED-4475-16CD-65C8A2C5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1855943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48C06-F3C6-0E95-A225-29F730DD15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99987" y="213789"/>
            <a:ext cx="1858276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1FD5E03-A007-B728-4616-E05622A43A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213789"/>
            <a:ext cx="1857133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C06719-7195-BBE7-0154-56A039A4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1392" y="213788"/>
            <a:ext cx="1854847" cy="185737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3" name="Straight Connector 22" descr="Horizontal row divider">
            <a:extLst>
              <a:ext uri="{FF2B5EF4-FFF2-40B4-BE49-F238E27FC236}">
                <a16:creationId xmlns:a16="http://schemas.microsoft.com/office/drawing/2014/main" id="{252CDB94-BA57-B58F-95F0-D406FE34BB4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 bwMode="auto">
          <a:xfrm>
            <a:off x="2285703" y="2286000"/>
            <a:ext cx="6645203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704E464-B0E0-CDD0-B14B-FA6386285A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499987" y="2500837"/>
            <a:ext cx="1858276" cy="18573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96B64B8-6DA8-8704-DD30-37587B3E68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876" y="2500837"/>
            <a:ext cx="1858276" cy="185737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F965C82-A0A6-A670-C10A-6073DD3549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1392" y="2500838"/>
            <a:ext cx="1854847" cy="185736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6C9A7FC-6BA2-EF1D-18D5-F605D8C7C003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cxnSp>
        <p:nvCxnSpPr>
          <p:cNvPr id="4" name="Straight Connector 3" descr="Vertical column divider">
            <a:extLst>
              <a:ext uri="{FF2B5EF4-FFF2-40B4-BE49-F238E27FC236}">
                <a16:creationId xmlns:a16="http://schemas.microsoft.com/office/drawing/2014/main" id="{0E795639-6102-AB6C-5918-29F86236BFD2}"/>
              </a:ext>
            </a:extLst>
          </p:cNvPr>
          <p:cNvCxnSpPr>
            <a:cxnSpLocks/>
          </p:cNvCxnSpPr>
          <p:nvPr/>
        </p:nvCxnSpPr>
        <p:spPr bwMode="auto">
          <a:xfrm>
            <a:off x="2285702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357E5319-53C7-E291-189E-B5A9A71EC85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3789"/>
            <a:ext cx="0" cy="435940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 descr="Vertical column divider">
            <a:extLst>
              <a:ext uri="{FF2B5EF4-FFF2-40B4-BE49-F238E27FC236}">
                <a16:creationId xmlns:a16="http://schemas.microsoft.com/office/drawing/2014/main" id="{C5786CF5-FEFB-F111-90C8-4410630FD7A3}"/>
              </a:ext>
            </a:extLst>
          </p:cNvPr>
          <p:cNvCxnSpPr>
            <a:cxnSpLocks/>
          </p:cNvCxnSpPr>
          <p:nvPr/>
        </p:nvCxnSpPr>
        <p:spPr bwMode="auto">
          <a:xfrm>
            <a:off x="6857107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3726B49-5017-B9CF-0C53-5BADE4BD2668}"/>
              </a:ext>
            </a:extLst>
          </p:cNvPr>
          <p:cNvSpPr txBox="1"/>
          <p:nvPr/>
        </p:nvSpPr>
        <p:spPr>
          <a:xfrm>
            <a:off x="996673" y="290268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20195414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m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3" descr="Place imagery here">
            <a:extLst>
              <a:ext uri="{FF2B5EF4-FFF2-40B4-BE49-F238E27FC236}">
                <a16:creationId xmlns:a16="http://schemas.microsoft.com/office/drawing/2014/main" id="{B21278F8-931F-FDC3-4D6F-5AE334C1558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501674" y="214313"/>
            <a:ext cx="6423875" cy="4717256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036E5F48-E77E-8AB7-2227-FFCAA0B474E7}"/>
              </a:ext>
            </a:extLst>
          </p:cNvPr>
          <p:cNvSpPr txBox="1">
            <a:spLocks/>
          </p:cNvSpPr>
          <p:nvPr/>
        </p:nvSpPr>
        <p:spPr>
          <a:xfrm>
            <a:off x="0" y="2571750"/>
            <a:ext cx="2285702" cy="2571750"/>
          </a:xfrm>
          <a:prstGeom prst="rect">
            <a:avLst/>
          </a:prstGeom>
          <a:solidFill>
            <a:srgbClr val="EDF5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05713" tIns="205713" rIns="205713" bIns="205713"/>
          <a:lstStyle>
            <a:lvl1pPr marL="0" marR="0" indent="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0" i="0" u="none" strike="noStrike" cap="none" spc="0" baseline="0">
                <a:solidFill>
                  <a:schemeClr val="accent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329184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658368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987552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1143000" marR="0" indent="-457200" algn="l" defTabSz="2438400" rtl="0" eaLnBrk="1" latinLnBrk="0" hangingPunct="1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184306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2205631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256820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2930769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spcBef>
                <a:spcPts val="750"/>
              </a:spcBef>
            </a:pPr>
            <a:endParaRPr lang="en-US" sz="1350" kern="0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813420"/>
            <a:ext cx="1858324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3389137"/>
            <a:ext cx="1858324" cy="821356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69EE90AD-8540-9465-00B8-F8C41351E6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15972" y="4346590"/>
            <a:ext cx="1858324" cy="214313"/>
          </a:xfrm>
        </p:spPr>
        <p:txBody>
          <a:bodyPr anchor="b"/>
          <a:lstStyle>
            <a:lvl1pPr>
              <a:spcBef>
                <a:spcPts val="0"/>
              </a:spcBef>
              <a:defRPr sz="1050" u="sng">
                <a:solidFill>
                  <a:srgbClr val="0F62FE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5233EE-2E6A-EFB7-D475-5BE525E029DA}"/>
              </a:ext>
            </a:extLst>
          </p:cNvPr>
          <p:cNvSpPr txBox="1"/>
          <p:nvPr/>
        </p:nvSpPr>
        <p:spPr>
          <a:xfrm>
            <a:off x="2774736" y="2232837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67455740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columns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52331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791876" y="216000"/>
            <a:ext cx="1857133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072582" y="216000"/>
            <a:ext cx="1852967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B9B0455-A1CF-B58E-3124-86D0B0DD2BB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8BD536-DE70-4123-18D4-2F45B52DB7CB}"/>
              </a:ext>
            </a:extLst>
          </p:cNvPr>
          <p:cNvSpPr txBox="1"/>
          <p:nvPr/>
        </p:nvSpPr>
        <p:spPr>
          <a:xfrm>
            <a:off x="142856" y="6829425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9" name="Picture 8" descr="A black and white image of circles&#10;&#10;AI-generated content may be incorrect.">
            <a:extLst>
              <a:ext uri="{FF2B5EF4-FFF2-40B4-BE49-F238E27FC236}">
                <a16:creationId xmlns:a16="http://schemas.microsoft.com/office/drawing/2014/main" id="{8561A70E-5A98-6BC0-1B3D-9336E40B3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19" y="1847537"/>
            <a:ext cx="2914271" cy="2825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9500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783985" cy="714971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142999"/>
            <a:ext cx="3786885" cy="3432572"/>
          </a:xfrm>
        </p:spPr>
        <p:txBody>
          <a:bodyPr/>
          <a:lstStyle>
            <a:lvl1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pic>
        <p:nvPicPr>
          <p:cNvPr id="7" name="Picture 6" descr="A colorful squares and rectangles&#10;&#10;AI-generated content may be incorrect.">
            <a:extLst>
              <a:ext uri="{FF2B5EF4-FFF2-40B4-BE49-F238E27FC236}">
                <a16:creationId xmlns:a16="http://schemas.microsoft.com/office/drawing/2014/main" id="{40F47F80-8BA1-40DC-D494-989B24235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143" y="989945"/>
            <a:ext cx="2914271" cy="316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98744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s, profiles, contributo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7" descr="Place bio portrait here">
            <a:extLst>
              <a:ext uri="{FF2B5EF4-FFF2-40B4-BE49-F238E27FC236}">
                <a16:creationId xmlns:a16="http://schemas.microsoft.com/office/drawing/2014/main" id="{0B1677E6-5066-100D-29D6-CCAD04C21BCE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215972" y="1141809"/>
            <a:ext cx="923281" cy="928688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3" name="Picture Placeholder 7" descr="Place bio portrait here">
            <a:extLst>
              <a:ext uri="{FF2B5EF4-FFF2-40B4-BE49-F238E27FC236}">
                <a16:creationId xmlns:a16="http://schemas.microsoft.com/office/drawing/2014/main" id="{3DCE12BA-53E1-8B67-A029-029F1E6F91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215972" y="2286000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15" name="Picture Placeholder 7" descr="Place bio portrait here">
            <a:extLst>
              <a:ext uri="{FF2B5EF4-FFF2-40B4-BE49-F238E27FC236}">
                <a16:creationId xmlns:a16="http://schemas.microsoft.com/office/drawing/2014/main" id="{05E149CA-A25F-74EE-93DF-1A877CDE924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15972" y="3427809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5" name="Picture Placeholder 7" descr="Place bio portrait here">
            <a:extLst>
              <a:ext uri="{FF2B5EF4-FFF2-40B4-BE49-F238E27FC236}">
                <a16:creationId xmlns:a16="http://schemas.microsoft.com/office/drawing/2014/main" id="{AAC7C1AD-0F8C-4D02-0112-981444AFE9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4791876" y="1141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7" name="Picture Placeholder 7" descr="Place bio portrait here">
            <a:extLst>
              <a:ext uri="{FF2B5EF4-FFF2-40B4-BE49-F238E27FC236}">
                <a16:creationId xmlns:a16="http://schemas.microsoft.com/office/drawing/2014/main" id="{22271FFB-E2D1-459B-4089-A291A1110AE8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4791876" y="2286000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9" name="Picture Placeholder 7" descr="Place bio portrait here">
            <a:extLst>
              <a:ext uri="{FF2B5EF4-FFF2-40B4-BE49-F238E27FC236}">
                <a16:creationId xmlns:a16="http://schemas.microsoft.com/office/drawing/2014/main" id="{F3C99020-5BF1-8A8C-BDCB-42766A5B9BE5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4791876" y="3427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3210201" cy="572096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31D025A0-5106-DFB0-90B1-8B366B7891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85708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26F49A0-96BE-0B44-B1C8-17D765B10B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5708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4772377-8015-4C99-7ED3-E4475C524D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5708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855922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855922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855922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D4D4C25-96EE-FF6D-B301-962CD7A6366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183CD0-31C4-8F7A-458A-3A36F0E11350}"/>
              </a:ext>
            </a:extLst>
          </p:cNvPr>
          <p:cNvSpPr txBox="1"/>
          <p:nvPr/>
        </p:nvSpPr>
        <p:spPr>
          <a:xfrm>
            <a:off x="2894337" y="484047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941597328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172197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CF8C5A-89D9-07C1-73F9-57F5B85F23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81E33161-2019-120F-93DE-A5492AA0D9C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15972" y="1212652"/>
            <a:ext cx="8470221" cy="3286720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de-DE" dirty="0"/>
              <a:t>Titel Text</a:t>
            </a:r>
          </a:p>
        </p:txBody>
      </p:sp>
    </p:spTree>
    <p:extLst>
      <p:ext uri="{BB962C8B-B14F-4D97-AF65-F5344CB8AC3E}">
        <p14:creationId xmlns:p14="http://schemas.microsoft.com/office/powerpoint/2010/main" val="142741469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wo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EAD598B-31BC-E613-6A0C-C5C23A0BF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F177E5D-A4B0-59EA-3725-C88E5C5F5A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5972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 Textblock 1 (Bullet Points)</a:t>
            </a: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28583875-4D4C-97FF-623E-258C0651685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636720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Text oder Bild</a:t>
            </a:r>
          </a:p>
          <a:p>
            <a:pPr lvl="0"/>
            <a:endParaRPr lang="de-DE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4DDF143F-EC05-F45E-E073-B447EDB39C6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AC13AA5D-C372-BBFF-C6D2-A25D75A6BA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5" name="Picture 11" descr="IBM 8-bar logo">
            <a:extLst>
              <a:ext uri="{FF2B5EF4-FFF2-40B4-BE49-F238E27FC236}">
                <a16:creationId xmlns:a16="http://schemas.microsoft.com/office/drawing/2014/main" id="{A1151474-9DFE-813B-4997-141BDA6BE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674213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29609555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Con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82AFF6-BFFF-C98C-B439-C12696271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748" y="1208033"/>
            <a:ext cx="2977106" cy="297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717125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Image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E3C29D9-EA15-C503-283E-E8CF5DDD8D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214535"/>
            <a:ext cx="8470194" cy="416195"/>
          </a:xfrm>
        </p:spPr>
        <p:txBody>
          <a:bodyPr/>
          <a:lstStyle/>
          <a:p>
            <a:r>
              <a:rPr lang="de-DE" dirty="0"/>
              <a:t>Titel Bild</a:t>
            </a:r>
          </a:p>
        </p:txBody>
      </p:sp>
      <p:sp>
        <p:nvSpPr>
          <p:cNvPr id="8" name="Onlinebild-Platzhalter 7">
            <a:extLst>
              <a:ext uri="{FF2B5EF4-FFF2-40B4-BE49-F238E27FC236}">
                <a16:creationId xmlns:a16="http://schemas.microsoft.com/office/drawing/2014/main" id="{AE106E59-5AC4-DD17-9FE4-9EC228E339E1}"/>
              </a:ext>
            </a:extLst>
          </p:cNvPr>
          <p:cNvSpPr>
            <a:spLocks noGrp="1"/>
          </p:cNvSpPr>
          <p:nvPr>
            <p:ph type="clipArt" sz="quarter" idx="12"/>
          </p:nvPr>
        </p:nvSpPr>
        <p:spPr>
          <a:xfrm>
            <a:off x="951087" y="805851"/>
            <a:ext cx="6999964" cy="3152775"/>
          </a:xfrm>
        </p:spPr>
        <p:txBody>
          <a:bodyPr/>
          <a:lstStyle/>
          <a:p>
            <a:r>
              <a:rPr lang="en-US" dirty="0"/>
              <a:t>Click icon to add online image</a:t>
            </a:r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E2F77654-C418-50AD-271A-050B0C8D16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5972" y="4075408"/>
            <a:ext cx="4955331" cy="381000"/>
          </a:xfrm>
        </p:spPr>
        <p:txBody>
          <a:bodyPr/>
          <a:lstStyle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1"/>
            <a:r>
              <a:rPr lang="de-DE" dirty="0"/>
              <a:t>Bildunterschrift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75E92CF-055E-5A5B-DA01-5897A17F2F5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B2A9463-62BB-5A73-8375-92A7660DA5E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3" name="Picture 11" descr="IBM 8-bar logo">
            <a:extLst>
              <a:ext uri="{FF2B5EF4-FFF2-40B4-BE49-F238E27FC236}">
                <a16:creationId xmlns:a16="http://schemas.microsoft.com/office/drawing/2014/main" id="{0AC3A6E2-E66D-29A2-3A3A-7778B3FA6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209126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E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C69B098-A2DB-3DD8-CB84-89289E7F4A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20527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, 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4143431" cy="1715095"/>
          </a:xfrm>
        </p:spPr>
        <p:txBody>
          <a:bodyPr/>
          <a:lstStyle>
            <a:lvl1pPr>
              <a:lnSpc>
                <a:spcPct val="100000"/>
              </a:lnSpc>
              <a:defRPr sz="3225" b="0" i="0"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469442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1855943" cy="428030"/>
          </a:xfrm>
        </p:spPr>
        <p:txBody>
          <a:bodyPr/>
          <a:lstStyle>
            <a:lvl1pPr>
              <a:lnSpc>
                <a:spcPct val="100000"/>
              </a:lnSpc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99987" y="1285875"/>
            <a:ext cx="1856539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85690" y="1285875"/>
            <a:ext cx="3785694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499415" y="144018"/>
            <a:ext cx="1858324" cy="42803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  <a:lvl2pPr>
              <a:spcBef>
                <a:spcPts val="0"/>
              </a:spcBef>
              <a:defRPr sz="1049"/>
            </a:lvl2pPr>
            <a:lvl3pPr>
              <a:spcBef>
                <a:spcPts val="0"/>
              </a:spcBef>
              <a:defRPr sz="1049"/>
            </a:lvl3pPr>
            <a:lvl4pPr>
              <a:spcBef>
                <a:spcPts val="0"/>
              </a:spcBef>
              <a:defRPr sz="1049"/>
            </a:lvl4pPr>
            <a:lvl5pPr>
              <a:spcBef>
                <a:spcPts val="0"/>
              </a:spcBef>
              <a:defRPr sz="1049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5933" y="4852065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44341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1855943" cy="572643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AFC9C6E-79FD-9BB8-F74D-EAA013319C6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303541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43404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llout,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3715457" cy="1072158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3094" y="4801588"/>
            <a:ext cx="1858324" cy="142875"/>
          </a:xfrm>
        </p:spPr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9D4AF5E-3E60-06F1-E3E3-F00E3ADA90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775273" y="144019"/>
            <a:ext cx="4152728" cy="3215282"/>
          </a:xfrm>
          <a:prstGeom prst="rect">
            <a:avLst/>
          </a:prstGeom>
        </p:spPr>
        <p:txBody>
          <a:bodyPr/>
          <a:lstStyle>
            <a:lvl1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 defTabSz="435483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817913200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99768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268288" indent="-268288"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IBM 8-bar logo">
            <a:extLst>
              <a:ext uri="{FF2B5EF4-FFF2-40B4-BE49-F238E27FC236}">
                <a16:creationId xmlns:a16="http://schemas.microsoft.com/office/drawing/2014/main" id="{4D310305-0E4B-0BFA-02AD-2A2BAA4E6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0675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2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825932" y="4856893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15999" y="216027"/>
            <a:ext cx="8470194" cy="92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/>
          <a:p>
            <a:r>
              <a:rPr dirty="0"/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15475" y="1247775"/>
            <a:ext cx="8470194" cy="332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5972" y="4808732"/>
            <a:ext cx="1858324" cy="14287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7016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</p:sldLayoutIdLst>
  <p:transition spd="med"/>
  <p:txStyles>
    <p:titleStyle>
      <a:lvl1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35963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271927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40789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543854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23444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246888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370332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428625" marR="0" indent="-171450" algn="l" defTabSz="914400" rtl="0" eaLnBrk="1" latinLnBrk="0" hangingPunct="1">
        <a:lnSpc>
          <a:spcPct val="110000"/>
        </a:lnSpc>
        <a:spcBef>
          <a:spcPts val="1088"/>
        </a:spcBef>
        <a:spcAft>
          <a:spcPts val="0"/>
        </a:spcAft>
        <a:buClrTx/>
        <a:buSzPct val="100000"/>
        <a:buFont typeface="IBM Plex Sans" panose="020B0604020202020204" pitchFamily="34" charset="0"/>
        <a:buChar char="•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69114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827112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963075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09903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28622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25724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385865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514487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643109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771731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90035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028974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9" orient="horz" pos="3840">
          <p15:clr>
            <a:srgbClr val="EE5396"/>
          </p15:clr>
        </p15:guide>
        <p15:guide id="20" orient="horz" pos="958">
          <p15:clr>
            <a:srgbClr val="EE5396"/>
          </p15:clr>
        </p15:guide>
        <p15:guide id="25" orient="horz" pos="7682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30" orient="horz" pos="1918">
          <p15:clr>
            <a:srgbClr val="EE5396"/>
          </p15:clr>
        </p15:guide>
        <p15:guide id="32" orient="horz" pos="6720">
          <p15:clr>
            <a:srgbClr val="EE5396"/>
          </p15:clr>
        </p15:guide>
        <p15:guide id="33" orient="horz" pos="2880">
          <p15:clr>
            <a:srgbClr val="EE5396"/>
          </p15:clr>
        </p15:guide>
        <p15:guide id="34" orient="horz" pos="4800">
          <p15:clr>
            <a:srgbClr val="EE5396"/>
          </p15:clr>
        </p15:guide>
        <p15:guide id="35" orient="horz" pos="5758">
          <p15:clr>
            <a:srgbClr val="EE5396"/>
          </p15:clr>
        </p15:guide>
        <p15:guide id="36" orient="horz" pos="8284">
          <p15:clr>
            <a:srgbClr val="9FCC3B"/>
          </p15:clr>
        </p15:guide>
        <p15:guide id="37" orient="horz" pos="360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103252/Db2_Routin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file+.vscode-resource.vscode-cdn.net/c%3A/Users/UliSeelbach/git/Db2_Routines/README.adoc#_formattimestamp" TargetMode="External"/><Relationship Id="rId13" Type="http://schemas.openxmlformats.org/officeDocument/2006/relationships/hyperlink" Target="https://file+.vscode-resource.vscode-cdn.net/c%3A/Users/UliSeelbach/git/Db2_Routines/README.adoc#_regex_matches" TargetMode="External"/><Relationship Id="rId18" Type="http://schemas.openxmlformats.org/officeDocument/2006/relationships/hyperlink" Target="https://file+.vscode-resource.vscode-cdn.net/c%3A/Users/UliSeelbach/git/Db2_Routines/README.adoc#:submit" TargetMode="External"/><Relationship Id="rId3" Type="http://schemas.openxmlformats.org/officeDocument/2006/relationships/hyperlink" Target="https://file+.vscode-resource.vscode-cdn.net/c%3A/Users/UliSeelbach/git/Db2_Routines/README.adoc#_base64decode" TargetMode="External"/><Relationship Id="rId21" Type="http://schemas.openxmlformats.org/officeDocument/2006/relationships/hyperlink" Target="https://file+.vscode-resource.vscode-cdn.net/c%3A/Users/UliSeelbach/git/Db2_Routines/README.adoc#_validate_conversion" TargetMode="External"/><Relationship Id="rId7" Type="http://schemas.openxmlformats.org/officeDocument/2006/relationships/hyperlink" Target="https://file+.vscode-resource.vscode-cdn.net/c%3A/Users/UliSeelbach/git/Db2_Routines/README.adoc#_easter" TargetMode="External"/><Relationship Id="rId12" Type="http://schemas.openxmlformats.org/officeDocument/2006/relationships/hyperlink" Target="https://file+.vscode-resource.vscode-cdn.net/c%3A/Users/UliSeelbach/git/Db2_Routines/README.adoc#_read_generic_file" TargetMode="External"/><Relationship Id="rId17" Type="http://schemas.openxmlformats.org/officeDocument/2006/relationships/hyperlink" Target="https://file+.vscode-resource.vscode-cdn.net/c%3A/Users/UliSeelbach/git/Db2_Routines/README.adoc#_sprintf" TargetMode="External"/><Relationship Id="rId2" Type="http://schemas.openxmlformats.org/officeDocument/2006/relationships/hyperlink" Target="https://file+.vscode-resource.vscode-cdn.net/c%3A/Users/UliSeelbach/git/Db2_Routines/README.adoc#_apflist" TargetMode="External"/><Relationship Id="rId16" Type="http://schemas.openxmlformats.org/officeDocument/2006/relationships/hyperlink" Target="https://file+.vscode-resource.vscode-cdn.net/c%3A/Users/UliSeelbach/git/Db2_Routines/README.adoc#_split" TargetMode="External"/><Relationship Id="rId20" Type="http://schemas.openxmlformats.org/officeDocument/2006/relationships/hyperlink" Target="https://file+.vscode-resource.vscode-cdn.net/c%3A/Users/UliSeelbach/git/Db2_Routines/README.adoc#:try_integer" TargetMode="External"/><Relationship Id="rId1" Type="http://schemas.openxmlformats.org/officeDocument/2006/relationships/slideLayout" Target="../slideLayouts/slideLayout29.xml"/><Relationship Id="rId6" Type="http://schemas.openxmlformats.org/officeDocument/2006/relationships/hyperlink" Target="https://file+.vscode-resource.vscode-cdn.net/c%3A/Users/UliSeelbach/git/Db2_Routines/README.adoc#_db2utility" TargetMode="External"/><Relationship Id="rId11" Type="http://schemas.openxmlformats.org/officeDocument/2006/relationships/hyperlink" Target="https://file+.vscode-resource.vscode-cdn.net/c%3A/Users/UliSeelbach/git/Db2_Routines/README.adoc#_racfprofile" TargetMode="External"/><Relationship Id="rId5" Type="http://schemas.openxmlformats.org/officeDocument/2006/relationships/hyperlink" Target="https://file+.vscode-resource.vscode-cdn.net/c%3A/Users/UliSeelbach/git/Db2_Routines/README.adoc#_crossload" TargetMode="External"/><Relationship Id="rId15" Type="http://schemas.openxmlformats.org/officeDocument/2006/relationships/hyperlink" Target="https://file+.vscode-resource.vscode-cdn.net/c%3A/Users/UliSeelbach/git/Db2_Routines/README.adoc#_runstats" TargetMode="External"/><Relationship Id="rId10" Type="http://schemas.openxmlformats.org/officeDocument/2006/relationships/hyperlink" Target="https://file+.vscode-resource.vscode-cdn.net/c%3A/Users/UliSeelbach/git/Db2_Routines/README.adoc#_hextoint" TargetMode="External"/><Relationship Id="rId19" Type="http://schemas.openxmlformats.org/officeDocument/2006/relationships/hyperlink" Target="https://file+.vscode-resource.vscode-cdn.net/c%3A/Users/UliSeelbach/git/Db2_Routines/README.adoc#_to_roman" TargetMode="External"/><Relationship Id="rId4" Type="http://schemas.openxmlformats.org/officeDocument/2006/relationships/hyperlink" Target="https://file+.vscode-resource.vscode-cdn.net/c%3A/Users/UliSeelbach/git/Db2_Routines/README.adoc#_base64encode" TargetMode="External"/><Relationship Id="rId9" Type="http://schemas.openxmlformats.org/officeDocument/2006/relationships/hyperlink" Target="https://file+.vscode-resource.vscode-cdn.net/c%3A/Users/UliSeelbach/git/Db2_Routines/README.adoc#_generate_series" TargetMode="External"/><Relationship Id="rId14" Type="http://schemas.openxmlformats.org/officeDocument/2006/relationships/hyperlink" Target="https://file+.vscode-resource.vscode-cdn.net/c%3A/Users/UliSeelbach/git/Db2_Routines/README.adoc#_regex_replace" TargetMode="Externa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5089718" cy="1550727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Beyond</a:t>
            </a:r>
            <a:r>
              <a:rPr lang="en-DE" dirty="0"/>
              <a:t> </a:t>
            </a:r>
            <a:r>
              <a:rPr dirty="0"/>
              <a:t>Built-ins:</a:t>
            </a:r>
            <a:r>
              <a:rPr lang="en-DE" dirty="0"/>
              <a:t> </a:t>
            </a:r>
            <a:r>
              <a:rPr dirty="0"/>
              <a:t>Supercharging</a:t>
            </a:r>
            <a:r>
              <a:rPr lang="en-DE" dirty="0"/>
              <a:t> </a:t>
            </a: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Custom</a:t>
            </a:r>
            <a:r>
              <a:rPr lang="en-DE" dirty="0"/>
              <a:t> </a:t>
            </a:r>
            <a:r>
              <a:rPr dirty="0"/>
              <a:t>Routines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sz="quarter" idx="12"/>
          </p:nvPr>
        </p:nvSpPr>
        <p:spPr>
          <a:xfrm>
            <a:off x="216071" y="1784090"/>
            <a:ext cx="4822165" cy="342900"/>
          </a:xfrm>
        </p:spPr>
        <p:txBody>
          <a:bodyPr/>
          <a:lstStyle/>
          <a:p>
            <a:pPr lvl="0"/>
            <a:r>
              <a:rPr lang="en-US" dirty="0"/>
              <a:t>A DBA's Guide to Functions IBM Forgot to Include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Uli Seelbach</a:t>
            </a:r>
            <a:br>
              <a:rPr lang="en-US" dirty="0"/>
            </a:br>
            <a:r>
              <a:rPr lang="en-US" dirty="0"/>
              <a:t>GSE Working Group Db2 Meeting</a:t>
            </a:r>
            <a:br>
              <a:rPr lang="en-US" dirty="0"/>
            </a:br>
            <a:r>
              <a:rPr lang="en-US" dirty="0"/>
              <a:t>IBM Zürich, 17.-18.06.2026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F40284-C647-A3D1-321D-6F69CA252AB7}"/>
              </a:ext>
            </a:extLst>
          </p:cNvPr>
          <p:cNvSpPr txBox="1"/>
          <p:nvPr/>
        </p:nvSpPr>
        <p:spPr>
          <a:xfrm>
            <a:off x="215972" y="4321669"/>
            <a:ext cx="7614205" cy="30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defTabSz="2438400">
              <a:spcBef>
                <a:spcPts val="2900"/>
              </a:spcBef>
              <a:buSzPct val="100000"/>
            </a:pPr>
            <a:r>
              <a:rPr lang="fr-FR" sz="1600" dirty="0"/>
              <a:t>Source Code and documentation in GitHub: </a:t>
            </a:r>
            <a:r>
              <a:rPr lang="fr-FR" sz="1600" dirty="0">
                <a:hlinkClick r:id="rId2"/>
              </a:rPr>
              <a:t>de103252/Db2_Routines</a:t>
            </a:r>
            <a:endParaRPr lang="fr-FR" sz="1600" dirty="0"/>
          </a:p>
          <a:p>
            <a:pPr marL="444465" indent="-446749" algn="l" defTabSz="2438400">
              <a:spcBef>
                <a:spcPts val="2900"/>
              </a:spcBef>
              <a:buSzPct val="100000"/>
              <a:buFontTx/>
              <a:buChar char="–"/>
            </a:pPr>
            <a:endParaRPr lang="en-DE" sz="16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D88B40A-8579-0A50-4FFA-F72C4B304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409798"/>
          </a:xfrm>
        </p:spPr>
        <p:txBody>
          <a:bodyPr/>
          <a:lstStyle/>
          <a:p>
            <a:r>
              <a:rPr lang="en-US" dirty="0"/>
              <a:t>Appetizer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A8DDD48-65F2-5CF7-8942-07E2CC523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475" y="733606"/>
            <a:ext cx="8470194" cy="1936581"/>
          </a:xfr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lIns="36000" tIns="36000" rIns="36000"/>
          <a:lstStyle/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with</a:t>
            </a:r>
          </a:p>
          <a:p>
            <a:pPr>
              <a:lnSpc>
                <a:spcPct val="100000"/>
              </a:lnSpc>
            </a:pPr>
            <a:r>
              <a:rPr lang="en-US" sz="1000" dirty="0" err="1">
                <a:latin typeface="IBM Plex Mono Text" panose="020B0509050203000203" pitchFamily="49" charset="0"/>
              </a:rPr>
              <a:t>jahre</a:t>
            </a:r>
            <a:r>
              <a:rPr lang="en-US" sz="1000" dirty="0">
                <a:latin typeface="IBM Plex Mono Text" panose="020B0509050203000203" pitchFamily="49" charset="0"/>
              </a:rPr>
              <a:t> as (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select value as </a:t>
            </a:r>
            <a:r>
              <a:rPr lang="en-US" sz="1000" dirty="0" err="1">
                <a:latin typeface="IBM Plex Mono Text" panose="020B0509050203000203" pitchFamily="49" charset="0"/>
              </a:rPr>
              <a:t>jahr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  , timestamp(</a:t>
            </a:r>
            <a:r>
              <a:rPr lang="en-US" sz="1000" dirty="0">
                <a:highlight>
                  <a:srgbClr val="FFFF00"/>
                </a:highlight>
                <a:latin typeface="IBM Plex Mono Text" panose="020B0509050203000203" pitchFamily="49" charset="0"/>
              </a:rPr>
              <a:t>easter</a:t>
            </a:r>
            <a:r>
              <a:rPr lang="en-US" sz="1000" dirty="0">
                <a:latin typeface="IBM Plex Mono Text" panose="020B0509050203000203" pitchFamily="49" charset="0"/>
              </a:rPr>
              <a:t>(value)) as 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from table(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generate_series</a:t>
            </a:r>
            <a:r>
              <a:rPr lang="en-US" sz="1000" dirty="0">
                <a:latin typeface="IBM Plex Mono Text" panose="020B0509050203000203" pitchFamily="49" charset="0"/>
              </a:rPr>
              <a:t>(year(current date), year(current date) + 10))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to_roman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jahr</a:t>
            </a:r>
            <a:r>
              <a:rPr lang="en-US" sz="1000" dirty="0">
                <a:latin typeface="IBM Plex Mono Text" panose="020B0509050203000203" pitchFamily="49" charset="0"/>
              </a:rPr>
              <a:t>) as "Jahr"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,           'd. MMMM', ‘de-CH') as "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+ 39 days, 'd. MMMM', '</a:t>
            </a:r>
            <a:r>
              <a:rPr lang="en-US" sz="1000" dirty="0" err="1">
                <a:latin typeface="IBM Plex Mono Text" panose="020B0509050203000203" pitchFamily="49" charset="0"/>
              </a:rPr>
              <a:t>fr</a:t>
            </a:r>
            <a:r>
              <a:rPr lang="en-US" sz="1000" dirty="0">
                <a:latin typeface="IBM Plex Mono Text" panose="020B0509050203000203" pitchFamily="49" charset="0"/>
              </a:rPr>
              <a:t>-CH') as "Ascension"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+ 49 days, 'd. MMMM', 'it-CH') as "</a:t>
            </a:r>
            <a:r>
              <a:rPr lang="en-US" sz="1000" dirty="0" err="1">
                <a:latin typeface="IBM Plex Mono Text" panose="020B0509050203000203" pitchFamily="49" charset="0"/>
              </a:rPr>
              <a:t>Pentecoste</a:t>
            </a:r>
            <a:r>
              <a:rPr lang="en-US" sz="1000" dirty="0">
                <a:latin typeface="IBM Plex Mono Text" panose="020B0509050203000203" pitchFamily="49" charset="0"/>
              </a:rPr>
              <a:t>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+ 60 days, 'd. MMMM', 'rm-CH') as "Corpus Christi"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jahre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DE" sz="1000" dirty="0">
              <a:latin typeface="IBM Plex Mono Text" panose="020B0509050203000203" pitchFamily="49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21BF287-68B5-0788-7618-75D974B6AB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39365"/>
              </p:ext>
            </p:extLst>
          </p:nvPr>
        </p:nvGraphicFramePr>
        <p:xfrm>
          <a:off x="215475" y="2911156"/>
          <a:ext cx="8469315" cy="14630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693863">
                  <a:extLst>
                    <a:ext uri="{9D8B030D-6E8A-4147-A177-3AD203B41FA5}">
                      <a16:colId xmlns:a16="http://schemas.microsoft.com/office/drawing/2014/main" val="1810311180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1833299943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2157064620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3582713625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2999981508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Jahr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</a:rPr>
                        <a:t>Ostern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inherit"/>
                        </a:rPr>
                        <a:t>Ascension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</a:rPr>
                        <a:t>Pentecoste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Corpus Christi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068664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5.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14. mai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24. maggio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4. da zercladur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249445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28. März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6. mai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16. maggio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27. da matg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959088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MMXXVIII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16.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25. mai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giugno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15. da zercladur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342373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MMXXIX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1.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10. mai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20. maggio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31. da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matg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283336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4649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0769109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0DC5A-73F3-6E40-2DD4-2CDC2A980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5F84F36-D593-DBA1-7FF0-7090B30E8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409798"/>
          </a:xfrm>
        </p:spPr>
        <p:txBody>
          <a:bodyPr/>
          <a:lstStyle/>
          <a:p>
            <a:r>
              <a:rPr lang="en-US" dirty="0"/>
              <a:t>Appetizer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647848A-2AFB-6234-AE8B-BE1011226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475" y="733607"/>
            <a:ext cx="8470194" cy="1441558"/>
          </a:xfrm>
          <a:solidFill>
            <a:schemeClr val="accent1">
              <a:lumMod val="20000"/>
              <a:lumOff val="80000"/>
              <a:alpha val="30000"/>
            </a:schemeClr>
          </a:solidFill>
          <a:ln w="12700">
            <a:solidFill>
              <a:schemeClr val="accent1"/>
            </a:solidFill>
            <a:miter lim="400000"/>
          </a:ln>
        </p:spPr>
        <p:txBody>
          <a:bodyPr lIns="36000" tIns="36000" rIns="36000" bIns="0"/>
          <a:lstStyle/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</a:t>
            </a:r>
            <a:r>
              <a:rPr lang="en-US" sz="1000" dirty="0" err="1">
                <a:latin typeface="IBM Plex Mono Text" panose="020B0509050203000203" pitchFamily="49" charset="0"/>
              </a:rPr>
              <a:t>runstats</a:t>
            </a:r>
            <a:r>
              <a:rPr lang="en-US" sz="1000" dirty="0">
                <a:latin typeface="IBM Plex Mono Text" panose="020B0509050203000203" pitchFamily="49" charset="0"/>
              </a:rPr>
              <a:t>('TABLES', 'DSN81310', '^(EMP|DEPT)$', '') 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sysibm.sysdummyu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</a:pPr>
            <a:br>
              <a:rPr lang="en-US" sz="1000" dirty="0">
                <a:latin typeface="IBM Plex Mono Text" panose="020B0509050203000203" pitchFamily="49" charset="0"/>
              </a:rPr>
            </a:b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db2util.utility_output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sysibm.sysdummyu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</a:pPr>
            <a:endParaRPr lang="en-DE" sz="1000" dirty="0">
              <a:latin typeface="IBM Plex Mono Text" panose="020B0509050203000203" pitchFamily="49" charset="0"/>
            </a:endParaRP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66F95973-C09A-63F7-23E0-234A17477266}"/>
              </a:ext>
            </a:extLst>
          </p:cNvPr>
          <p:cNvSpPr txBox="1">
            <a:spLocks/>
          </p:cNvSpPr>
          <p:nvPr/>
        </p:nvSpPr>
        <p:spPr>
          <a:xfrm>
            <a:off x="215999" y="2382298"/>
            <a:ext cx="8470194" cy="1441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268288" marR="0" indent="-26828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246888" marR="0" indent="-123444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370332" marR="0" indent="-123444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428625" marR="0" indent="-171450" algn="l" defTabSz="914400" rtl="0" eaLnBrk="1" latinLnBrk="0" hangingPunct="1">
              <a:lnSpc>
                <a:spcPct val="11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 typeface="IBM Plex Sans" panose="020B0604020202020204" pitchFamily="34" charset="0"/>
              <a:buChar char="•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691148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827112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963075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1099038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DSNU000I    162 04:01:04.66 DSNUGUTC - OUTPUT START FOR UTILITY, UTILID = UTIL35625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DSNU1045I   162 04:01:04.67 DSNUGTIS - PROCESSING SYSIN AS UNICODE UTF-8 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DSNU050I    162 04:01:04.68 DSNUGUTC -  LISTDEF RSLIST INCLUDE TABLE DSN81310."DEPT" INCLUDE TABLE DSN81310."EMP"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DSNU1035I   162 04:01:04.69 DSNUILDR - LISTDEF STATEMENT PROCESSED SUCCESSFULLY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DSNU050I    162 04:01:04.69 DSNUGUTC -  RUNSTATS TABLESPACE LIST RSLIST TABLE USE PROFILE SORTDEVT SYSALLDA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43582589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8BA7231-C9B5-95DB-C4DD-74B3CE7B8F2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193388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Why</a:t>
            </a:r>
            <a:r>
              <a:rPr lang="en-DE" dirty="0"/>
              <a:t> </a:t>
            </a:r>
            <a:r>
              <a:rPr dirty="0"/>
              <a:t>This</a:t>
            </a:r>
            <a:r>
              <a:rPr lang="en-DE" dirty="0"/>
              <a:t> </a:t>
            </a:r>
            <a:r>
              <a:rPr dirty="0"/>
              <a:t>Library</a:t>
            </a:r>
            <a:r>
              <a:rPr lang="en-DE" dirty="0"/>
              <a:t> </a:t>
            </a:r>
            <a:r>
              <a:rPr dirty="0"/>
              <a:t>Exists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lacks</a:t>
            </a:r>
            <a:r>
              <a:rPr lang="en-DE" dirty="0"/>
              <a:t> </a:t>
            </a:r>
            <a:r>
              <a:rPr dirty="0"/>
              <a:t>many</a:t>
            </a:r>
            <a:r>
              <a:rPr lang="en-DE" dirty="0"/>
              <a:t> </a:t>
            </a:r>
            <a:r>
              <a:rPr lang="en-US" dirty="0"/>
              <a:t>useful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that</a:t>
            </a:r>
            <a:r>
              <a:rPr lang="en-DE" dirty="0"/>
              <a:t> </a:t>
            </a:r>
            <a:r>
              <a:rPr lang="en-US" dirty="0"/>
              <a:t>may be useful to developers and DBs alike</a:t>
            </a:r>
            <a:r>
              <a:rPr dirty="0"/>
              <a:t>:</a:t>
            </a:r>
            <a:endParaRPr lang="en-US" dirty="0"/>
          </a:p>
          <a:p>
            <a:pPr marL="0" lvl="0" indent="0">
              <a:buNone/>
            </a:pP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R</a:t>
            </a:r>
            <a:r>
              <a:rPr b="1" dirty="0"/>
              <a:t>egular</a:t>
            </a:r>
            <a:r>
              <a:rPr lang="en-DE" b="1" dirty="0"/>
              <a:t> </a:t>
            </a:r>
            <a:r>
              <a:rPr b="1" dirty="0"/>
              <a:t>expression</a:t>
            </a:r>
            <a:r>
              <a:rPr lang="en-DE" b="1" dirty="0"/>
              <a:t> </a:t>
            </a:r>
            <a:r>
              <a:rPr dirty="0"/>
              <a:t>support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Data type </a:t>
            </a:r>
            <a:r>
              <a:rPr lang="en-US" dirty="0"/>
              <a:t>testing and conversion</a:t>
            </a:r>
            <a:endParaRPr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Extended </a:t>
            </a:r>
            <a:r>
              <a:rPr lang="en-US" b="1" dirty="0"/>
              <a:t>string formatting </a:t>
            </a:r>
            <a:r>
              <a:rPr lang="en-US" dirty="0"/>
              <a:t>capabilities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Base64</a:t>
            </a:r>
            <a:r>
              <a:rPr lang="en-DE" dirty="0"/>
              <a:t> </a:t>
            </a:r>
            <a:r>
              <a:rPr dirty="0"/>
              <a:t>encoding</a:t>
            </a:r>
            <a:r>
              <a:rPr lang="en-US" dirty="0"/>
              <a:t> </a:t>
            </a:r>
            <a:r>
              <a:rPr dirty="0"/>
              <a:t>/</a:t>
            </a:r>
            <a:r>
              <a:rPr lang="en-US" dirty="0"/>
              <a:t> </a:t>
            </a:r>
            <a:r>
              <a:rPr dirty="0"/>
              <a:t>decoding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CSV</a:t>
            </a:r>
            <a:r>
              <a:rPr lang="en-US" dirty="0"/>
              <a:t> unload in user-defined formats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Executing </a:t>
            </a:r>
            <a:r>
              <a:rPr lang="en-US" b="1" dirty="0"/>
              <a:t>utilities</a:t>
            </a:r>
            <a:r>
              <a:rPr lang="en-US" dirty="0"/>
              <a:t> (e.g., RUNSTATS) via SQL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Dir</a:t>
            </a:r>
            <a:r>
              <a:rPr dirty="0"/>
              <a:t>ect</a:t>
            </a:r>
            <a:r>
              <a:rPr lang="en-DE" dirty="0"/>
              <a:t> </a:t>
            </a:r>
            <a:r>
              <a:rPr b="1" dirty="0"/>
              <a:t>JCL</a:t>
            </a:r>
            <a:r>
              <a:rPr lang="en-DE" dirty="0"/>
              <a:t> </a:t>
            </a:r>
            <a:r>
              <a:rPr dirty="0"/>
              <a:t>submission</a:t>
            </a:r>
            <a:r>
              <a:rPr lang="en-DE" dirty="0"/>
              <a:t> </a:t>
            </a:r>
            <a:r>
              <a:rPr lang="en-US" dirty="0"/>
              <a:t>and output retrieval via</a:t>
            </a:r>
            <a:r>
              <a:rPr lang="en-DE" dirty="0"/>
              <a:t> </a:t>
            </a:r>
            <a:r>
              <a:rPr dirty="0"/>
              <a:t>SQL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R</a:t>
            </a:r>
            <a:r>
              <a:rPr dirty="0"/>
              <a:t>ead</a:t>
            </a:r>
            <a:r>
              <a:rPr lang="en-US" dirty="0"/>
              <a:t>ing</a:t>
            </a:r>
            <a:r>
              <a:rPr lang="en-DE" dirty="0"/>
              <a:t> </a:t>
            </a:r>
            <a:r>
              <a:rPr b="1" dirty="0"/>
              <a:t>flat</a:t>
            </a:r>
            <a:r>
              <a:rPr lang="en-DE" b="1" dirty="0"/>
              <a:t> </a:t>
            </a:r>
            <a:r>
              <a:rPr b="1" dirty="0"/>
              <a:t>files</a:t>
            </a:r>
            <a:r>
              <a:rPr lang="en-US" b="1" dirty="0"/>
              <a:t> </a:t>
            </a:r>
            <a:r>
              <a:rPr lang="en-US" dirty="0"/>
              <a:t>as “virtual” database tables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S</a:t>
            </a:r>
            <a:r>
              <a:rPr b="1" dirty="0"/>
              <a:t>ystem</a:t>
            </a:r>
            <a:r>
              <a:rPr lang="en-DE" b="1" dirty="0"/>
              <a:t> </a:t>
            </a:r>
            <a:r>
              <a:rPr dirty="0"/>
              <a:t>integration</a:t>
            </a:r>
            <a:r>
              <a:rPr lang="en-DE" dirty="0"/>
              <a:t> </a:t>
            </a:r>
            <a:r>
              <a:rPr dirty="0"/>
              <a:t>(APF</a:t>
            </a:r>
            <a:r>
              <a:rPr lang="en-DE" dirty="0"/>
              <a:t> </a:t>
            </a:r>
            <a:r>
              <a:rPr dirty="0"/>
              <a:t>lists,</a:t>
            </a:r>
            <a:r>
              <a:rPr lang="en-DE" dirty="0"/>
              <a:t> </a:t>
            </a:r>
            <a:r>
              <a:rPr dirty="0"/>
              <a:t>RACF</a:t>
            </a:r>
            <a:r>
              <a:rPr lang="en-DE" dirty="0"/>
              <a:t> </a:t>
            </a:r>
            <a:r>
              <a:rPr dirty="0"/>
              <a:t>profiles)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20+</a:t>
            </a:r>
            <a:r>
              <a:rPr lang="en-DE" dirty="0"/>
              <a:t> </a:t>
            </a:r>
            <a:r>
              <a:rPr dirty="0"/>
              <a:t>production-ready</a:t>
            </a:r>
            <a:r>
              <a:rPr lang="en-DE" dirty="0"/>
              <a:t> </a:t>
            </a:r>
            <a:r>
              <a:rPr dirty="0"/>
              <a:t>user-defined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that:</a:t>
            </a:r>
            <a:br>
              <a:rPr lang="en-US" dirty="0"/>
            </a:b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Extend</a:t>
            </a:r>
            <a:r>
              <a:rPr lang="en-DE" b="1" dirty="0"/>
              <a:t> </a:t>
            </a:r>
            <a:r>
              <a:rPr b="1" dirty="0"/>
              <a:t>Db2</a:t>
            </a:r>
            <a:r>
              <a:rPr lang="en-DE" dirty="0"/>
              <a:t> </a:t>
            </a:r>
            <a:r>
              <a:rPr dirty="0"/>
              <a:t>without</a:t>
            </a:r>
            <a:r>
              <a:rPr lang="en-DE" dirty="0"/>
              <a:t> </a:t>
            </a:r>
            <a:r>
              <a:rPr dirty="0"/>
              <a:t>modifying</a:t>
            </a:r>
            <a:r>
              <a:rPr lang="en-DE" dirty="0"/>
              <a:t> </a:t>
            </a: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subsystem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Integrate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services</a:t>
            </a:r>
            <a:r>
              <a:rPr lang="en-DE" dirty="0"/>
              <a:t> </a:t>
            </a:r>
            <a:r>
              <a:rPr dirty="0"/>
              <a:t>(JES,</a:t>
            </a:r>
            <a:r>
              <a:rPr lang="en-DE" dirty="0"/>
              <a:t> </a:t>
            </a:r>
            <a:r>
              <a:rPr dirty="0"/>
              <a:t>RACF,</a:t>
            </a:r>
            <a:r>
              <a:rPr lang="en-DE" dirty="0"/>
              <a:t> </a:t>
            </a:r>
            <a:r>
              <a:rPr dirty="0"/>
              <a:t>APF)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Support</a:t>
            </a:r>
            <a:r>
              <a:rPr lang="en-DE" dirty="0"/>
              <a:t> </a:t>
            </a:r>
            <a:r>
              <a:rPr dirty="0"/>
              <a:t>modern</a:t>
            </a:r>
            <a:r>
              <a:rPr lang="en-DE" dirty="0"/>
              <a:t> </a:t>
            </a:r>
            <a:r>
              <a:rPr dirty="0"/>
              <a:t>formats</a:t>
            </a:r>
            <a:r>
              <a:rPr lang="en-DE" dirty="0"/>
              <a:t> </a:t>
            </a:r>
            <a:r>
              <a:rPr dirty="0"/>
              <a:t>(JSON,</a:t>
            </a:r>
            <a:r>
              <a:rPr lang="en-DE" dirty="0"/>
              <a:t> </a:t>
            </a:r>
            <a:r>
              <a:rPr dirty="0"/>
              <a:t>CSV,</a:t>
            </a:r>
            <a:r>
              <a:rPr lang="en-DE" dirty="0"/>
              <a:t> </a:t>
            </a:r>
            <a:r>
              <a:rPr dirty="0"/>
              <a:t>Base64,</a:t>
            </a:r>
            <a:r>
              <a:rPr lang="en-DE" dirty="0"/>
              <a:t> </a:t>
            </a:r>
            <a:r>
              <a:rPr dirty="0"/>
              <a:t>regex)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Simplify</a:t>
            </a:r>
            <a:r>
              <a:rPr lang="en-DE" dirty="0"/>
              <a:t> </a:t>
            </a:r>
            <a:r>
              <a:rPr dirty="0"/>
              <a:t>complex</a:t>
            </a:r>
            <a:r>
              <a:rPr lang="en-DE" dirty="0"/>
              <a:t> </a:t>
            </a:r>
            <a:r>
              <a:rPr dirty="0"/>
              <a:t>operations</a:t>
            </a:r>
            <a:r>
              <a:rPr lang="en-DE" dirty="0"/>
              <a:t> </a:t>
            </a:r>
            <a:r>
              <a:rPr dirty="0"/>
              <a:t>into</a:t>
            </a:r>
            <a:r>
              <a:rPr lang="en-DE" dirty="0"/>
              <a:t> </a:t>
            </a:r>
            <a:r>
              <a:rPr dirty="0"/>
              <a:t>SQL</a:t>
            </a:r>
            <a:r>
              <a:rPr lang="en-DE" dirty="0"/>
              <a:t> </a:t>
            </a:r>
            <a:r>
              <a:rPr dirty="0"/>
              <a:t>calls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Enable</a:t>
            </a:r>
            <a:r>
              <a:rPr lang="en-US" dirty="0"/>
              <a:t> developers to perform basic administration tasks:</a:t>
            </a:r>
          </a:p>
          <a:p>
            <a:pPr marL="554038" lvl="1" indent="-285750">
              <a:buFont typeface="Wingdings" panose="05000000000000000000" pitchFamily="2" charset="2"/>
              <a:buChar char="§"/>
            </a:pPr>
            <a:r>
              <a:rPr lang="en-US" dirty="0"/>
              <a:t>Run RUNSTATS and other utilities</a:t>
            </a:r>
          </a:p>
          <a:p>
            <a:pPr marL="554038" lvl="1" indent="-285750">
              <a:buFont typeface="Wingdings" panose="05000000000000000000" pitchFamily="2" charset="2"/>
              <a:buChar char="§"/>
            </a:pPr>
            <a:r>
              <a:rPr lang="en-US" dirty="0"/>
              <a:t>Cross-copy table data between schemas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Value</a:t>
            </a:r>
            <a:r>
              <a:rPr lang="en-DE" dirty="0"/>
              <a:t> </a:t>
            </a:r>
            <a:r>
              <a:rPr dirty="0"/>
              <a:t>Proposition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18154524"/>
              </p:ext>
            </p:extLst>
          </p:nvPr>
        </p:nvGraphicFramePr>
        <p:xfrm>
          <a:off x="457200" y="1193800"/>
          <a:ext cx="8229600" cy="238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50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74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bg1"/>
                          </a:solidFill>
                          <a:latin typeface="IBM Plex Sans SemiBold" panose="020B0703050203000203" pitchFamily="34" charset="0"/>
                        </a:rPr>
                        <a:t>Before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bg1"/>
                          </a:solidFill>
                          <a:latin typeface="IBM Plex Sans SemiBold" panose="020B0703050203000203" pitchFamily="34" charset="0"/>
                        </a:rPr>
                        <a:t>After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Write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COBOL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program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to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read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flat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file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SELECT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*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FROM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TABLE(READ_GENERIC_FILE(…))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Submit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JCL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manually,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output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SELECT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*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FROM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TABLE(SUBMIT_T(…))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Complex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string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parsing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logic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…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WHERE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REGEX_MATCHES(column,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pattern)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=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Multiple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utility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jobs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CALL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RUNSTATS(’SCHEMA.%’,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’TABLE’)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C42AFF38-42C0-83AC-29E6-9BEDDD652296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016290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Architecture</a:t>
            </a:r>
            <a:r>
              <a:rPr lang="en-DE" dirty="0"/>
              <a:t> </a:t>
            </a:r>
            <a:r>
              <a:rPr dirty="0"/>
              <a:t>Overview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Four</a:t>
            </a:r>
            <a:r>
              <a:rPr lang="en-DE" dirty="0"/>
              <a:t> </a:t>
            </a:r>
            <a:r>
              <a:rPr dirty="0"/>
              <a:t>Implementation</a:t>
            </a:r>
            <a:r>
              <a:rPr lang="en-DE" dirty="0"/>
              <a:t> </a:t>
            </a:r>
            <a:r>
              <a:rPr dirty="0"/>
              <a:t>Types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1927802"/>
              </p:ext>
            </p:extLst>
          </p:nvPr>
        </p:nvGraphicFramePr>
        <p:xfrm>
          <a:off x="457200" y="1193800"/>
          <a:ext cx="82296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70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77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Examples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When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to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TRY_INTEGER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SPLIT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REGEX_MATCH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Simple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logic,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set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operations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BASE64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REGEX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_MATCH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SPRINTF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Complex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logic,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existing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libraries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Unix-style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system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calls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COBOL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APFLIST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RACFPROFILE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Mainframe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integration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MVS-style system calls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Execution</a:t>
            </a:r>
            <a:r>
              <a:rPr lang="en-DE" dirty="0"/>
              <a:t> </a:t>
            </a:r>
            <a:r>
              <a:rPr dirty="0"/>
              <a:t>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dirty="0">
                <a:latin typeface="IBM Plex Mono Light" panose="020B0409050203000203" pitchFamily="49" charset="0"/>
              </a:rPr>
              <a:t>SQL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Query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Db2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Engine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WLM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Environment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Function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Code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Result</a:t>
            </a:r>
          </a:p>
          <a:p>
            <a:br>
              <a:rPr lang="en-US" dirty="0"/>
            </a:br>
            <a:r>
              <a:rPr lang="en-US" dirty="0" err="1"/>
              <a:t>Inlined</a:t>
            </a:r>
            <a:r>
              <a:rPr lang="en-US" dirty="0"/>
              <a:t> SQL functions execute in Db2 engine (fastest)</a:t>
            </a:r>
          </a:p>
          <a:p>
            <a:pPr lvl="0"/>
            <a:r>
              <a:rPr lang="en-US" dirty="0"/>
              <a:t>Compiled SQL functions also execute in Db2 engine (fastest)</a:t>
            </a:r>
          </a:p>
          <a:p>
            <a:pPr lvl="0"/>
            <a:r>
              <a:rPr lang="en-US" dirty="0"/>
              <a:t>External functions run in WLM-managed address spaces</a:t>
            </a:r>
          </a:p>
          <a:p>
            <a:pPr lvl="0"/>
            <a:r>
              <a:rPr dirty="0"/>
              <a:t>Java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require</a:t>
            </a:r>
            <a:r>
              <a:rPr lang="en-DE" dirty="0"/>
              <a:t> </a:t>
            </a:r>
            <a:r>
              <a:rPr dirty="0"/>
              <a:t>JVM</a:t>
            </a:r>
            <a:r>
              <a:rPr lang="en-DE" dirty="0"/>
              <a:t> </a:t>
            </a:r>
            <a:r>
              <a:rPr dirty="0"/>
              <a:t>startup</a:t>
            </a:r>
            <a:r>
              <a:rPr lang="en-DE" dirty="0"/>
              <a:t> </a:t>
            </a:r>
            <a:r>
              <a:rPr dirty="0"/>
              <a:t>(one-time</a:t>
            </a:r>
            <a:r>
              <a:rPr lang="en-DE" dirty="0"/>
              <a:t> </a:t>
            </a:r>
            <a:r>
              <a:rPr dirty="0"/>
              <a:t>cost)</a:t>
            </a:r>
          </a:p>
          <a:p>
            <a:pPr lvl="0"/>
            <a:r>
              <a:rPr dirty="0"/>
              <a:t>C</a:t>
            </a:r>
            <a:r>
              <a:rPr lang="en-US" dirty="0"/>
              <a:t> or </a:t>
            </a:r>
            <a:r>
              <a:rPr dirty="0"/>
              <a:t>COBOL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have</a:t>
            </a:r>
            <a:r>
              <a:rPr lang="en-DE" dirty="0"/>
              <a:t> </a:t>
            </a:r>
            <a:r>
              <a:rPr dirty="0"/>
              <a:t>minimal</a:t>
            </a:r>
            <a:r>
              <a:rPr lang="en-DE" dirty="0"/>
              <a:t> </a:t>
            </a:r>
            <a:r>
              <a:rPr dirty="0"/>
              <a:t>overhead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1D4537F2-4D46-EB86-D1E9-6FDAA7A3AB61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7" y="214310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Installation</a:t>
            </a:r>
            <a:br>
              <a:rPr lang="en-US" dirty="0"/>
            </a:br>
            <a:r>
              <a:rPr dirty="0"/>
              <a:t>(3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12</a:t>
            </a:r>
            <a:r>
              <a:rPr lang="en-DE" dirty="0"/>
              <a:t> </a:t>
            </a:r>
            <a:r>
              <a:rPr dirty="0"/>
              <a:t>or</a:t>
            </a:r>
            <a:r>
              <a:rPr lang="en-DE" dirty="0"/>
              <a:t> </a:t>
            </a:r>
            <a:r>
              <a:rPr dirty="0"/>
              <a:t>13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WLM</a:t>
            </a:r>
            <a:r>
              <a:rPr lang="en-DE" dirty="0"/>
              <a:t> </a:t>
            </a:r>
            <a:r>
              <a:rPr dirty="0"/>
              <a:t>environments</a:t>
            </a:r>
            <a:r>
              <a:rPr lang="en-DE" dirty="0"/>
              <a:t> </a:t>
            </a:r>
            <a:r>
              <a:rPr dirty="0"/>
              <a:t>configured</a:t>
            </a:r>
            <a:r>
              <a:rPr lang="en-DE" dirty="0"/>
              <a:t> </a:t>
            </a:r>
            <a:r>
              <a:rPr dirty="0"/>
              <a:t>(Java,</a:t>
            </a:r>
            <a:r>
              <a:rPr lang="en-DE" dirty="0"/>
              <a:t> </a:t>
            </a:r>
            <a:r>
              <a:rPr dirty="0"/>
              <a:t>C,</a:t>
            </a:r>
            <a:r>
              <a:rPr lang="en-DE" dirty="0"/>
              <a:t> </a:t>
            </a:r>
            <a:r>
              <a:rPr dirty="0"/>
              <a:t>COBOL)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Appropriate</a:t>
            </a:r>
            <a:r>
              <a:rPr lang="en-DE" dirty="0"/>
              <a:t> </a:t>
            </a:r>
            <a:r>
              <a:rPr dirty="0"/>
              <a:t>authorities</a:t>
            </a:r>
            <a:r>
              <a:rPr lang="en-DE" dirty="0"/>
              <a:t> </a:t>
            </a:r>
            <a:r>
              <a:rPr dirty="0"/>
              <a:t>(SYSADM</a:t>
            </a:r>
            <a:r>
              <a:rPr lang="en-DE" dirty="0"/>
              <a:t> </a:t>
            </a:r>
            <a:r>
              <a:rPr dirty="0"/>
              <a:t>or</a:t>
            </a:r>
            <a:r>
              <a:rPr lang="en-DE" dirty="0"/>
              <a:t> </a:t>
            </a:r>
            <a:r>
              <a:rPr dirty="0"/>
              <a:t>schema</a:t>
            </a:r>
            <a:r>
              <a:rPr lang="en-DE" dirty="0"/>
              <a:t> </a:t>
            </a:r>
            <a:r>
              <a:rPr dirty="0"/>
              <a:t>owner)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Installation</a:t>
            </a:r>
            <a:r>
              <a:rPr lang="en-DE" dirty="0"/>
              <a:t> </a:t>
            </a:r>
            <a:r>
              <a:rPr dirty="0"/>
              <a:t>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1.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schema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SCHEMA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PROD_ROUTINES;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2.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Install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SQL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functions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(run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DDL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scripts)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@install/sql/easter.sql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@install/sql/split.sql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@install/sql/runstats.sql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3.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Install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JAR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SQLJ.DB2_INSTALL_JAR(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'file:///u/db2prod/lib/routines.jar'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'PROD_ROUTINES.ROUTINES'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A070"/>
                </a:solidFill>
                <a:latin typeface="IBM Plex Mono Light" panose="020B0409050203000203" pitchFamily="49" charset="0"/>
              </a:rPr>
              <a:t>0</a:t>
            </a:r>
            <a:br>
              <a:rPr sz="700" dirty="0"/>
            </a:br>
            <a:r>
              <a:rPr sz="700" dirty="0">
                <a:latin typeface="IBM Plex Mono Light" panose="020B0409050203000203" pitchFamily="49" charset="0"/>
              </a:rPr>
              <a:t>);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4.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definitions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@install/java/base64.sql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@install/java/regex.sql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5.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C/COBOL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definitions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@install/c/read_generic_file.sql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@install/cobol/apflist.sql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6.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Grant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privileges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GRANT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EXECUTE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ON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PROD_ROUTINES.</a:t>
            </a:r>
            <a:r>
              <a:rPr sz="700"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TO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APP_ROLE;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7.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Refresh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WLM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SYSPROC.WLM_REFRESH(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'WLMJAVA'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NULL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?,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?);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Test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each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category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EASTER(</a:t>
            </a:r>
            <a:r>
              <a:rPr dirty="0">
                <a:solidFill>
                  <a:srgbClr val="40A070"/>
                </a:solidFill>
                <a:latin typeface="IBM Plex Mono Light" panose="020B0409050203000203" pitchFamily="49" charset="0"/>
              </a:rPr>
              <a:t>2026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           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SQL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dirty="0">
                <a:latin typeface="IBM Plex Mono Light" panose="020B0409050203000203" pitchFamily="49" charset="0"/>
              </a:rPr>
              <a:t>(APFLIST())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T</a:t>
            </a:r>
            <a:r>
              <a:rPr lang="en-US"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 </a:t>
            </a:r>
            <a:r>
              <a:rPr lang="en-US" dirty="0">
                <a:latin typeface="IBM Plex Mono Light" panose="020B0409050203000203" pitchFamily="49" charset="0"/>
              </a:rPr>
              <a:t>		</a:t>
            </a: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lang="en-US" dirty="0">
                <a:latin typeface="IBM Plex Mono Light" panose="020B0409050203000203" pitchFamily="49" charset="0"/>
              </a:rPr>
              <a:t>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COBOL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endParaRPr dirty="0">
              <a:latin typeface="IBM Plex Mono Light" panose="020B0409050203000203" pitchFamily="49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3EA74670-236F-C39A-AA3F-D503E39E287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Critical</a:t>
            </a:r>
            <a:r>
              <a:rPr lang="en-DE" dirty="0"/>
              <a:t> </a:t>
            </a: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Points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Models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2114134"/>
              </p:ext>
            </p:extLst>
          </p:nvPr>
        </p:nvGraphicFramePr>
        <p:xfrm>
          <a:off x="457200" y="1193800"/>
          <a:ext cx="82296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Recommendation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SECURITY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Invoker’s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Use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for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most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functions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SECURITY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DEFINER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Owner’s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Only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when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necessary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Key</a:t>
            </a:r>
            <a:r>
              <a:rPr lang="en-DE" dirty="0"/>
              <a:t> </a:t>
            </a: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/>
              <a:t>Input</a:t>
            </a:r>
            <a:r>
              <a:rPr lang="en-DE" b="1" dirty="0"/>
              <a:t> </a:t>
            </a:r>
            <a:r>
              <a:rPr b="1" dirty="0"/>
              <a:t>Validation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Always</a:t>
            </a:r>
            <a:r>
              <a:rPr lang="en-DE" dirty="0"/>
              <a:t> </a:t>
            </a:r>
            <a:r>
              <a:rPr dirty="0"/>
              <a:t>validate</a:t>
            </a:r>
            <a:r>
              <a:rPr lang="en-DE" dirty="0"/>
              <a:t> </a:t>
            </a:r>
            <a:r>
              <a:rPr dirty="0"/>
              <a:t>NULL,</a:t>
            </a:r>
            <a:r>
              <a:rPr lang="en-DE" dirty="0"/>
              <a:t> </a:t>
            </a:r>
            <a:r>
              <a:rPr dirty="0"/>
              <a:t>length,</a:t>
            </a:r>
            <a:r>
              <a:rPr lang="en-DE" dirty="0"/>
              <a:t> </a:t>
            </a:r>
            <a:r>
              <a:rPr dirty="0"/>
              <a:t>format</a:t>
            </a:r>
          </a:p>
          <a:p>
            <a:pPr marL="342900" lvl="0" indent="-342900">
              <a:buAutoNum type="arabicPeriod"/>
            </a:pPr>
            <a:r>
              <a:rPr b="1" dirty="0"/>
              <a:t>Least</a:t>
            </a:r>
            <a:r>
              <a:rPr lang="en-DE" b="1" dirty="0"/>
              <a:t> </a:t>
            </a:r>
            <a:r>
              <a:rPr b="1" dirty="0"/>
              <a:t>Privilege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Grant</a:t>
            </a:r>
            <a:r>
              <a:rPr lang="en-DE" dirty="0"/>
              <a:t> </a:t>
            </a:r>
            <a:r>
              <a:rPr dirty="0"/>
              <a:t>EXECUTE</a:t>
            </a:r>
            <a:r>
              <a:rPr lang="en-DE" dirty="0"/>
              <a:t> </a:t>
            </a:r>
            <a:r>
              <a:rPr dirty="0"/>
              <a:t>only</a:t>
            </a:r>
            <a:r>
              <a:rPr lang="en-DE" dirty="0"/>
              <a:t> </a:t>
            </a:r>
            <a:r>
              <a:rPr dirty="0"/>
              <a:t>to</a:t>
            </a:r>
            <a:r>
              <a:rPr lang="en-DE" dirty="0"/>
              <a:t> </a:t>
            </a:r>
            <a:r>
              <a:rPr dirty="0"/>
              <a:t>authorized</a:t>
            </a:r>
            <a:r>
              <a:rPr lang="en-DE" dirty="0"/>
              <a:t> </a:t>
            </a:r>
            <a:r>
              <a:rPr dirty="0"/>
              <a:t>users</a:t>
            </a:r>
          </a:p>
          <a:p>
            <a:pPr marL="342900" lvl="0" indent="-342900">
              <a:buAutoNum type="arabicPeriod"/>
            </a:pPr>
            <a:r>
              <a:rPr b="1" dirty="0"/>
              <a:t>Audit</a:t>
            </a:r>
            <a:r>
              <a:rPr lang="en-DE" b="1" dirty="0"/>
              <a:t> </a:t>
            </a:r>
            <a:r>
              <a:rPr b="1" dirty="0"/>
              <a:t>Logging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Track</a:t>
            </a:r>
            <a:r>
              <a:rPr lang="en-DE" dirty="0"/>
              <a:t> </a:t>
            </a:r>
            <a:r>
              <a:rPr dirty="0"/>
              <a:t>function</a:t>
            </a:r>
            <a:r>
              <a:rPr lang="en-DE" dirty="0"/>
              <a:t> </a:t>
            </a:r>
            <a:r>
              <a:rPr dirty="0"/>
              <a:t>usage</a:t>
            </a:r>
          </a:p>
          <a:p>
            <a:pPr marL="342900" lvl="0" indent="-342900">
              <a:buAutoNum type="arabicPeriod"/>
            </a:pPr>
            <a:r>
              <a:rPr b="1" dirty="0"/>
              <a:t>RACF</a:t>
            </a:r>
            <a:r>
              <a:rPr lang="en-DE" b="1" dirty="0"/>
              <a:t> </a:t>
            </a:r>
            <a:r>
              <a:rPr b="1" dirty="0"/>
              <a:t>Integration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respect</a:t>
            </a:r>
            <a:r>
              <a:rPr lang="en-DE" dirty="0"/>
              <a:t> </a:t>
            </a:r>
            <a:r>
              <a:rPr dirty="0"/>
              <a:t>RACF</a:t>
            </a:r>
            <a:r>
              <a:rPr lang="en-DE" dirty="0"/>
              <a:t> </a:t>
            </a:r>
            <a:r>
              <a:rPr dirty="0"/>
              <a:t>controls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2273D517-9692-E874-133B-79BA470B5B6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Routine</a:t>
            </a:r>
            <a:r>
              <a:rPr lang="en-DE" dirty="0"/>
              <a:t> </a:t>
            </a:r>
            <a:r>
              <a:rPr dirty="0"/>
              <a:t>Categories</a:t>
            </a:r>
            <a:r>
              <a:rPr lang="en-DE" dirty="0"/>
              <a:t> </a:t>
            </a:r>
            <a:r>
              <a:rPr dirty="0"/>
              <a:t>(4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Type</a:t>
            </a:r>
            <a:r>
              <a:rPr lang="en-DE" dirty="0"/>
              <a:t> </a:t>
            </a:r>
            <a:r>
              <a:rPr dirty="0"/>
              <a:t>Conversion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Safe type conversion and encoding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Base64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encoding/decoding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</a:t>
            </a:r>
            <a:r>
              <a:rPr lang="en-DE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World'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SGVsbG8gV29ybGQ=</a:t>
            </a:r>
            <a:br>
              <a:rPr dirty="0"/>
            </a:b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BASE64DECODE(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'SGVsbG8gV29ybGQ='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BLOB('Hello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World')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Safe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integer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conversion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(returns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NULL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on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failure)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TRY_INTEGER(</a:t>
            </a:r>
            <a:r>
              <a:rPr dirty="0" err="1">
                <a:latin typeface="IBM Plex Mono Light" panose="020B0409050203000203" pitchFamily="49" charset="0"/>
              </a:rPr>
              <a:t>s</a:t>
            </a:r>
            <a:r>
              <a:rPr lang="en-US" dirty="0" err="1">
                <a:latin typeface="IBM Plex Mono Light" panose="020B0409050203000203" pitchFamily="49" charset="0"/>
              </a:rPr>
              <a:t>tatus</a:t>
            </a:r>
            <a:r>
              <a:rPr dirty="0" err="1">
                <a:latin typeface="IBM Plex Mono Light" panose="020B0409050203000203" pitchFamily="49" charset="0"/>
              </a:rPr>
              <a:t>_text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lang="en-US" dirty="0" err="1">
                <a:latin typeface="IBM Plex Mono Light" panose="020B0409050203000203" pitchFamily="49" charset="0"/>
              </a:rPr>
              <a:t>status_code</a:t>
            </a:r>
            <a:br>
              <a:rPr dirty="0"/>
            </a:b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 err="1">
                <a:latin typeface="IBM Plex Mono Light" panose="020B0409050203000203" pitchFamily="49" charset="0"/>
              </a:rPr>
              <a:t>staging_table</a:t>
            </a:r>
            <a:r>
              <a:rPr dirty="0">
                <a:latin typeface="IBM Plex Mono Light" panose="020B0409050203000203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String</a:t>
            </a:r>
            <a:r>
              <a:rPr lang="en-DE" dirty="0"/>
              <a:t> </a:t>
            </a:r>
            <a:r>
              <a:rPr dirty="0"/>
              <a:t>Processing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Pattern matching and manipulation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Regular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expression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matching</a:t>
            </a:r>
            <a:r>
              <a:rPr lang="en-US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: Find customers with invalid email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customer_id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email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customers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WHERE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REGEX_MATCHES(email,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'^[a-zA-Z0-9._%+-]+@[a-zA-Z0-9.-]+\.[a-</a:t>
            </a:r>
            <a:r>
              <a:rPr sz="1200" dirty="0" err="1">
                <a:solidFill>
                  <a:srgbClr val="4070A0"/>
                </a:solidFill>
                <a:latin typeface="IBM Plex Mono Light" panose="020B0409050203000203" pitchFamily="49" charset="0"/>
              </a:rPr>
              <a:t>zA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-Z]{2,}$'</a:t>
            </a:r>
            <a:r>
              <a:rPr sz="1200" dirty="0">
                <a:latin typeface="IBM Plex Mono Light" panose="020B0409050203000203" pitchFamily="49" charset="0"/>
              </a:rPr>
              <a:t>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666666"/>
                </a:solidFill>
                <a:latin typeface="IBM Plex Mono Light" panose="020B0409050203000203" pitchFamily="49" charset="0"/>
              </a:rPr>
              <a:t>=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lang="en-US"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0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String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splitting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(inverse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of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LISTAGG)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SPLIT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</a:t>
            </a:r>
            <a:r>
              <a:rPr sz="1200" dirty="0" err="1">
                <a:solidFill>
                  <a:srgbClr val="4070A0"/>
                </a:solidFill>
                <a:latin typeface="IBM Plex Mono Light" panose="020B0409050203000203" pitchFamily="49" charset="0"/>
              </a:rPr>
              <a:t>apple,banana,cherry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','</a:t>
            </a:r>
            <a:r>
              <a:rPr sz="1200" dirty="0">
                <a:latin typeface="IBM Plex Mono Light" panose="020B0409050203000203" pitchFamily="49" charset="0"/>
              </a:rPr>
              <a:t>))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T;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Returns: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apple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|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banana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|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cherry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 err="1">
                <a:solidFill>
                  <a:srgbClr val="60A0B0"/>
                </a:solidFill>
                <a:latin typeface="IBM Plex Mono Light" panose="020B0409050203000203" pitchFamily="49" charset="0"/>
              </a:rPr>
              <a:t>Printf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-style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formatting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SPRINTF(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'Customer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%s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has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balance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$%.2f'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name,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balance))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lang="en-US" sz="1200" dirty="0">
                <a:latin typeface="IBM Plex Mono Light" panose="020B0409050203000203" pitchFamily="49" charset="0"/>
              </a:rPr>
              <a:t>"Balance"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accounts;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System</a:t>
            </a:r>
            <a:r>
              <a:rPr lang="en-DE" dirty="0"/>
              <a:t> </a:t>
            </a:r>
            <a:r>
              <a:rPr dirty="0"/>
              <a:t>Integration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Access z/OS system information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List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APF-authorized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libraries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dsname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volser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sms_managed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(APFLIST())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ORDER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BY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dsname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Find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RACF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profile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for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dataset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VALUES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RACFPROFILE(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'PROD.PAYROLL.DATA'</a:t>
            </a: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PROD.PAYROLL.**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Read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flat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file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with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complex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structure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account_id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balance,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last_update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(READ_GENERIC_FILE(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'PROD.CUSTOMER.DATA'</a:t>
            </a:r>
            <a:r>
              <a:rPr sz="1200" dirty="0">
                <a:latin typeface="IBM Plex Mono Light" panose="020B0409050203000203" pitchFamily="49" charset="0"/>
              </a:rPr>
              <a:t>))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T(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  </a:t>
            </a:r>
            <a:r>
              <a:rPr sz="1200" dirty="0" err="1">
                <a:latin typeface="IBM Plex Mono Light" panose="020B0409050203000203" pitchFamily="49" charset="0"/>
              </a:rPr>
              <a:t>account_id</a:t>
            </a: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CHAR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10</a:t>
            </a:r>
            <a:r>
              <a:rPr sz="1200" dirty="0">
                <a:latin typeface="IBM Plex Mono Light" panose="020B0409050203000203" pitchFamily="49" charset="0"/>
              </a:rPr>
              <a:t>),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  </a:t>
            </a:r>
            <a:r>
              <a:rPr sz="1200" dirty="0">
                <a:latin typeface="IBM Plex Mono Light" panose="020B0409050203000203" pitchFamily="49" charset="0"/>
              </a:rPr>
              <a:t>balance</a:t>
            </a:r>
            <a:r>
              <a:rPr lang="en-DE" sz="1200" dirty="0">
                <a:latin typeface="IBM Plex Mono Light" panose="020B0409050203000203" pitchFamily="49" charset="0"/>
              </a:rPr>
              <a:t>    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DECIMAL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15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2</a:t>
            </a:r>
            <a:r>
              <a:rPr sz="1200" dirty="0">
                <a:latin typeface="IBM Plex Mono Light" panose="020B0409050203000203" pitchFamily="49" charset="0"/>
              </a:rPr>
              <a:t>),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  </a:t>
            </a:r>
            <a:r>
              <a:rPr sz="1200" dirty="0" err="1">
                <a:latin typeface="IBM Plex Mono Light" panose="020B0409050203000203" pitchFamily="49" charset="0"/>
              </a:rPr>
              <a:t>last_update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DATE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</a:t>
            </a:r>
            <a:r>
              <a:rPr sz="1200" dirty="0">
                <a:latin typeface="IBM Plex Mono Light" panose="020B0409050203000203" pitchFamily="49" charset="0"/>
              </a:rPr>
              <a:t>);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sz="1200" b="1" dirty="0">
                <a:latin typeface="IBM Plex Mono Light" panose="020B0409050203000203" pitchFamily="49" charset="0"/>
              </a:rPr>
              <a:t>Demo</a:t>
            </a:r>
            <a:r>
              <a:rPr lang="en-DE" sz="1200" b="1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latin typeface="IBM Plex Mono Light" panose="020B0409050203000203" pitchFamily="49" charset="0"/>
              </a:rPr>
              <a:t>Ready: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APF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list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query,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RACF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profile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lookup,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flat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file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reading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Database</a:t>
            </a:r>
            <a:r>
              <a:rPr lang="en-DE" dirty="0"/>
              <a:t> </a:t>
            </a:r>
            <a:r>
              <a:rPr dirty="0"/>
              <a:t>Utilities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Automate common DBA tasks and make them easier accessible for end users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Run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statistics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on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multiple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tables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RUNSTATS(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'PROD.%'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'TABLE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SHRLEVEL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CHANGE'</a:t>
            </a: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Copy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table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across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databases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CROSSLOAD(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'PROD.SCHEMA.CUSTOMER'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'TEST.SCHEMA.CUSTOMER'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'DALLASPD'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'DALLASTD'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Submit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JCL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and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capture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output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line_number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line_text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(SUBMIT_T(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'//BACKUP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JOB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...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//STEP1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EXEC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PGM=IEBGENER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//'</a:t>
            </a:r>
            <a:r>
              <a:rPr sz="1200" dirty="0">
                <a:latin typeface="IBM Plex Mono Light" panose="020B0409050203000203" pitchFamily="49" charset="0"/>
              </a:rPr>
              <a:t>))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WHERE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line_text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LIKE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'%ERROR%'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Unload: </a:t>
            </a:r>
            <a:r>
              <a:rPr dirty="0"/>
              <a:t>Purpose</a:t>
            </a:r>
            <a:r>
              <a:rPr lang="en-DE" dirty="0"/>
              <a:t> </a:t>
            </a:r>
            <a:r>
              <a:rPr dirty="0"/>
              <a:t>&amp;</a:t>
            </a:r>
            <a:r>
              <a:rPr lang="en-DE" dirty="0"/>
              <a:t> </a:t>
            </a:r>
            <a:r>
              <a:rPr dirty="0"/>
              <a:t>Technical</a:t>
            </a:r>
            <a:r>
              <a:rPr lang="en-DE" dirty="0"/>
              <a:t> </a:t>
            </a:r>
            <a:r>
              <a:rPr dirty="0"/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 indent="0">
              <a:buNone/>
            </a:pPr>
            <a:r>
              <a:rPr lang="en-US" dirty="0"/>
              <a:t>Native Db2 for z/OS UNLOAD utility can produce CSV, but without format flexibility</a:t>
            </a:r>
          </a:p>
          <a:p>
            <a:pPr lvl="1"/>
            <a:endParaRPr lang="en-US" dirty="0"/>
          </a:p>
          <a:p>
            <a:pPr marL="0" lvl="1" indent="0">
              <a:buNone/>
            </a:pPr>
            <a:r>
              <a:rPr lang="en-US" dirty="0"/>
              <a:t>This Java UDF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Extends</a:t>
            </a:r>
            <a:r>
              <a:rPr lang="en-DE" dirty="0"/>
              <a:t> </a:t>
            </a: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beyond</a:t>
            </a:r>
            <a:r>
              <a:rPr lang="en-DE" dirty="0"/>
              <a:t> </a:t>
            </a:r>
            <a:r>
              <a:rPr dirty="0"/>
              <a:t>native</a:t>
            </a:r>
            <a:r>
              <a:rPr lang="en-DE" dirty="0"/>
              <a:t> </a:t>
            </a:r>
            <a:r>
              <a:rPr dirty="0"/>
              <a:t>utility-style</a:t>
            </a:r>
            <a:r>
              <a:rPr lang="en-DE" dirty="0"/>
              <a:t> </a:t>
            </a:r>
            <a:r>
              <a:rPr dirty="0"/>
              <a:t>unload</a:t>
            </a:r>
            <a:r>
              <a:rPr lang="en-DE" dirty="0"/>
              <a:t> </a:t>
            </a:r>
            <a:r>
              <a:rPr dirty="0"/>
              <a:t>flows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immediate</a:t>
            </a:r>
            <a:r>
              <a:rPr lang="en-DE" dirty="0"/>
              <a:t> </a:t>
            </a:r>
            <a:r>
              <a:rPr dirty="0"/>
              <a:t>CSV</a:t>
            </a:r>
            <a:r>
              <a:rPr lang="en-DE" dirty="0"/>
              <a:t> </a:t>
            </a:r>
            <a:r>
              <a:rPr dirty="0"/>
              <a:t>output</a:t>
            </a:r>
            <a:r>
              <a:rPr lang="en-DE" dirty="0"/>
              <a:t> </a:t>
            </a:r>
            <a:r>
              <a:rPr dirty="0"/>
              <a:t>is</a:t>
            </a:r>
            <a:r>
              <a:rPr lang="en-DE" dirty="0"/>
              <a:t> </a:t>
            </a:r>
            <a:r>
              <a:rPr dirty="0"/>
              <a:t>required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Fits</a:t>
            </a:r>
            <a:r>
              <a:rPr lang="en-DE" dirty="0"/>
              <a:t> </a:t>
            </a:r>
            <a:r>
              <a:rPr dirty="0"/>
              <a:t>ad</a:t>
            </a:r>
            <a:r>
              <a:rPr lang="en-DE" dirty="0"/>
              <a:t> </a:t>
            </a:r>
            <a:r>
              <a:rPr dirty="0"/>
              <a:t>hoc</a:t>
            </a:r>
            <a:r>
              <a:rPr lang="en-DE" dirty="0"/>
              <a:t> </a:t>
            </a:r>
            <a:r>
              <a:rPr dirty="0"/>
              <a:t>extract,</a:t>
            </a:r>
            <a:r>
              <a:rPr lang="en-DE" dirty="0"/>
              <a:t> </a:t>
            </a:r>
            <a:r>
              <a:rPr dirty="0"/>
              <a:t>operational</a:t>
            </a:r>
            <a:r>
              <a:rPr lang="en-DE" dirty="0"/>
              <a:t> </a:t>
            </a:r>
            <a:r>
              <a:rPr dirty="0"/>
              <a:t>reporting,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downstream</a:t>
            </a:r>
            <a:r>
              <a:rPr lang="en-DE" dirty="0"/>
              <a:t> </a:t>
            </a:r>
            <a:r>
              <a:rPr dirty="0"/>
              <a:t>file</a:t>
            </a:r>
            <a:r>
              <a:rPr lang="en-DE" dirty="0"/>
              <a:t> </a:t>
            </a:r>
            <a:r>
              <a:rPr dirty="0"/>
              <a:t>handoff</a:t>
            </a:r>
            <a:r>
              <a:rPr lang="en-DE" dirty="0"/>
              <a:t> </a:t>
            </a:r>
            <a:r>
              <a:rPr dirty="0"/>
              <a:t>scenarios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dirty="0"/>
          </a:p>
          <a:p>
            <a:pPr lvl="0"/>
            <a:r>
              <a:rPr dirty="0"/>
              <a:t>Key</a:t>
            </a:r>
            <a:r>
              <a:rPr lang="en-DE" dirty="0"/>
              <a:t> </a:t>
            </a:r>
            <a:r>
              <a:rPr dirty="0"/>
              <a:t>capabilities</a:t>
            </a:r>
            <a:r>
              <a:rPr lang="en-US" dirty="0"/>
              <a:t>: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Executes</a:t>
            </a:r>
            <a:r>
              <a:rPr lang="en-DE" dirty="0"/>
              <a:t> </a:t>
            </a:r>
            <a:r>
              <a:rPr dirty="0"/>
              <a:t>caller-supplied</a:t>
            </a:r>
            <a:r>
              <a:rPr lang="en-DE" dirty="0"/>
              <a:t> </a:t>
            </a:r>
            <a:r>
              <a:rPr dirty="0"/>
              <a:t>dynamic</a:t>
            </a:r>
            <a:r>
              <a:rPr lang="en-DE" dirty="0"/>
              <a:t> </a:t>
            </a:r>
            <a:r>
              <a:rPr dirty="0">
                <a:latin typeface="Courier"/>
              </a:rPr>
              <a:t>SELECT</a:t>
            </a:r>
            <a:r>
              <a:rPr lang="en-DE" dirty="0"/>
              <a:t> 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</a:t>
            </a:r>
            <a:r>
              <a:rPr lang="en-DE" dirty="0"/>
              <a:t> </a:t>
            </a:r>
            <a:r>
              <a:rPr dirty="0"/>
              <a:t>USS</a:t>
            </a:r>
            <a:r>
              <a:rPr lang="en-DE" dirty="0"/>
              <a:t> </a:t>
            </a:r>
            <a:r>
              <a:rPr dirty="0"/>
              <a:t>paths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MVS</a:t>
            </a:r>
            <a:r>
              <a:rPr lang="en-DE" dirty="0"/>
              <a:t> </a:t>
            </a: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set</a:t>
            </a:r>
            <a:r>
              <a:rPr lang="en-DE" dirty="0"/>
              <a:t> </a:t>
            </a:r>
            <a:r>
              <a:rPr dirty="0"/>
              <a:t>targets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</a:t>
            </a:r>
            <a:r>
              <a:rPr lang="en-DE" dirty="0"/>
              <a:t> </a:t>
            </a:r>
            <a:r>
              <a:rPr dirty="0"/>
              <a:t>predefined</a:t>
            </a:r>
            <a:r>
              <a:rPr lang="en-DE" dirty="0"/>
              <a:t> </a:t>
            </a:r>
            <a:r>
              <a:rPr dirty="0"/>
              <a:t>Apache</a:t>
            </a:r>
            <a:r>
              <a:rPr lang="en-DE" dirty="0"/>
              <a:t> </a:t>
            </a:r>
            <a:r>
              <a:rPr dirty="0"/>
              <a:t>Commons</a:t>
            </a:r>
            <a:r>
              <a:rPr lang="en-DE" dirty="0"/>
              <a:t> </a:t>
            </a:r>
            <a:r>
              <a:rPr dirty="0"/>
              <a:t>CSV</a:t>
            </a:r>
            <a:r>
              <a:rPr lang="en-DE" dirty="0"/>
              <a:t> </a:t>
            </a:r>
            <a:r>
              <a:rPr dirty="0"/>
              <a:t>formats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custom</a:t>
            </a:r>
            <a:r>
              <a:rPr lang="en-DE" dirty="0"/>
              <a:t> </a:t>
            </a:r>
            <a:r>
              <a:rPr dirty="0">
                <a:latin typeface="Courier"/>
              </a:rPr>
              <a:t>key=value</a:t>
            </a:r>
            <a:r>
              <a:rPr lang="en-DE" dirty="0"/>
              <a:t> </a:t>
            </a:r>
            <a:r>
              <a:rPr dirty="0"/>
              <a:t>format</a:t>
            </a:r>
            <a:r>
              <a:rPr lang="en-DE" dirty="0"/>
              <a:t> </a:t>
            </a:r>
            <a:r>
              <a:rPr lang="en-US" dirty="0"/>
              <a:t>specs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Applies</a:t>
            </a:r>
            <a:r>
              <a:rPr lang="en-DE" dirty="0"/>
              <a:t> </a:t>
            </a:r>
            <a:r>
              <a:rPr dirty="0"/>
              <a:t>CCSID-aware</a:t>
            </a:r>
            <a:r>
              <a:rPr lang="en-DE" dirty="0"/>
              <a:t> </a:t>
            </a:r>
            <a:r>
              <a:rPr dirty="0"/>
              <a:t>output</a:t>
            </a:r>
            <a:r>
              <a:rPr lang="en-DE" dirty="0"/>
              <a:t> </a:t>
            </a:r>
            <a:r>
              <a:rPr dirty="0"/>
              <a:t>encoding</a:t>
            </a:r>
            <a:r>
              <a:rPr lang="en-US" dirty="0"/>
              <a:t> and t</a:t>
            </a:r>
            <a:r>
              <a:rPr dirty="0"/>
              <a:t>ags</a:t>
            </a:r>
            <a:r>
              <a:rPr lang="en-DE" dirty="0"/>
              <a:t> </a:t>
            </a:r>
            <a:r>
              <a:rPr dirty="0"/>
              <a:t>USS</a:t>
            </a:r>
            <a:r>
              <a:rPr lang="en-DE" dirty="0"/>
              <a:t> </a:t>
            </a:r>
            <a:r>
              <a:rPr dirty="0"/>
              <a:t>files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requested</a:t>
            </a:r>
            <a:r>
              <a:rPr lang="en-DE" dirty="0"/>
              <a:t> </a:t>
            </a:r>
            <a:r>
              <a:rPr dirty="0"/>
              <a:t>CCSID</a:t>
            </a:r>
            <a:r>
              <a:rPr lang="en-DE" dirty="0"/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</a:t>
            </a:r>
            <a:r>
              <a:rPr dirty="0"/>
              <a:t>:</a:t>
            </a:r>
            <a:r>
              <a:rPr lang="en-DE" dirty="0"/>
              <a:t> </a:t>
            </a:r>
            <a:r>
              <a:rPr dirty="0"/>
              <a:t>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/>
          <a:lstStyle/>
          <a:p>
            <a:pPr marL="0" lvl="1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0B0F0"/>
                </a:solidFill>
                <a:latin typeface="Courier"/>
              </a:rPr>
              <a:t>--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Default</a:t>
            </a:r>
            <a:r>
              <a:rPr lang="en-DE" sz="1100" i="1" dirty="0">
                <a:solidFill>
                  <a:srgbClr val="00B0F0"/>
                </a:solidFill>
                <a:latin typeface="Courier"/>
              </a:rPr>
              <a:t>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invocation</a:t>
            </a:r>
            <a:endParaRPr lang="en-US" sz="1100" i="1" dirty="0">
              <a:solidFill>
                <a:srgbClr val="00B0F0"/>
              </a:solidFill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UNLOADCSV(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EMPNO,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LASTNAME,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WORKDEPT</a:t>
            </a:r>
            <a:br>
              <a:rPr lang="en-US" sz="1100" dirty="0">
                <a:solidFill>
                  <a:srgbClr val="4070A0"/>
                </a:solidFill>
                <a:latin typeface="Courier"/>
              </a:rPr>
            </a:br>
            <a:r>
              <a:rPr lang="en-US" sz="1100" dirty="0">
                <a:solidFill>
                  <a:srgbClr val="4070A0"/>
                </a:solidFill>
                <a:latin typeface="Courier"/>
              </a:rPr>
              <a:t>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DSN81310.EMP'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'/u/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adcdmst</a:t>
            </a:r>
            <a:r>
              <a:rPr sz="1100" dirty="0">
                <a:solidFill>
                  <a:srgbClr val="4070A0"/>
                </a:solidFill>
                <a:latin typeface="Courier"/>
              </a:rPr>
              <a:t>/emp.csv'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SYSIBM.SYSDUMMYU;</a:t>
            </a:r>
            <a:endParaRPr lang="en-US" sz="1100" dirty="0"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br>
              <a:rPr lang="en-US" sz="1100" b="1" dirty="0">
                <a:solidFill>
                  <a:srgbClr val="007020"/>
                </a:solidFill>
                <a:latin typeface="Courier"/>
              </a:rPr>
            </a:br>
            <a:br>
              <a:rPr lang="en-US" sz="1100" b="1" dirty="0">
                <a:solidFill>
                  <a:srgbClr val="007020"/>
                </a:solidFill>
                <a:latin typeface="Courier"/>
              </a:rPr>
            </a:br>
            <a:br>
              <a:rPr lang="en-US" sz="1100" b="1" dirty="0">
                <a:solidFill>
                  <a:srgbClr val="007020"/>
                </a:solidFill>
                <a:latin typeface="Courier"/>
              </a:rPr>
            </a:br>
            <a:endParaRPr lang="en-US" sz="1100" b="1" dirty="0">
              <a:solidFill>
                <a:srgbClr val="007020"/>
              </a:solidFill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0B0F0"/>
                </a:solidFill>
                <a:latin typeface="Courier"/>
              </a:rPr>
              <a:t>-- Extended invocation: format and CCSID specs</a:t>
            </a: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UNLOADCSV(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*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SYSIBM.SYSTABLES'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'/u/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adcdmst</a:t>
            </a:r>
            <a:r>
              <a:rPr sz="1100" dirty="0">
                <a:solidFill>
                  <a:srgbClr val="4070A0"/>
                </a:solidFill>
                <a:latin typeface="Courier"/>
              </a:rPr>
              <a:t>/systables.csv'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'RFC4180'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A070"/>
                </a:solidFill>
                <a:latin typeface="Courier"/>
              </a:rPr>
              <a:t>1208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'N'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SYSIBM.SYSDUMMYU;</a:t>
            </a:r>
            <a:br>
              <a:rPr lang="en-US" sz="1100" dirty="0">
                <a:latin typeface="Courier"/>
              </a:rPr>
            </a:br>
            <a:br>
              <a:rPr lang="en-US" sz="1100" dirty="0">
                <a:latin typeface="Courier"/>
              </a:rPr>
            </a:br>
            <a:r>
              <a:rPr lang="en-US" sz="1100" i="1" dirty="0">
                <a:solidFill>
                  <a:srgbClr val="00B0F0"/>
                </a:solidFill>
                <a:latin typeface="Courier"/>
              </a:rPr>
              <a:t>-- Custom format invocation</a:t>
            </a: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UNLOADCSV(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C1,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C2,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C3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APP.T1'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'/u/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adcdmst</a:t>
            </a:r>
            <a:r>
              <a:rPr sz="1100" dirty="0">
                <a:solidFill>
                  <a:srgbClr val="4070A0"/>
                </a:solidFill>
                <a:latin typeface="Courier"/>
              </a:rPr>
              <a:t>/t1_pipe.txt’</a:t>
            </a:r>
            <a:r>
              <a:rPr sz="1100" dirty="0">
                <a:latin typeface="Courier"/>
              </a:rPr>
              <a:t>,</a:t>
            </a:r>
            <a:br>
              <a:rPr lang="en-US" sz="1100" dirty="0">
                <a:latin typeface="Courier"/>
              </a:rPr>
            </a:br>
            <a:r>
              <a:rPr lang="en-US" sz="1100" dirty="0">
                <a:latin typeface="Courier"/>
              </a:rPr>
              <a:t>        </a:t>
            </a:r>
            <a:r>
              <a:rPr lang="en-DE" sz="1100" dirty="0">
                <a:latin typeface="Courier"/>
              </a:rPr>
              <a:t> 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'</a:t>
            </a:r>
            <a:r>
              <a:rPr sz="1100" dirty="0">
                <a:solidFill>
                  <a:srgbClr val="4070A0"/>
                </a:solidFill>
                <a:latin typeface="Courier"/>
              </a:rPr>
              <a:t>delimiter=\|;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quoteMode</a:t>
            </a:r>
            <a:r>
              <a:rPr sz="1100" dirty="0">
                <a:solidFill>
                  <a:srgbClr val="4070A0"/>
                </a:solidFill>
                <a:latin typeface="Courier"/>
              </a:rPr>
              <a:t>=MINIMAL;</a:t>
            </a:r>
            <a:r>
              <a:rPr lang="en-US" sz="1100" dirty="0">
                <a:solidFill>
                  <a:srgbClr val="4070A0"/>
                </a:solidFill>
                <a:latin typeface="Courier"/>
              </a:rPr>
              <a:t>’ ||</a:t>
            </a:r>
            <a:br>
              <a:rPr lang="en-US" sz="1100" dirty="0">
                <a:solidFill>
                  <a:srgbClr val="4070A0"/>
                </a:solidFill>
                <a:latin typeface="Courier"/>
              </a:rPr>
            </a:br>
            <a:r>
              <a:rPr lang="en-US" sz="1100" dirty="0">
                <a:solidFill>
                  <a:srgbClr val="4070A0"/>
                </a:solidFill>
                <a:latin typeface="Courier"/>
              </a:rPr>
              <a:t>         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'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nullString</a:t>
            </a:r>
            <a:r>
              <a:rPr sz="1100" dirty="0">
                <a:solidFill>
                  <a:srgbClr val="4070A0"/>
                </a:solidFill>
                <a:latin typeface="Courier"/>
              </a:rPr>
              <a:t>=\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N;trim</a:t>
            </a:r>
            <a:r>
              <a:rPr sz="1100" dirty="0">
                <a:solidFill>
                  <a:srgbClr val="4070A0"/>
                </a:solidFill>
                <a:latin typeface="Courier"/>
              </a:rPr>
              <a:t>=true'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A070"/>
                </a:solidFill>
                <a:latin typeface="Courier"/>
              </a:rPr>
              <a:t>1208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'Y'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SYSIBM.SYSDUMMYU;</a:t>
            </a:r>
            <a:br>
              <a:rPr lang="en-US" sz="1100" dirty="0">
                <a:latin typeface="Courier"/>
              </a:rPr>
            </a:br>
            <a:endParaRPr sz="1100" dirty="0"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0B0F0"/>
                </a:solidFill>
                <a:latin typeface="Courier"/>
              </a:rPr>
              <a:t>--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MVS</a:t>
            </a:r>
            <a:r>
              <a:rPr lang="en-DE" sz="1100" i="1" dirty="0">
                <a:solidFill>
                  <a:srgbClr val="00B0F0"/>
                </a:solidFill>
                <a:latin typeface="Courier"/>
              </a:rPr>
              <a:t>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target</a:t>
            </a:r>
            <a:r>
              <a:rPr lang="en-DE" sz="1100" i="1" dirty="0">
                <a:solidFill>
                  <a:srgbClr val="00B0F0"/>
                </a:solidFill>
                <a:latin typeface="Courier"/>
              </a:rPr>
              <a:t>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invocation</a:t>
            </a:r>
            <a:endParaRPr lang="en-US" sz="1100" i="1" dirty="0">
              <a:solidFill>
                <a:srgbClr val="00B0F0"/>
              </a:solidFill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UNLOADCSV(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*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DSN81310.EMP'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'//HLQ.EXPORT.EMP'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'Excel'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A070"/>
                </a:solidFill>
                <a:latin typeface="Courier"/>
              </a:rPr>
              <a:t>1047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'Y'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SYSIBM.SYSDUMMYU;</a:t>
            </a:r>
            <a:endParaRPr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CEC730-8047-9964-3C8D-2E394A07D2C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Performance</a:t>
            </a:r>
            <a:r>
              <a:rPr lang="en-DE" dirty="0"/>
              <a:t> </a:t>
            </a:r>
            <a:r>
              <a:rPr lang="en-US" dirty="0"/>
              <a:t>and </a:t>
            </a:r>
            <a:r>
              <a:rPr dirty="0"/>
              <a:t>Monitoring</a:t>
            </a:r>
            <a:br>
              <a:rPr lang="en-US" dirty="0"/>
            </a:br>
            <a:r>
              <a:rPr dirty="0"/>
              <a:t>(1</a:t>
            </a:r>
            <a:r>
              <a:rPr lang="en-DE" dirty="0"/>
              <a:t> </a:t>
            </a:r>
            <a:r>
              <a:rPr dirty="0"/>
              <a:t>minute)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Performance</a:t>
            </a:r>
            <a:r>
              <a:rPr lang="en-DE" dirty="0"/>
              <a:t> </a:t>
            </a:r>
            <a:r>
              <a:rPr dirty="0"/>
              <a:t>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/>
              <a:t>Use</a:t>
            </a:r>
            <a:r>
              <a:rPr lang="en-DE" b="1" dirty="0"/>
              <a:t> </a:t>
            </a:r>
            <a:r>
              <a:rPr b="1" dirty="0"/>
              <a:t>SQL</a:t>
            </a:r>
            <a:r>
              <a:rPr lang="en-DE" b="1" dirty="0"/>
              <a:t> </a:t>
            </a:r>
            <a:r>
              <a:rPr b="1" dirty="0"/>
              <a:t>functions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possible</a:t>
            </a:r>
            <a:r>
              <a:rPr lang="en-DE" dirty="0"/>
              <a:t> </a:t>
            </a:r>
            <a:r>
              <a:rPr dirty="0"/>
              <a:t>(lowest</a:t>
            </a:r>
            <a:r>
              <a:rPr lang="en-DE" dirty="0"/>
              <a:t> </a:t>
            </a:r>
            <a:r>
              <a:rPr dirty="0"/>
              <a:t>overhead)</a:t>
            </a:r>
          </a:p>
          <a:p>
            <a:pPr marL="342900" lvl="0" indent="-342900">
              <a:buAutoNum type="arabicPeriod"/>
            </a:pPr>
            <a:r>
              <a:rPr b="1" dirty="0"/>
              <a:t>Set</a:t>
            </a:r>
            <a:r>
              <a:rPr lang="en-DE" b="1" dirty="0"/>
              <a:t> </a:t>
            </a:r>
            <a:r>
              <a:rPr b="1" dirty="0"/>
              <a:t>ASUTIME</a:t>
            </a:r>
            <a:r>
              <a:rPr lang="en-DE" b="1" dirty="0"/>
              <a:t> </a:t>
            </a:r>
            <a:r>
              <a:rPr b="1" dirty="0"/>
              <a:t>limits</a:t>
            </a:r>
            <a:r>
              <a:rPr lang="en-DE" dirty="0"/>
              <a:t> </a:t>
            </a:r>
            <a:r>
              <a:rPr dirty="0"/>
              <a:t>to</a:t>
            </a:r>
            <a:r>
              <a:rPr lang="en-DE" dirty="0"/>
              <a:t> </a:t>
            </a:r>
            <a:r>
              <a:rPr dirty="0"/>
              <a:t>prevent</a:t>
            </a:r>
            <a:r>
              <a:rPr lang="en-DE" dirty="0"/>
              <a:t> </a:t>
            </a:r>
            <a:r>
              <a:rPr dirty="0"/>
              <a:t>runaway</a:t>
            </a:r>
            <a:r>
              <a:rPr lang="en-DE" dirty="0"/>
              <a:t> </a:t>
            </a:r>
            <a:r>
              <a:rPr dirty="0"/>
              <a:t>execution</a:t>
            </a:r>
          </a:p>
          <a:p>
            <a:pPr marL="342900" lvl="0" indent="-342900">
              <a:buAutoNum type="arabicPeriod"/>
            </a:pPr>
            <a:r>
              <a:rPr b="1" dirty="0"/>
              <a:t>Filter</a:t>
            </a:r>
            <a:r>
              <a:rPr lang="en-DE" b="1" dirty="0"/>
              <a:t> </a:t>
            </a:r>
            <a:r>
              <a:rPr b="1" dirty="0"/>
              <a:t>early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WHERE</a:t>
            </a:r>
            <a:r>
              <a:rPr lang="en-DE" dirty="0"/>
              <a:t> </a:t>
            </a:r>
            <a:r>
              <a:rPr dirty="0"/>
              <a:t>clauses</a:t>
            </a:r>
            <a:r>
              <a:rPr lang="en-US" dirty="0"/>
              <a:t> (e.g., avoid regex tests as the only predicate)</a:t>
            </a:r>
            <a:endParaRPr dirty="0"/>
          </a:p>
          <a:p>
            <a:pPr marL="342900" lvl="0" indent="-342900">
              <a:buAutoNum type="arabicPeriod"/>
            </a:pPr>
            <a:r>
              <a:rPr b="1" dirty="0"/>
              <a:t>Mark</a:t>
            </a:r>
            <a:r>
              <a:rPr lang="en-DE" b="1" dirty="0"/>
              <a:t> </a:t>
            </a:r>
            <a:r>
              <a:rPr b="1" dirty="0"/>
              <a:t>DETERMINISTIC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appropriate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caching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Typical</a:t>
            </a:r>
            <a:r>
              <a:rPr lang="en-DE" dirty="0"/>
              <a:t> </a:t>
            </a:r>
            <a:r>
              <a:rPr dirty="0"/>
              <a:t>Performance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8363173"/>
              </p:ext>
            </p:extLst>
          </p:nvPr>
        </p:nvGraphicFramePr>
        <p:xfrm>
          <a:off x="457200" y="1193800"/>
          <a:ext cx="82296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Rows/Second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EASTER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(SQL)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Pure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REGEX_MATCHES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100,000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Pattern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caching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helps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200,000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Direct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BSAM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075D31-2069-DD99-4199-7944298BD75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Troubleshooting</a:t>
            </a:r>
            <a:br>
              <a:rPr lang="en-US" dirty="0"/>
            </a:br>
            <a:r>
              <a:rPr dirty="0"/>
              <a:t>(1</a:t>
            </a:r>
            <a:r>
              <a:rPr lang="en-DE" dirty="0"/>
              <a:t> </a:t>
            </a:r>
            <a:r>
              <a:rPr dirty="0"/>
              <a:t>minute)</a:t>
            </a:r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Common</a:t>
            </a:r>
            <a:r>
              <a:rPr lang="en-DE" dirty="0"/>
              <a:t> </a:t>
            </a:r>
            <a:r>
              <a:rPr dirty="0"/>
              <a:t>Issues</a:t>
            </a:r>
            <a:r>
              <a:rPr lang="en-DE" dirty="0"/>
              <a:t> </a:t>
            </a:r>
            <a:r>
              <a:rPr dirty="0"/>
              <a:t>&amp;</a:t>
            </a:r>
            <a:r>
              <a:rPr lang="en-DE" dirty="0"/>
              <a:t> </a:t>
            </a:r>
            <a:r>
              <a:rPr dirty="0"/>
              <a:t>Fixes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6218225"/>
              </p:ext>
            </p:extLst>
          </p:nvPr>
        </p:nvGraphicFramePr>
        <p:xfrm>
          <a:off x="457200" y="1193800"/>
          <a:ext cx="82296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Quick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-430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Reinstall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JAR,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refresh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WLM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ABEND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S0C4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(C/COBOL)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STEPLIB,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verify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APF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auth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-905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(Timeout)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Increase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ASUTIME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limit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-551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(Auth)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Grant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EXECUTE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privilege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1E0A9-FBC8-F3EA-BAC3-832DC1DD174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Preparation</a:t>
            </a:r>
            <a:r>
              <a:rPr lang="en-DE" dirty="0"/>
              <a:t> </a:t>
            </a:r>
            <a:r>
              <a:rPr dirty="0"/>
              <a:t>Checklist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Before</a:t>
            </a:r>
            <a:r>
              <a:rPr lang="en-DE" dirty="0"/>
              <a:t> </a:t>
            </a:r>
            <a:r>
              <a:rPr dirty="0"/>
              <a:t>Demos</a:t>
            </a:r>
            <a:r>
              <a:rPr lang="en-DE" dirty="0"/>
              <a:t> </a:t>
            </a:r>
            <a:r>
              <a:rPr dirty="0"/>
              <a:t>(5</a:t>
            </a:r>
            <a:r>
              <a:rPr lang="en-DE" dirty="0"/>
              <a:t> </a:t>
            </a:r>
            <a:r>
              <a:rPr dirty="0"/>
              <a:t>minutes</a:t>
            </a:r>
            <a:r>
              <a:rPr lang="en-DE" dirty="0"/>
              <a:t> </a:t>
            </a:r>
            <a:r>
              <a:rPr dirty="0"/>
              <a:t>setup)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Verify</a:t>
            </a:r>
            <a:r>
              <a:rPr lang="en-DE" dirty="0"/>
              <a:t> </a:t>
            </a:r>
            <a:r>
              <a:rPr dirty="0"/>
              <a:t>WLM</a:t>
            </a:r>
            <a:r>
              <a:rPr lang="en-DE" dirty="0"/>
              <a:t> </a:t>
            </a:r>
            <a:r>
              <a:rPr dirty="0"/>
              <a:t>environments</a:t>
            </a:r>
            <a:r>
              <a:rPr lang="en-DE" dirty="0"/>
              <a:t> </a:t>
            </a:r>
            <a:r>
              <a:rPr dirty="0"/>
              <a:t>active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Test</a:t>
            </a:r>
            <a:r>
              <a:rPr lang="en-DE" dirty="0"/>
              <a:t> </a:t>
            </a:r>
            <a:r>
              <a:rPr dirty="0"/>
              <a:t>database</a:t>
            </a:r>
            <a:r>
              <a:rPr lang="en-DE" dirty="0"/>
              <a:t> </a:t>
            </a:r>
            <a:r>
              <a:rPr dirty="0"/>
              <a:t>connection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Prepare</a:t>
            </a:r>
            <a:r>
              <a:rPr lang="en-DE" dirty="0"/>
              <a:t> </a:t>
            </a:r>
            <a:r>
              <a:rPr dirty="0"/>
              <a:t>sample</a:t>
            </a:r>
            <a:r>
              <a:rPr lang="en-DE" dirty="0"/>
              <a:t> </a:t>
            </a: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tables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Have</a:t>
            </a:r>
            <a:r>
              <a:rPr lang="en-DE" dirty="0"/>
              <a:t> </a:t>
            </a:r>
            <a:r>
              <a:rPr dirty="0"/>
              <a:t>JCL</a:t>
            </a:r>
            <a:r>
              <a:rPr lang="en-DE" dirty="0"/>
              <a:t> </a:t>
            </a:r>
            <a:r>
              <a:rPr dirty="0"/>
              <a:t>ready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SUBMIT</a:t>
            </a:r>
            <a:r>
              <a:rPr lang="en-DE" dirty="0"/>
              <a:t> </a:t>
            </a:r>
            <a:r>
              <a:rPr dirty="0"/>
              <a:t>demo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Prepare</a:t>
            </a:r>
            <a:r>
              <a:rPr lang="en-DE" dirty="0"/>
              <a:t> </a:t>
            </a:r>
            <a:r>
              <a:rPr dirty="0"/>
              <a:t>flat</a:t>
            </a:r>
            <a:r>
              <a:rPr lang="en-DE" dirty="0"/>
              <a:t> </a:t>
            </a:r>
            <a:r>
              <a:rPr dirty="0"/>
              <a:t>file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READ_GENERIC_FILE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Test</a:t>
            </a:r>
            <a:r>
              <a:rPr lang="en-DE" dirty="0"/>
              <a:t> </a:t>
            </a:r>
            <a:r>
              <a:rPr dirty="0"/>
              <a:t>each</a:t>
            </a:r>
            <a:r>
              <a:rPr lang="en-DE" dirty="0"/>
              <a:t> </a:t>
            </a: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query</a:t>
            </a:r>
            <a:r>
              <a:rPr lang="en-DE" dirty="0"/>
              <a:t> </a:t>
            </a:r>
            <a:r>
              <a:rPr dirty="0"/>
              <a:t>once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Sequence</a:t>
            </a:r>
            <a:r>
              <a:rPr lang="en-DE" dirty="0"/>
              <a:t> </a:t>
            </a:r>
            <a:r>
              <a:rPr dirty="0"/>
              <a:t>(30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lang="en-US" sz="1300" b="1" dirty="0"/>
              <a:t>D</a:t>
            </a:r>
            <a:r>
              <a:rPr sz="1300" b="1" dirty="0"/>
              <a:t>ata</a:t>
            </a:r>
            <a:r>
              <a:rPr lang="en-DE" sz="1300" b="1" dirty="0"/>
              <a:t> </a:t>
            </a:r>
            <a:r>
              <a:rPr sz="1300" b="1" dirty="0"/>
              <a:t>Type</a:t>
            </a:r>
            <a:r>
              <a:rPr lang="en-DE" sz="1300" b="1" dirty="0"/>
              <a:t> </a:t>
            </a:r>
            <a:r>
              <a:rPr sz="1300" b="1" dirty="0"/>
              <a:t>Conversion</a:t>
            </a:r>
            <a:r>
              <a:rPr lang="en-DE" sz="1300" dirty="0"/>
              <a:t> </a:t>
            </a:r>
            <a:r>
              <a:rPr sz="1300" dirty="0"/>
              <a:t>(5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Base64</a:t>
            </a:r>
            <a:r>
              <a:rPr lang="en-DE" sz="1300" dirty="0"/>
              <a:t> </a:t>
            </a:r>
            <a:r>
              <a:rPr sz="1300" dirty="0"/>
              <a:t>encode/decode</a:t>
            </a:r>
          </a:p>
          <a:p>
            <a:pPr marL="342000" lvl="1" indent="342000"/>
            <a:r>
              <a:rPr sz="1300" dirty="0"/>
              <a:t>TRY_INTEGER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bad</a:t>
            </a:r>
            <a:r>
              <a:rPr lang="en-DE" sz="1300" dirty="0"/>
              <a:t> </a:t>
            </a:r>
            <a:r>
              <a:rPr sz="1300" dirty="0"/>
              <a:t>data</a:t>
            </a:r>
          </a:p>
          <a:p>
            <a:pPr marL="342900" lvl="0" indent="-342900">
              <a:buAutoNum type="arabicPeriod"/>
            </a:pPr>
            <a:r>
              <a:rPr sz="1300" b="1" dirty="0"/>
              <a:t>String</a:t>
            </a:r>
            <a:r>
              <a:rPr lang="en-DE" sz="1300" b="1" dirty="0"/>
              <a:t> </a:t>
            </a:r>
            <a:r>
              <a:rPr sz="1300" b="1" dirty="0"/>
              <a:t>Processing</a:t>
            </a:r>
            <a:r>
              <a:rPr lang="en-DE" sz="1300" dirty="0"/>
              <a:t> </a:t>
            </a:r>
            <a:r>
              <a:rPr sz="1300" dirty="0"/>
              <a:t>(7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Email</a:t>
            </a:r>
            <a:r>
              <a:rPr lang="en-DE" sz="1300" dirty="0"/>
              <a:t> </a:t>
            </a:r>
            <a:r>
              <a:rPr sz="1300" dirty="0"/>
              <a:t>validation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REGEX_MATCHES</a:t>
            </a:r>
          </a:p>
          <a:p>
            <a:pPr marL="342000" lvl="1" indent="342000"/>
            <a:r>
              <a:rPr sz="1300" dirty="0"/>
              <a:t>CSV</a:t>
            </a:r>
            <a:r>
              <a:rPr lang="en-DE" sz="1300" dirty="0"/>
              <a:t> </a:t>
            </a:r>
            <a:r>
              <a:rPr sz="1300" dirty="0"/>
              <a:t>parsing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SPLIT</a:t>
            </a:r>
          </a:p>
          <a:p>
            <a:pPr marL="342000" lvl="1" indent="342000"/>
            <a:r>
              <a:rPr sz="1300" dirty="0"/>
              <a:t>Formatted</a:t>
            </a:r>
            <a:r>
              <a:rPr lang="en-DE" sz="1300" dirty="0"/>
              <a:t> </a:t>
            </a:r>
            <a:r>
              <a:rPr sz="1300" dirty="0"/>
              <a:t>output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SPRINTF</a:t>
            </a:r>
          </a:p>
          <a:p>
            <a:pPr marL="342900" lvl="0" indent="-342900">
              <a:buAutoNum type="arabicPeriod"/>
            </a:pPr>
            <a:r>
              <a:rPr sz="1300" b="1" dirty="0"/>
              <a:t>System</a:t>
            </a:r>
            <a:r>
              <a:rPr lang="en-DE" sz="1300" b="1" dirty="0"/>
              <a:t> </a:t>
            </a:r>
            <a:r>
              <a:rPr sz="1300" b="1" dirty="0"/>
              <a:t>Integration</a:t>
            </a:r>
            <a:r>
              <a:rPr lang="en-DE" sz="1300" dirty="0"/>
              <a:t> </a:t>
            </a:r>
            <a:r>
              <a:rPr sz="1300" dirty="0"/>
              <a:t>(8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Query</a:t>
            </a:r>
            <a:r>
              <a:rPr lang="en-DE" sz="1300" dirty="0"/>
              <a:t> </a:t>
            </a:r>
            <a:r>
              <a:rPr sz="1300" dirty="0"/>
              <a:t>APF</a:t>
            </a:r>
            <a:r>
              <a:rPr lang="en-DE" sz="1300" dirty="0"/>
              <a:t> </a:t>
            </a:r>
            <a:r>
              <a:rPr sz="1300" dirty="0"/>
              <a:t>list</a:t>
            </a:r>
          </a:p>
          <a:p>
            <a:pPr marL="342000" lvl="1" indent="342000"/>
            <a:r>
              <a:rPr sz="1300" dirty="0"/>
              <a:t>Check</a:t>
            </a:r>
            <a:r>
              <a:rPr lang="en-DE" sz="1300" dirty="0"/>
              <a:t> </a:t>
            </a:r>
            <a:r>
              <a:rPr sz="1300" dirty="0"/>
              <a:t>RACF</a:t>
            </a:r>
            <a:r>
              <a:rPr lang="en-DE" sz="1300" dirty="0"/>
              <a:t> </a:t>
            </a:r>
            <a:r>
              <a:rPr sz="1300" dirty="0"/>
              <a:t>profiles</a:t>
            </a:r>
          </a:p>
          <a:p>
            <a:pPr marL="342000" lvl="1" indent="342000"/>
            <a:r>
              <a:rPr sz="1300" dirty="0"/>
              <a:t>Read</a:t>
            </a:r>
            <a:r>
              <a:rPr lang="en-DE" sz="1300" dirty="0"/>
              <a:t> </a:t>
            </a:r>
            <a:r>
              <a:rPr sz="1300" dirty="0"/>
              <a:t>flat</a:t>
            </a:r>
            <a:r>
              <a:rPr lang="en-DE" sz="1300" dirty="0"/>
              <a:t> </a:t>
            </a:r>
            <a:r>
              <a:rPr sz="1300" dirty="0"/>
              <a:t>file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complex</a:t>
            </a:r>
            <a:r>
              <a:rPr lang="en-DE" sz="1300" dirty="0"/>
              <a:t> </a:t>
            </a:r>
            <a:r>
              <a:rPr sz="1300" dirty="0"/>
              <a:t>structure</a:t>
            </a:r>
          </a:p>
          <a:p>
            <a:pPr marL="342900" lvl="0" indent="-342900">
              <a:buAutoNum type="arabicPeriod"/>
            </a:pPr>
            <a:r>
              <a:rPr sz="1300" b="1" dirty="0"/>
              <a:t>Database</a:t>
            </a:r>
            <a:r>
              <a:rPr lang="en-DE" sz="1300" b="1" dirty="0"/>
              <a:t> </a:t>
            </a:r>
            <a:r>
              <a:rPr sz="1300" b="1" dirty="0"/>
              <a:t>Utilities</a:t>
            </a:r>
            <a:r>
              <a:rPr lang="en-DE" sz="1300" dirty="0"/>
              <a:t> </a:t>
            </a:r>
            <a:r>
              <a:rPr sz="1300" dirty="0"/>
              <a:t>(10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Automated</a:t>
            </a:r>
            <a:r>
              <a:rPr lang="en-DE" sz="1300" dirty="0"/>
              <a:t> </a:t>
            </a:r>
            <a:r>
              <a:rPr sz="1300" dirty="0"/>
              <a:t>RUNSTATS</a:t>
            </a:r>
          </a:p>
          <a:p>
            <a:pPr marL="342000" lvl="1" indent="342000"/>
            <a:r>
              <a:rPr sz="1300" dirty="0"/>
              <a:t>CROSSLOAD</a:t>
            </a:r>
            <a:r>
              <a:rPr lang="en-DE" sz="1300" dirty="0"/>
              <a:t> </a:t>
            </a:r>
            <a:r>
              <a:rPr sz="1300" dirty="0"/>
              <a:t>table</a:t>
            </a:r>
            <a:r>
              <a:rPr lang="en-DE" sz="1300" dirty="0"/>
              <a:t> </a:t>
            </a:r>
            <a:r>
              <a:rPr sz="1300" dirty="0"/>
              <a:t>copy</a:t>
            </a:r>
          </a:p>
          <a:p>
            <a:pPr marL="342000" lvl="1" indent="342000"/>
            <a:r>
              <a:rPr sz="1300" dirty="0"/>
              <a:t>JCL</a:t>
            </a:r>
            <a:r>
              <a:rPr lang="en-DE" sz="1300" dirty="0"/>
              <a:t> </a:t>
            </a:r>
            <a:r>
              <a:rPr sz="1300" dirty="0"/>
              <a:t>submission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output</a:t>
            </a:r>
            <a:r>
              <a:rPr lang="en-DE" sz="1300" dirty="0"/>
              <a:t> </a:t>
            </a:r>
            <a:r>
              <a:rPr sz="1300" dirty="0"/>
              <a:t>capture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EC3FB19-2D17-8365-F899-D495A55C8A4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109" r="6109"/>
          <a:stretch>
            <a:fillRect/>
          </a:stretch>
        </p:blipFill>
        <p:spPr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Reference</a:t>
            </a:r>
          </a:p>
        </p:txBody>
      </p:sp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674BDF8-54F7-DE9D-8DBD-C47BFC354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354282"/>
          </a:xfrm>
        </p:spPr>
        <p:txBody>
          <a:bodyPr/>
          <a:lstStyle/>
          <a:p>
            <a:r>
              <a:rPr lang="en-US" dirty="0"/>
              <a:t>Quick reference – all functions</a:t>
            </a:r>
            <a:endParaRPr lang="en-DE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F85F664-AA24-F09B-29E0-3ADD87FD7B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7139741"/>
              </p:ext>
            </p:extLst>
          </p:nvPr>
        </p:nvGraphicFramePr>
        <p:xfrm>
          <a:off x="215999" y="660816"/>
          <a:ext cx="8583798" cy="4022103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967095">
                  <a:extLst>
                    <a:ext uri="{9D8B030D-6E8A-4147-A177-3AD203B41FA5}">
                      <a16:colId xmlns:a16="http://schemas.microsoft.com/office/drawing/2014/main" val="879005719"/>
                    </a:ext>
                  </a:extLst>
                </a:gridCol>
                <a:gridCol w="481388">
                  <a:extLst>
                    <a:ext uri="{9D8B030D-6E8A-4147-A177-3AD203B41FA5}">
                      <a16:colId xmlns:a16="http://schemas.microsoft.com/office/drawing/2014/main" val="1593252952"/>
                    </a:ext>
                  </a:extLst>
                </a:gridCol>
                <a:gridCol w="1133073">
                  <a:extLst>
                    <a:ext uri="{9D8B030D-6E8A-4147-A177-3AD203B41FA5}">
                      <a16:colId xmlns:a16="http://schemas.microsoft.com/office/drawing/2014/main" val="1159322384"/>
                    </a:ext>
                  </a:extLst>
                </a:gridCol>
                <a:gridCol w="3713845">
                  <a:extLst>
                    <a:ext uri="{9D8B030D-6E8A-4147-A177-3AD203B41FA5}">
                      <a16:colId xmlns:a16="http://schemas.microsoft.com/office/drawing/2014/main" val="2564253303"/>
                    </a:ext>
                  </a:extLst>
                </a:gridCol>
                <a:gridCol w="1288397">
                  <a:extLst>
                    <a:ext uri="{9D8B030D-6E8A-4147-A177-3AD203B41FA5}">
                      <a16:colId xmlns:a16="http://schemas.microsoft.com/office/drawing/2014/main" val="1456578960"/>
                    </a:ext>
                  </a:extLst>
                </a:gridCol>
              </a:tblGrid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Function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Category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Implemented in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915054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" tooltip="#_apflis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APFLIST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Returns a table with all APF authorized data sets on the system.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COBOL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081313797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marL="0" marR="0" indent="0" algn="l" defTabSz="685983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  <a:hlinkClick r:id="rId3" tooltip="#_base64decod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BASE64DECODE</a:t>
                      </a:r>
                      <a:endParaRPr lang="en-US" sz="8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Mono Text" panose="020B0509050203000203" pitchFamily="49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Decodes BASE64 format to binary data.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1309283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4" tooltip="#_base64encod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BASE64ENCODE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Encodes binary data to BASE64 format.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474946263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5" tooltip="#_crossload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CROSSLOAD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Copies data from one table to another.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65163629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6" tooltip="#_db2utility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DB2UTILITY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Runs one or more Db2 utility statements.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26470683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>
                          <a:effectLst/>
                          <a:latin typeface="IBM Plex Mono Text" panose="020B0509050203000203" pitchFamily="49" charset="0"/>
                          <a:hlinkClick r:id="rId7" tooltip="#_east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EASTER</a:t>
                      </a:r>
                      <a:endParaRPr lang="en-US" sz="800" b="0" u="none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Date and time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Calculates the date of Easter for a given year.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05834008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8" tooltip="#_formattimesta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FORMATTIMESTAMP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Date and time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Locale-sensitive formatting of a timestamp value.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725999339"/>
                  </a:ext>
                </a:extLst>
              </a:tr>
              <a:tr h="283529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9" tooltip="#_generate_serie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GENERATE_SERIES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Generate a series of values between a start and an end value, with an optional step.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0672544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>
                          <a:effectLst/>
                          <a:latin typeface="IBM Plex Mono Text" panose="020B0509050203000203" pitchFamily="49" charset="0"/>
                          <a:hlinkClick r:id="rId10" tooltip="#_hextoin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HEXTOINT</a:t>
                      </a:r>
                      <a:endParaRPr lang="en-US" sz="800" b="0" u="none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Converts a hex string to integer.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04061846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  <a:hlinkClick r:id="rId11" tooltip="#_racfpro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RACFPROFILE</a:t>
                      </a:r>
                      <a:endParaRPr lang="en-US" sz="8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Mono Text" panose="020B0509050203000203" pitchFamily="49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Returns the RACF profile that covers the input data set name.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COBOL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58802338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>
                          <a:effectLst/>
                          <a:latin typeface="IBM Plex Mono Text" panose="020B0509050203000203" pitchFamily="49" charset="0"/>
                          <a:hlinkClick r:id="rId12" tooltip="#_read_generic_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READ_GENERIC_FILE</a:t>
                      </a:r>
                      <a:endParaRPr lang="en-US" sz="800" b="0" u="none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GT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Reads records from a flat file and returns them as a table.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C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85876444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3" tooltip="#_regex_matche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REGEX_MATCHES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Strings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Matches a regular expression against a string.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Java or SQL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882380269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4" tooltip="#_regex_replac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REGEX_REPLACE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Strings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Replaces regular expression matches within a string.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38958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5" tooltip="#_runstat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RUNSTATS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Runs statistics against a table or a set of tables.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38696396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6" tooltip="#_spli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SPLIT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Text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Tokenizes a comma-separated string (inverse of LISTAGG).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99392255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7" tooltip="#_sprintf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SPRINTF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Text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Formats one or more values according to a Java-style format string.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52632157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8" tooltip="#:submi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SUBMIT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Submits a JCL job stream and returns the job output as a CLOB.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11657504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8" tooltip="#:submi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SUBMIT_T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Submits a JCL job stream and returns the job output as a table.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28939577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9" tooltip="#_to_roma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TO_ROMAN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Converts a small integer to a Roman numeral.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767613059"/>
                  </a:ext>
                </a:extLst>
              </a:tr>
              <a:tr h="35467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0" tooltip="#:try_integ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TRY_INTEGER, TRY_SMALLINT,</a:t>
                      </a:r>
                      <a:b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0" tooltip="#:try_integ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</a:b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0" tooltip="#:try_integ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TRY_BIGINT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Returns text converted to an integer or NULL on failure.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296017568"/>
                  </a:ext>
                </a:extLst>
              </a:tr>
              <a:tr h="234685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1" tooltip="#_validate_convers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VALIDATE_CONVERSION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Tests whether a given string can be converted to a specified target type.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53849728"/>
                  </a:ext>
                </a:extLst>
              </a:tr>
              <a:tr h="234685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solidFill>
                            <a:schemeClr val="tx1"/>
                          </a:solidFill>
                          <a:effectLst/>
                          <a:latin typeface="IBM Plex Mono Text" panose="020B0509050203000203" pitchFamily="49" charset="0"/>
                        </a:rPr>
                        <a:t>UNLOAD_CSV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Utilities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Unloads the result of a SELECT statement in user-defined CSV format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Java</a:t>
                      </a: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8399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9449055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413228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IBM Expert Labs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ma14="http://schemas.microsoft.com/office/mac/drawingml/2011/main" xmlns:a14="http://schemas.microsoft.com/office/drawing/2010/main" xmlns:m="http://schemas.openxmlformats.org/officeDocument/2006/math" xmlns="" xmlns:p="http://schemas.openxmlformats.org/presentationml/2006/main" xmlns:r="http://schemas.openxmlformats.org/officeDocument/2006/relationships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1730368918050" id="{31DF0289-1028-6943-A020-36845773A867}" vid="{420903E5-FF27-9C4D-AB14-78ABBED49DF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Bob for Db2</Template>
  <TotalTime>3232</TotalTime>
  <Words>2482</Words>
  <Application>Microsoft Office PowerPoint</Application>
  <PresentationFormat>On-screen Show (16:9)</PresentationFormat>
  <Paragraphs>354</Paragraphs>
  <Slides>35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7" baseType="lpstr">
      <vt:lpstr>Arial</vt:lpstr>
      <vt:lpstr>Courier</vt:lpstr>
      <vt:lpstr>IBM Plex Mono Light</vt:lpstr>
      <vt:lpstr>IBM Plex Mono Text</vt:lpstr>
      <vt:lpstr>IBM Plex Sans</vt:lpstr>
      <vt:lpstr>IBM Plex Sans Light</vt:lpstr>
      <vt:lpstr>IBM Plex Sans Medm</vt:lpstr>
      <vt:lpstr>IBM Plex Sans SemiBold</vt:lpstr>
      <vt:lpstr>IBM Plex Sans Text</vt:lpstr>
      <vt:lpstr>inherit</vt:lpstr>
      <vt:lpstr>Wingdings</vt:lpstr>
      <vt:lpstr>IBM Expert Labs template</vt:lpstr>
      <vt:lpstr>Beyond Built-ins: Supercharging Db2 for z/OS with Custom Routines</vt:lpstr>
      <vt:lpstr>Appetizer </vt:lpstr>
      <vt:lpstr>Appetizer </vt:lpstr>
      <vt:lpstr>Why This Library Exists (2 minutes)</vt:lpstr>
      <vt:lpstr>The Problem</vt:lpstr>
      <vt:lpstr>The Solution</vt:lpstr>
      <vt:lpstr>Value Proposition</vt:lpstr>
      <vt:lpstr>Architecture Overview (2 minutes)</vt:lpstr>
      <vt:lpstr>Four Implementation Types</vt:lpstr>
      <vt:lpstr>Execution Flow</vt:lpstr>
      <vt:lpstr>Quick Installation (3 minutes)</vt:lpstr>
      <vt:lpstr>Prerequisites</vt:lpstr>
      <vt:lpstr>Installation Steps</vt:lpstr>
      <vt:lpstr>Verification</vt:lpstr>
      <vt:lpstr>Critical Security Points (2 minutes)</vt:lpstr>
      <vt:lpstr>Security Models</vt:lpstr>
      <vt:lpstr>Key Security Rules</vt:lpstr>
      <vt:lpstr>Routine Categories (4 minutes)</vt:lpstr>
      <vt:lpstr>Data Type Conversion Safe type conversion and encoding </vt:lpstr>
      <vt:lpstr>String Processing Pattern matching and manipulation</vt:lpstr>
      <vt:lpstr>System Integration Access z/OS system information </vt:lpstr>
      <vt:lpstr>Database Utilities Automate common DBA tasks and make them easier accessible for end users </vt:lpstr>
      <vt:lpstr>CSV Unload: Purpose &amp; Technical Objectives</vt:lpstr>
      <vt:lpstr>CSV Unload: Usage</vt:lpstr>
      <vt:lpstr>Performance and Monitoring (1 minute)</vt:lpstr>
      <vt:lpstr>Performance Tips</vt:lpstr>
      <vt:lpstr>Typical Performance</vt:lpstr>
      <vt:lpstr>Quick Troubleshooting (1 minute)</vt:lpstr>
      <vt:lpstr>Common Issues &amp; Fixes</vt:lpstr>
      <vt:lpstr>Demo Preparation Checklist</vt:lpstr>
      <vt:lpstr>Before Demos (5 minutes setup)</vt:lpstr>
      <vt:lpstr>Demo Sequence (30 minutes)</vt:lpstr>
      <vt:lpstr>Quick Reference</vt:lpstr>
      <vt:lpstr>Quick reference – all functions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Built-ins: Supercharging Db2 for z/OS with Custom Routines</dc:title>
  <dc:creator>Technical Documentation Team</dc:creator>
  <cp:keywords/>
  <cp:lastModifiedBy>Uli Seelbach</cp:lastModifiedBy>
  <cp:revision>14</cp:revision>
  <dcterms:created xsi:type="dcterms:W3CDTF">2026-06-09T10:56:26Z</dcterms:created>
  <dcterms:modified xsi:type="dcterms:W3CDTF">2026-06-15T12:22:19Z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type">
    <vt:lpwstr>article</vt:lpwstr>
  </property>
  <property fmtid="{D5CDD505-2E9C-101B-9397-08002B2CF9AE}" pid="3" name="icons">
    <vt:lpwstr>font</vt:lpwstr>
  </property>
  <property fmtid="{D5CDD505-2E9C-101B-9397-08002B2CF9AE}" pid="4" name="revdate">
    <vt:lpwstr>2026-06-08</vt:lpwstr>
  </property>
  <property fmtid="{D5CDD505-2E9C-101B-9397-08002B2CF9AE}" pid="5" name="source-highlighter">
    <vt:lpwstr>rouge</vt:lpwstr>
  </property>
  <property fmtid="{D5CDD505-2E9C-101B-9397-08002B2CF9AE}" pid="6" name="subtitle">
    <vt:lpwstr>A DBA's Guide to Functions IBM Forgot to Include</vt:lpwstr>
  </property>
  <property fmtid="{D5CDD505-2E9C-101B-9397-08002B2CF9AE}" pid="7" name="toc">
    <vt:lpwstr>left</vt:lpwstr>
  </property>
  <property fmtid="{D5CDD505-2E9C-101B-9397-08002B2CF9AE}" pid="8" name="toclevels">
    <vt:lpwstr>2</vt:lpwstr>
  </property>
</Properties>
</file>