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57" r:id="rId24"/>
    <p:sldId id="301" r:id="rId25"/>
    <p:sldId id="279" r:id="rId26"/>
    <p:sldId id="280" r:id="rId27"/>
    <p:sldId id="282" r:id="rId28"/>
    <p:sldId id="284" r:id="rId29"/>
    <p:sldId id="285" r:id="rId30"/>
    <p:sldId id="287" r:id="rId31"/>
    <p:sldId id="288" r:id="rId32"/>
    <p:sldId id="289" r:id="rId33"/>
    <p:sldId id="290" r:id="rId34"/>
    <p:sldId id="300" r:id="rId35"/>
    <p:sldId id="299" r:id="rId36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  <p14:sldId id="261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Reference" id="{74587F1F-96DF-4B10-AEE3-BAF42569ECEC}">
          <p14:sldIdLst>
            <p14:sldId id="290"/>
            <p14:sldId id="300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10" d="100"/>
          <a:sy n="110" d="100"/>
        </p:scale>
        <p:origin x="43" y="17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/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  <a:br>
              <a:rPr lang="en-US" dirty="0"/>
            </a:b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17.-18.06.2026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‘EMP%',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166 18:17:55.80 DSNUGUTC - OUTPUT START FOR UTILITY, UTILID = UTIL08885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166 18:17:55.82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166 18:17:55.84 DSNUGUTC -  LISTDEF RSLIST INCLUDE TABLE DSN81310."EMP" INCLUDE TABLE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DSN81310."EMPPROJACT" INCLUDE TABLE DSN81310."EMP_PHOTO_RESUME"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...</a:t>
            </a:r>
          </a:p>
          <a:p>
            <a:pPr>
              <a:lnSpc>
                <a:spcPct val="100000"/>
              </a:lnSpc>
            </a:pPr>
            <a:r>
              <a:rPr lang="en-US" sz="1000" kern="0">
                <a:latin typeface="IBM Plex Mono Text" panose="020B0509050203000203" pitchFamily="49" charset="0"/>
              </a:rPr>
              <a:t>DSNU010I    166 18:17:59.12 DSNUGBAC - UTILITY EXECUTION COMPLETE, HIGHEST RETURN CODE=0 </a:t>
            </a:r>
            <a:endParaRPr lang="en-US" sz="1000" kern="0" dirty="0">
              <a:latin typeface="IBM Plex Mono Text" panose="020B0509050203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</a:t>
            </a:r>
            <a:r>
              <a:rPr lang="en-US" b="1" dirty="0"/>
              <a:t>compression</a:t>
            </a:r>
            <a:r>
              <a:rPr lang="en-US" dirty="0"/>
              <a:t> / decompression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Value</a:t>
            </a:r>
            <a:r>
              <a:rPr lang="en-DE" dirty="0"/>
              <a:t> </a:t>
            </a:r>
            <a:r>
              <a:rPr dirty="0"/>
              <a:t>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COBOL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program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read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flat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Submit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JCL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manually,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string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parsing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REGEX_MATCHES(column,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pattern)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=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Multiple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utility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RUNSTATS(’SCHEMA.%’,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 dirty="0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REGEX_MATCHES(email,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Returns: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banana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%s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has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$%.2f'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name,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accounts;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APF-authorized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RACF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Read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flat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with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complex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latin typeface="IBM Plex Mono Light" panose="020B0409050203000203" pitchFamily="49" charset="0"/>
              </a:rPr>
              <a:t>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</a:t>
            </a:r>
            <a:r>
              <a:rPr lang="en-DE" sz="1200" b="1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latin typeface="IBM Plex Mono Light" panose="020B0409050203000203" pitchFamily="49" charset="0"/>
              </a:rPr>
              <a:t>Ready: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APF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list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query,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profile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lookup,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flat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reading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Run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statistics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multiple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SHRLEVEL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Copy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across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Submit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JCL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capture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JOB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EXEC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Courier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Courier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Default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EMPNO,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LASTNAME,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WORKDEPT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/emp.csv'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lang="en-US"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endParaRPr lang="en-US" sz="1100" b="1" dirty="0">
              <a:solidFill>
                <a:srgbClr val="00702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Extended invocation: format and CCSID specs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SYSIBM.SYSTABLES'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/systables.csv'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'RFC4180'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'N'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br>
              <a:rPr lang="en-US" sz="1100" dirty="0">
                <a:latin typeface="Courier"/>
              </a:rPr>
            </a:br>
            <a:r>
              <a:rPr lang="en-US" sz="1100" i="1" dirty="0">
                <a:solidFill>
                  <a:srgbClr val="00B0F0"/>
                </a:solidFill>
                <a:latin typeface="Courier"/>
              </a:rPr>
              <a:t>-- Custom format invocation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C1,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C2,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C3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APP.T1'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/t1_pipe.txt’</a:t>
            </a:r>
            <a:r>
              <a:rPr sz="1100" dirty="0">
                <a:latin typeface="Courier"/>
              </a:rPr>
              <a:t>,</a:t>
            </a:r>
            <a:br>
              <a:rPr lang="en-US" sz="1100" dirty="0">
                <a:latin typeface="Courier"/>
              </a:rPr>
            </a:br>
            <a:r>
              <a:rPr lang="en-US" sz="1100" dirty="0">
                <a:latin typeface="Courier"/>
              </a:rPr>
              <a:t>        </a:t>
            </a:r>
            <a:r>
              <a:rPr lang="en-DE" sz="1100" dirty="0">
                <a:latin typeface="Courier"/>
              </a:rPr>
              <a:t>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delimiter=\|;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quoteMode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=MINIMAL;</a:t>
            </a:r>
            <a:r>
              <a:rPr lang="en-US" sz="1100" dirty="0">
                <a:solidFill>
                  <a:srgbClr val="4070A0"/>
                </a:solidFill>
                <a:latin typeface="Courier"/>
              </a:rPr>
              <a:t>’ ||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  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nullString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=\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N;trim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=true'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endParaRPr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MVS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target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'//HLQ.EXPORT.EMP'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'Excel'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1047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Reference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563120"/>
              </p:ext>
            </p:extLst>
          </p:nvPr>
        </p:nvGraphicFramePr>
        <p:xfrm>
          <a:off x="215999" y="660816"/>
          <a:ext cx="8583798" cy="36350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APFLIST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BASE64ENCODE, BASE64DECODE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Encodes binary data to BASE64 and vice versa.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CROSSLOAD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DB2UTILITY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EASTER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FORMATTIMESTAMP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GENERATE_SERIES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GZIP, GUNZIP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compression and decompression using </a:t>
                      </a:r>
                      <a:r>
                        <a:rPr lang="en-US" sz="850" b="0" dirty="0" err="1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Gzip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597548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HEXTOINT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</a:rPr>
                        <a:t>RACFPROFILE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READ_GENERIC_FILE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REGEX_MATCHES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REGEX_REPLACE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RUNSTATS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SPLIT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SPRINTF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SUBMIT_T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TO_ROMAN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TRY_INTEGER, …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</a:rPr>
                        <a:t>VALIDATE_CONVERSION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4719</TotalTime>
  <Words>2483</Words>
  <Application>Microsoft Office PowerPoint</Application>
  <PresentationFormat>On-screen Show (16:9)</PresentationFormat>
  <Paragraphs>355</Paragraphs>
  <Slides>35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Arial</vt:lpstr>
      <vt:lpstr>Courier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20</cp:revision>
  <dcterms:created xsi:type="dcterms:W3CDTF">2026-06-09T10:56:26Z</dcterms:created>
  <dcterms:modified xsi:type="dcterms:W3CDTF">2026-06-16T14:16:13Z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