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2" r:id="rId3"/>
    <p:sldId id="303" r:id="rId4"/>
    <p:sldId id="258" r:id="rId5"/>
    <p:sldId id="259" r:id="rId6"/>
    <p:sldId id="260" r:id="rId7"/>
    <p:sldId id="300" r:id="rId8"/>
    <p:sldId id="263" r:id="rId9"/>
    <p:sldId id="264" r:id="rId10"/>
    <p:sldId id="265" r:id="rId11"/>
    <p:sldId id="274" r:id="rId12"/>
    <p:sldId id="275" r:id="rId13"/>
    <p:sldId id="276" r:id="rId14"/>
    <p:sldId id="305" r:id="rId15"/>
    <p:sldId id="277" r:id="rId16"/>
    <p:sldId id="278" r:id="rId17"/>
    <p:sldId id="257" r:id="rId18"/>
    <p:sldId id="301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9" r:id="rId27"/>
    <p:sldId id="280" r:id="rId28"/>
    <p:sldId id="282" r:id="rId29"/>
    <p:sldId id="284" r:id="rId30"/>
    <p:sldId id="285" r:id="rId31"/>
    <p:sldId id="287" r:id="rId32"/>
    <p:sldId id="288" r:id="rId33"/>
    <p:sldId id="289" r:id="rId34"/>
    <p:sldId id="299" r:id="rId35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8A8F86D-BE64-4A2A-B322-79D526C86EA4}">
          <p14:sldIdLst>
            <p14:sldId id="256"/>
            <p14:sldId id="302"/>
            <p14:sldId id="303"/>
            <p14:sldId id="258"/>
            <p14:sldId id="259"/>
            <p14:sldId id="260"/>
            <p14:sldId id="300"/>
          </p14:sldIdLst>
        </p14:section>
        <p14:section name="Architecture" id="{82F8EFC2-02A3-4068-AB33-F40059B6EF33}">
          <p14:sldIdLst>
            <p14:sldId id="263"/>
            <p14:sldId id="264"/>
            <p14:sldId id="265"/>
          </p14:sldIdLst>
        </p14:section>
        <p14:section name="Categories" id="{DE0CB976-A529-4DB7-836E-B3FF83C97FBD}">
          <p14:sldIdLst>
            <p14:sldId id="274"/>
            <p14:sldId id="275"/>
            <p14:sldId id="276"/>
            <p14:sldId id="305"/>
            <p14:sldId id="277"/>
            <p14:sldId id="278"/>
            <p14:sldId id="257"/>
            <p14:sldId id="301"/>
          </p14:sldIdLst>
        </p14:section>
        <p14:section name="Installation" id="{51B1159D-C037-4CC1-A000-05451B3668CC}">
          <p14:sldIdLst>
            <p14:sldId id="266"/>
            <p14:sldId id="267"/>
            <p14:sldId id="268"/>
            <p14:sldId id="269"/>
          </p14:sldIdLst>
        </p14:section>
        <p14:section name="Security" id="{44D11B48-10BB-453E-95C4-702AAF537B31}">
          <p14:sldIdLst>
            <p14:sldId id="270"/>
            <p14:sldId id="271"/>
            <p14:sldId id="272"/>
          </p14:sldIdLst>
        </p14:section>
        <p14:section name="Performance" id="{F4A37F06-DB24-4398-9F61-FC6181705D47}">
          <p14:sldIdLst>
            <p14:sldId id="279"/>
            <p14:sldId id="280"/>
            <p14:sldId id="282"/>
          </p14:sldIdLst>
        </p14:section>
        <p14:section name="Troubleshooting" id="{71C59B09-6D36-49DC-B592-C46E1050DB76}">
          <p14:sldIdLst>
            <p14:sldId id="284"/>
            <p14:sldId id="285"/>
          </p14:sldIdLst>
        </p14:section>
        <p14:section name="Demo" id="{5C376466-9679-47BB-8EA5-9D428728A77F}">
          <p14:sldIdLst>
            <p14:sldId id="287"/>
            <p14:sldId id="288"/>
            <p14:sldId id="289"/>
          </p14:sldIdLst>
        </p14:section>
        <p14:section name="Closing" id="{8FAA098E-7F3C-45CA-A84F-C14D4D6C6A61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38" d="100"/>
          <a:sy n="138" d="100"/>
        </p:scale>
        <p:origin x="219" y="6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 dirty="0"/>
              <a:t>Click icon to add online image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103252/Db2_Routin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Built-ins:</a:t>
            </a:r>
            <a:r>
              <a:rPr lang="en-DE" dirty="0"/>
              <a:t> </a:t>
            </a:r>
            <a:r>
              <a:rPr dirty="0"/>
              <a:t>Supercharging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/>
              <a:t>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lvl="0">
              <a:spcBef>
                <a:spcPts val="1200"/>
              </a:spcBef>
            </a:pPr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Uli Seelbach, IBM Expert Labs</a:t>
            </a:r>
          </a:p>
          <a:p>
            <a:pPr lvl="0">
              <a:spcBef>
                <a:spcPts val="1200"/>
              </a:spcBef>
            </a:pPr>
            <a:r>
              <a:rPr lang="en-US" dirty="0"/>
              <a:t>GSE Working Group Db2 Meeting</a:t>
            </a:r>
            <a:br>
              <a:rPr lang="en-US" dirty="0"/>
            </a:br>
            <a:r>
              <a:rPr lang="en-US" dirty="0"/>
              <a:t>IBM Zürich, 17.06.2026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40284-C647-A3D1-321D-6F69CA252AB7}"/>
              </a:ext>
            </a:extLst>
          </p:cNvPr>
          <p:cNvSpPr txBox="1"/>
          <p:nvPr/>
        </p:nvSpPr>
        <p:spPr>
          <a:xfrm>
            <a:off x="215972" y="4321669"/>
            <a:ext cx="7614205" cy="30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fr-FR" sz="1600" dirty="0"/>
              <a:t>Source Code and documentation in GitHub: </a:t>
            </a:r>
            <a:r>
              <a:rPr lang="fr-FR" sz="1600" dirty="0">
                <a:hlinkClick r:id="rId2"/>
              </a:rPr>
              <a:t>de103252/Db2_Routines</a:t>
            </a:r>
            <a:endParaRPr lang="fr-FR" sz="16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DE" sz="16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D88B40A-8579-0A50-4FFA-F72C4B30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A8DDD48-65F2-5CF7-8942-07E2CC52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6"/>
            <a:ext cx="8470194" cy="1936581"/>
          </a:xfr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lIns="36000" tIns="36000" rIns="3600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with</a:t>
            </a:r>
          </a:p>
          <a:p>
            <a:pPr>
              <a:lnSpc>
                <a:spcPct val="100000"/>
              </a:lnSpc>
            </a:pP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r>
              <a:rPr lang="en-US" sz="1000" dirty="0">
                <a:latin typeface="IBM Plex Mono Text" panose="020B0509050203000203" pitchFamily="49" charset="0"/>
              </a:rPr>
              <a:t> as (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select value as 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  , timestamp(</a:t>
            </a:r>
            <a:r>
              <a:rPr lang="en-US" sz="1000" dirty="0">
                <a:highlight>
                  <a:srgbClr val="FFFF00"/>
                </a:highlight>
                <a:latin typeface="IBM Plex Mono Text" panose="020B0509050203000203" pitchFamily="49" charset="0"/>
              </a:rPr>
              <a:t>easter</a:t>
            </a:r>
            <a:r>
              <a:rPr lang="en-US" sz="1000" dirty="0">
                <a:latin typeface="IBM Plex Mono Text" panose="020B0509050203000203" pitchFamily="49" charset="0"/>
              </a:rPr>
              <a:t>(value)) as 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from table(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generate_series</a:t>
            </a:r>
            <a:r>
              <a:rPr lang="en-US" sz="1000" dirty="0">
                <a:latin typeface="IBM Plex Mono Text" panose="020B0509050203000203" pitchFamily="49" charset="0"/>
              </a:rPr>
              <a:t>(year(current date), year(current date) + 10))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to_roman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r>
              <a:rPr lang="en-US" sz="1000" dirty="0">
                <a:latin typeface="IBM Plex Mono Text" panose="020B0509050203000203" pitchFamily="49" charset="0"/>
              </a:rPr>
              <a:t>) as "Jahr"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,           'd. MMMM', ‘de-CH') as "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+ 39 days, 'd. MMMM', '</a:t>
            </a:r>
            <a:r>
              <a:rPr lang="en-US" sz="1000" dirty="0" err="1">
                <a:latin typeface="IBM Plex Mono Text" panose="020B0509050203000203" pitchFamily="49" charset="0"/>
              </a:rPr>
              <a:t>fr</a:t>
            </a:r>
            <a:r>
              <a:rPr lang="en-US" sz="1000" dirty="0">
                <a:latin typeface="IBM Plex Mono Text" panose="020B0509050203000203" pitchFamily="49" charset="0"/>
              </a:rPr>
              <a:t>-CH') as "Ascension"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+ 49 days, 'd. MMMM', 'it-CH') as "</a:t>
            </a:r>
            <a:r>
              <a:rPr lang="en-US" sz="1000" dirty="0" err="1">
                <a:latin typeface="IBM Plex Mono Text" panose="020B0509050203000203" pitchFamily="49" charset="0"/>
              </a:rPr>
              <a:t>Pentecoste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+ 60 days, 'd. MMMM', 'rm-CH') as "Corpus Christi"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1BF287-68B5-0788-7618-75D974B6A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9365"/>
              </p:ext>
            </p:extLst>
          </p:nvPr>
        </p:nvGraphicFramePr>
        <p:xfrm>
          <a:off x="215475" y="2911156"/>
          <a:ext cx="8469315" cy="14630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93863">
                  <a:extLst>
                    <a:ext uri="{9D8B030D-6E8A-4147-A177-3AD203B41FA5}">
                      <a16:colId xmlns:a16="http://schemas.microsoft.com/office/drawing/2014/main" val="181031118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1833299943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15706462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3582713625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99998150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Jahr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Ostern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inherit"/>
                        </a:rPr>
                        <a:t>Ascension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Pentecoste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Corpus Christi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068664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5.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9445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28. März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27.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9088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25.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giugno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15.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42373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MMXXIX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20.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31. da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336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64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7691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DC5A-73F3-6E40-2DD4-2CDC2A98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5F84F36-D593-DBA1-7FF0-7090B30E8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47848A-2AFB-6234-AE8B-BE1011226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7"/>
            <a:ext cx="8470194" cy="1496975"/>
          </a:xfrm>
          <a:solidFill>
            <a:schemeClr val="accent1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400000"/>
          </a:ln>
        </p:spPr>
        <p:txBody>
          <a:bodyPr lIns="36000" tIns="36000" rIns="36000" bIns="0"/>
          <a:lstStyle/>
          <a:p>
            <a:pPr>
              <a:lnSpc>
                <a:spcPct val="100000"/>
              </a:lnSpc>
            </a:pPr>
            <a:r>
              <a:rPr lang="en-US" sz="1600" dirty="0">
                <a:latin typeface="IBM Plex Mono Text" panose="020B0509050203000203" pitchFamily="49" charset="0"/>
              </a:rPr>
              <a:t>select </a:t>
            </a:r>
            <a:r>
              <a:rPr lang="en-US" sz="1600" dirty="0" err="1">
                <a:latin typeface="IBM Plex Mono Text" panose="020B0509050203000203" pitchFamily="49" charset="0"/>
              </a:rPr>
              <a:t>runstats</a:t>
            </a:r>
            <a:r>
              <a:rPr lang="en-US" sz="1600" dirty="0">
                <a:latin typeface="IBM Plex Mono Text" panose="020B0509050203000203" pitchFamily="49" charset="0"/>
              </a:rPr>
              <a:t>('TABLES', 'DSN81310', ‘EMP%', '') </a:t>
            </a:r>
          </a:p>
          <a:p>
            <a:pPr>
              <a:lnSpc>
                <a:spcPct val="100000"/>
              </a:lnSpc>
            </a:pPr>
            <a:r>
              <a:rPr lang="en-US" sz="1600" dirty="0">
                <a:latin typeface="IBM Plex Mono Text" panose="020B0509050203000203" pitchFamily="49" charset="0"/>
              </a:rPr>
              <a:t>  from </a:t>
            </a:r>
            <a:r>
              <a:rPr lang="en-US" sz="1600" dirty="0" err="1">
                <a:latin typeface="IBM Plex Mono Text" panose="020B0509050203000203" pitchFamily="49" charset="0"/>
              </a:rPr>
              <a:t>sysibm.sysdummyu</a:t>
            </a:r>
            <a:r>
              <a:rPr lang="en-US" sz="16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US" sz="16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600" dirty="0">
                <a:latin typeface="IBM Plex Mono Text" panose="020B0509050203000203" pitchFamily="49" charset="0"/>
              </a:rPr>
              <a:t>select db2util.utility_output</a:t>
            </a:r>
          </a:p>
          <a:p>
            <a:pPr>
              <a:lnSpc>
                <a:spcPct val="100000"/>
              </a:lnSpc>
            </a:pPr>
            <a:r>
              <a:rPr lang="en-US" sz="1600" dirty="0">
                <a:latin typeface="IBM Plex Mono Text" panose="020B0509050203000203" pitchFamily="49" charset="0"/>
              </a:rPr>
              <a:t>  from </a:t>
            </a:r>
            <a:r>
              <a:rPr lang="en-US" sz="1600" dirty="0" err="1">
                <a:latin typeface="IBM Plex Mono Text" panose="020B0509050203000203" pitchFamily="49" charset="0"/>
              </a:rPr>
              <a:t>sysibm.sysdummyu</a:t>
            </a:r>
            <a:r>
              <a:rPr lang="en-US" sz="16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DE" sz="1600" dirty="0">
              <a:latin typeface="IBM Plex Mono Text" panose="020B0509050203000203" pitchFamily="49" charset="0"/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6F95973-C09A-63F7-23E0-234A17477266}"/>
              </a:ext>
            </a:extLst>
          </p:cNvPr>
          <p:cNvSpPr txBox="1">
            <a:spLocks/>
          </p:cNvSpPr>
          <p:nvPr/>
        </p:nvSpPr>
        <p:spPr>
          <a:xfrm>
            <a:off x="215999" y="2571750"/>
            <a:ext cx="8470194" cy="18381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68288" marR="0" indent="-26828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246888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370332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428625" marR="0" indent="-171450" algn="l" defTabSz="914400" rtl="0" eaLnBrk="1" latinLnBrk="0" hangingPunct="1">
              <a:lnSpc>
                <a:spcPct val="11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 typeface="IBM Plex Sans" panose="020B0604020202020204" pitchFamily="34" charset="0"/>
              <a:buChar char="•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69114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827112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963075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09903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DSNU000I    166 18:17:55.80 DSNUGUTC - OUTPUT START FOR UTILITY, UTILID = UTIL08885</a:t>
            </a:r>
          </a:p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DSNU1045I   166 18:17:55.82 DSNUGTIS - PROCESSING SYSIN AS UNICODE UTF-8 </a:t>
            </a:r>
          </a:p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DSNU050I    166 18:17:55.84 DSNUGUTC -  LISTDEF RSLIST INCLUDE TABLE DSN81310."EMP" INCLUDE TABLE </a:t>
            </a:r>
          </a:p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DSN81310."EMPPROJACT" INCLUDE TABLE DSN81310."EMP_PHOTO_RESUME"</a:t>
            </a:r>
          </a:p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...</a:t>
            </a:r>
          </a:p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DSNU010I    166 18:17:59.12 DSNUGBAC - UTILITY EXECUTION COMPLETE, HIGHEST RETURN CODE=0 </a:t>
            </a:r>
          </a:p>
        </p:txBody>
      </p:sp>
    </p:spTree>
    <p:extLst>
      <p:ext uri="{BB962C8B-B14F-4D97-AF65-F5344CB8AC3E}">
        <p14:creationId xmlns:p14="http://schemas.microsoft.com/office/powerpoint/2010/main" val="404358258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</a:t>
            </a:r>
            <a:r>
              <a:rPr lang="en-DE" dirty="0"/>
              <a:t> </a:t>
            </a:r>
            <a:r>
              <a:rPr dirty="0"/>
              <a:t>This</a:t>
            </a:r>
            <a:r>
              <a:rPr lang="en-DE" dirty="0"/>
              <a:t> </a:t>
            </a:r>
            <a:r>
              <a:rPr dirty="0"/>
              <a:t>Library</a:t>
            </a:r>
            <a:r>
              <a:rPr lang="en-DE" dirty="0"/>
              <a:t> </a:t>
            </a:r>
            <a:r>
              <a:rPr dirty="0"/>
              <a:t>Exists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lacks</a:t>
            </a:r>
            <a:r>
              <a:rPr lang="en-DE" dirty="0"/>
              <a:t> </a:t>
            </a:r>
            <a:r>
              <a:rPr dirty="0"/>
              <a:t>many</a:t>
            </a:r>
            <a:r>
              <a:rPr lang="en-DE" dirty="0"/>
              <a:t> </a:t>
            </a:r>
            <a:r>
              <a:rPr lang="en-US" dirty="0"/>
              <a:t>useful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</a:t>
            </a:r>
            <a:r>
              <a:rPr lang="en-DE" dirty="0"/>
              <a:t>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R</a:t>
            </a:r>
            <a:r>
              <a:rPr b="1" dirty="0"/>
              <a:t>egular</a:t>
            </a:r>
            <a:r>
              <a:rPr lang="en-DE" b="1" dirty="0"/>
              <a:t> </a:t>
            </a:r>
            <a:r>
              <a:rPr b="1" dirty="0"/>
              <a:t>expression</a:t>
            </a:r>
            <a:r>
              <a:rPr lang="en-DE" b="1" dirty="0"/>
              <a:t> </a:t>
            </a:r>
            <a:r>
              <a:rPr dirty="0"/>
              <a:t>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Data type </a:t>
            </a:r>
            <a:r>
              <a:rPr lang="en-US" dirty="0"/>
              <a:t>testing and conversion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Extended </a:t>
            </a:r>
            <a:r>
              <a:rPr lang="en-US" b="1" dirty="0"/>
              <a:t>string formatting </a:t>
            </a:r>
            <a:r>
              <a:rPr lang="en-US" dirty="0"/>
              <a:t>capabilities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Base64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Data </a:t>
            </a:r>
            <a:r>
              <a:rPr lang="en-US" b="1" dirty="0"/>
              <a:t>compression</a:t>
            </a:r>
            <a:r>
              <a:rPr lang="en-US" dirty="0"/>
              <a:t> / decompression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CSV</a:t>
            </a:r>
            <a:r>
              <a:rPr lang="en-US" dirty="0"/>
              <a:t> unload in user-defined formats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Executing </a:t>
            </a:r>
            <a:r>
              <a:rPr lang="en-US" b="1" dirty="0"/>
              <a:t>utilities</a:t>
            </a:r>
            <a:r>
              <a:rPr lang="en-US" dirty="0"/>
              <a:t> (e.g., RUNSTATS) via SQL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</a:t>
            </a:r>
            <a:r>
              <a:rPr lang="en-DE" dirty="0"/>
              <a:t> </a:t>
            </a:r>
            <a:r>
              <a:rPr b="1" dirty="0"/>
              <a:t>JCL</a:t>
            </a:r>
            <a:r>
              <a:rPr lang="en-DE" dirty="0"/>
              <a:t> </a:t>
            </a:r>
            <a:r>
              <a:rPr dirty="0"/>
              <a:t>submission</a:t>
            </a:r>
            <a:r>
              <a:rPr lang="en-DE" dirty="0"/>
              <a:t> </a:t>
            </a:r>
            <a:r>
              <a:rPr lang="en-US" dirty="0"/>
              <a:t>and output retrieval via</a:t>
            </a:r>
            <a:r>
              <a:rPr lang="en-DE" dirty="0"/>
              <a:t> </a:t>
            </a:r>
            <a:r>
              <a:rPr dirty="0"/>
              <a:t>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lang="en-DE" dirty="0"/>
              <a:t> </a:t>
            </a:r>
            <a:r>
              <a:rPr b="1" dirty="0"/>
              <a:t>flat</a:t>
            </a:r>
            <a:r>
              <a:rPr lang="en-DE" b="1" dirty="0"/>
              <a:t> </a:t>
            </a:r>
            <a:r>
              <a:rPr b="1" dirty="0"/>
              <a:t>files</a:t>
            </a:r>
            <a:r>
              <a:rPr lang="en-US" b="1" dirty="0"/>
              <a:t> </a:t>
            </a:r>
            <a:r>
              <a:rPr lang="en-US" dirty="0"/>
              <a:t>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S</a:t>
            </a:r>
            <a:r>
              <a:rPr b="1" dirty="0"/>
              <a:t>ystem</a:t>
            </a:r>
            <a:r>
              <a:rPr lang="en-DE" b="1" dirty="0"/>
              <a:t> </a:t>
            </a:r>
            <a:r>
              <a:rPr dirty="0"/>
              <a:t>integration</a:t>
            </a:r>
            <a:r>
              <a:rPr lang="en-DE" dirty="0"/>
              <a:t> </a:t>
            </a:r>
            <a:r>
              <a:rPr dirty="0"/>
              <a:t>(APF</a:t>
            </a:r>
            <a:r>
              <a:rPr lang="en-DE" dirty="0"/>
              <a:t> </a:t>
            </a:r>
            <a:r>
              <a:rPr dirty="0"/>
              <a:t>lists,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profiles)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</a:t>
            </a:r>
            <a:r>
              <a:rPr lang="en-DE" dirty="0"/>
              <a:t> </a:t>
            </a:r>
            <a:r>
              <a:rPr dirty="0"/>
              <a:t>production-ready</a:t>
            </a:r>
            <a:r>
              <a:rPr lang="en-DE" dirty="0"/>
              <a:t> </a:t>
            </a:r>
            <a:r>
              <a:rPr dirty="0"/>
              <a:t>user-defined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</a:t>
            </a:r>
            <a:r>
              <a:rPr lang="en-DE" b="1" dirty="0"/>
              <a:t> </a:t>
            </a:r>
            <a:r>
              <a:rPr b="1" dirty="0"/>
              <a:t>Db2</a:t>
            </a:r>
            <a:r>
              <a:rPr lang="en-DE" dirty="0"/>
              <a:t> </a:t>
            </a:r>
            <a:r>
              <a:rPr dirty="0"/>
              <a:t>without</a:t>
            </a:r>
            <a:r>
              <a:rPr lang="en-DE" dirty="0"/>
              <a:t> </a:t>
            </a:r>
            <a:r>
              <a:rPr dirty="0"/>
              <a:t>modifying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services</a:t>
            </a:r>
            <a:r>
              <a:rPr lang="en-DE" dirty="0"/>
              <a:t> </a:t>
            </a:r>
            <a:r>
              <a:rPr dirty="0"/>
              <a:t>(JES,</a:t>
            </a:r>
            <a:r>
              <a:rPr lang="en-DE" dirty="0"/>
              <a:t> </a:t>
            </a:r>
            <a:r>
              <a:rPr dirty="0"/>
              <a:t>RACF,</a:t>
            </a:r>
            <a:r>
              <a:rPr lang="en-DE" dirty="0"/>
              <a:t> </a:t>
            </a:r>
            <a:r>
              <a:rPr dirty="0"/>
              <a:t>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lang="en-DE" dirty="0"/>
              <a:t> </a:t>
            </a:r>
            <a:r>
              <a:rPr dirty="0"/>
              <a:t>modern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(JSON,</a:t>
            </a:r>
            <a:r>
              <a:rPr lang="en-DE" dirty="0"/>
              <a:t> </a:t>
            </a:r>
            <a:r>
              <a:rPr dirty="0"/>
              <a:t>CSV,</a:t>
            </a:r>
            <a:r>
              <a:rPr lang="en-DE" dirty="0"/>
              <a:t> </a:t>
            </a:r>
            <a:r>
              <a:rPr dirty="0"/>
              <a:t>Base64,</a:t>
            </a:r>
            <a:r>
              <a:rPr lang="en-DE" dirty="0"/>
              <a:t> </a:t>
            </a:r>
            <a:r>
              <a:rPr dirty="0"/>
              <a:t>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lang="en-DE" dirty="0"/>
              <a:t> </a:t>
            </a:r>
            <a:r>
              <a:rPr dirty="0"/>
              <a:t>complex</a:t>
            </a:r>
            <a:r>
              <a:rPr lang="en-DE" dirty="0"/>
              <a:t> </a:t>
            </a:r>
            <a:r>
              <a:rPr dirty="0"/>
              <a:t>operations</a:t>
            </a:r>
            <a:r>
              <a:rPr lang="en-DE" dirty="0"/>
              <a:t> </a:t>
            </a:r>
            <a:r>
              <a:rPr dirty="0"/>
              <a:t>into</a:t>
            </a:r>
            <a:r>
              <a:rPr lang="en-DE" dirty="0"/>
              <a:t> </a:t>
            </a:r>
            <a:r>
              <a:rPr dirty="0"/>
              <a:t>SQL</a:t>
            </a:r>
            <a:r>
              <a:rPr lang="en-DE" dirty="0"/>
              <a:t> </a:t>
            </a:r>
            <a:r>
              <a:rPr dirty="0"/>
              <a:t>calls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Enable</a:t>
            </a:r>
            <a:r>
              <a:rPr lang="en-US" dirty="0"/>
              <a:t> developers to perform basic administration tasks: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Run RUNSTATS and other utilities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Cross-copy table data between schemas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1659324"/>
              </p:ext>
            </p:extLst>
          </p:nvPr>
        </p:nvGraphicFramePr>
        <p:xfrm>
          <a:off x="215999" y="660816"/>
          <a:ext cx="8583798" cy="378648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APFLIST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Returns a table with all APF authorized data sets on the system.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COBOL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BASE64ENCODE, BASE64DECODE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Encodes binary data to BASE64 and vice versa.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CROSSLOAD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Copies data from one table to another.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DB2UTILITY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Runs one or more Db2 utility statements.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EASTER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Calculates the date of Easter for a given year.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FORMATTIMESTAMP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Locale-sensitive formatting of a timestamp value.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GENERATE_SERIES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Generate a series of values between a start and an end value, with an optional step.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GZIP, GUNZIP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</a:rPr>
                        <a:t>Data compression and decompression using </a:t>
                      </a:r>
                      <a:r>
                        <a:rPr lang="en-US" sz="850" b="0" dirty="0" err="1">
                          <a:solidFill>
                            <a:schemeClr val="tx1"/>
                          </a:solidFill>
                          <a:effectLst/>
                        </a:rPr>
                        <a:t>Gzip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</a:rPr>
                        <a:t>Java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597548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HEXTOINT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Converts a hex string to integer.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RACFPROFILE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S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Sans Text" panose="020B0503050203000203" pitchFamily="34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Returns the RACF profile that covers the input data set name.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COBOL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READ_GENERIC_FILE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GT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Sans Text" panose="020B0503050203000203" pitchFamily="34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Reads records from a flat file and returns them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C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REGEX_MATCHES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Matches a regular expression against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Java or 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REGEX_REPLACE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Replaces regular expression matches within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53539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RUNSTATS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Runs statistics against a table or a set of tables.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SPLIT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Tokenizes a comma-separated string (inverse of LISTAGG).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SPRINTF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Formats one or more values according to a Java-style format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SUBMIT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Submits a JCL job stream and returns the job output as a CLOB.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SUBMIT_T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Submits a JCL job stream and returns the job output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TO_ROMAN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Converts a small integer to a Roman numeral.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TRY_INTEGER, …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Returns text converted to an integer or NULL on failure.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VALIDATE_CONVERSION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solidFill>
                            <a:schemeClr val="tx1"/>
                          </a:solidFill>
                          <a:effectLst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Tests whether a given string can be converted to a specified target type.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effectLst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54451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</a:rPr>
                        <a:t>UNLOAD_CSV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S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Sans Text" panose="020B0503050203000203" pitchFamily="34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Utilities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Sans Text" panose="020B0503050203000203" pitchFamily="34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Unloads the result of a SELECT statement in user-defined CSV format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Sans Text" panose="020B0503050203000203" pitchFamily="34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Java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Sans Text" panose="020B0503050203000203" pitchFamily="34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JSON2XML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S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Sans Text" panose="020B0503050203000203" pitchFamily="34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Data types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Sans Text" panose="020B0503050203000203" pitchFamily="34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Converts JSON to XML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Sans Text" panose="020B0503050203000203" pitchFamily="34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sym typeface="IBM Plex Sans"/>
                        </a:rPr>
                        <a:t>Java + SQL wrapper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Sans Text" panose="020B0503050203000203" pitchFamily="34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312297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31609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</a:t>
            </a:r>
            <a:r>
              <a:rPr lang="en-DE" dirty="0"/>
              <a:t> </a:t>
            </a:r>
            <a:r>
              <a:rPr dirty="0"/>
              <a:t>Overview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Four</a:t>
            </a:r>
            <a:r>
              <a:rPr lang="en-DE" dirty="0"/>
              <a:t> </a:t>
            </a:r>
            <a:r>
              <a:rPr dirty="0"/>
              <a:t>Implementation</a:t>
            </a:r>
            <a:r>
              <a:rPr lang="en-DE" dirty="0"/>
              <a:t> </a:t>
            </a:r>
            <a:r>
              <a:rPr dirty="0"/>
              <a:t>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6364035"/>
              </p:ext>
            </p:extLst>
          </p:nvPr>
        </p:nvGraphicFramePr>
        <p:xfrm>
          <a:off x="457200" y="119380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to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Simple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set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 dirty="0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Execution</a:t>
            </a:r>
            <a:r>
              <a:rPr lang="en-DE" dirty="0"/>
              <a:t> </a:t>
            </a:r>
            <a:r>
              <a:rPr dirty="0"/>
              <a:t>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Query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Db2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Engine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WLM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Environment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Function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Code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require</a:t>
            </a:r>
            <a:r>
              <a:rPr lang="en-DE" dirty="0"/>
              <a:t> </a:t>
            </a:r>
            <a:r>
              <a:rPr dirty="0"/>
              <a:t>JVM</a:t>
            </a:r>
            <a:r>
              <a:rPr lang="en-DE" dirty="0"/>
              <a:t> </a:t>
            </a:r>
            <a:r>
              <a:rPr dirty="0"/>
              <a:t>startup</a:t>
            </a:r>
            <a:r>
              <a:rPr lang="en-DE" dirty="0"/>
              <a:t> </a:t>
            </a:r>
            <a:r>
              <a:rPr dirty="0"/>
              <a:t>(one-time</a:t>
            </a:r>
            <a:r>
              <a:rPr lang="en-DE" dirty="0"/>
              <a:t> </a:t>
            </a:r>
            <a:r>
              <a:rPr dirty="0"/>
              <a:t>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minimal</a:t>
            </a:r>
            <a:r>
              <a:rPr lang="en-DE" dirty="0"/>
              <a:t> </a:t>
            </a:r>
            <a:r>
              <a:rPr dirty="0"/>
              <a:t>overhead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</a:t>
            </a:r>
            <a:r>
              <a:rPr lang="en-DE" dirty="0"/>
              <a:t> </a:t>
            </a:r>
            <a:r>
              <a:rPr dirty="0"/>
              <a:t>Categories</a:t>
            </a:r>
            <a:r>
              <a:rPr lang="en-DE" dirty="0"/>
              <a:t> </a:t>
            </a:r>
            <a:r>
              <a:rPr dirty="0"/>
              <a:t>(4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Type</a:t>
            </a:r>
            <a:r>
              <a:rPr lang="en-DE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Base64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</a:t>
            </a:r>
            <a:r>
              <a:rPr lang="en-DE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BLOB('Hello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Safe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integer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conversion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(returns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NULL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</a:t>
            </a:r>
            <a:r>
              <a:rPr lang="en-DE" dirty="0"/>
              <a:t> </a:t>
            </a:r>
            <a:r>
              <a:rPr dirty="0"/>
              <a:t>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Regular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expression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matching</a:t>
            </a: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: Find customers with invalid email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customer_id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email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customers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WHERE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REGEX_MATCHES(email, 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            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'^[a-zA-Z0-9._%+-]+@[a-zA-Z0-9.-]+</a:t>
            </a:r>
            <a:r>
              <a:rPr lang="en-DE" sz="1200" b="0" dirty="0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\.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[a-</a:t>
            </a:r>
            <a:r>
              <a:rPr lang="en-DE" sz="12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zA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-Z]{2,}$'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=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0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sz="1200" dirty="0">
                <a:latin typeface="IBM Plex Mono" panose="020B0509050203000203" pitchFamily="49" charset="0"/>
              </a:rPr>
            </a:br>
            <a:r>
              <a:rPr lang="en-US" sz="1200" b="1" dirty="0">
                <a:solidFill>
                  <a:srgbClr val="007020"/>
                </a:solidFill>
                <a:latin typeface="IBM Plex Mono" panose="020B0509050203000203" pitchFamily="49" charset="0"/>
              </a:rPr>
              <a:t>	</a:t>
            </a:r>
            <a:br>
              <a:rPr sz="1200" dirty="0">
                <a:latin typeface="IBM Plex Mono" panose="020B0509050203000203" pitchFamily="49" charset="0"/>
              </a:rPr>
            </a:br>
            <a:br>
              <a:rPr sz="1200" dirty="0">
                <a:latin typeface="IBM Plex Mono" panose="020B05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String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splitting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(inverse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of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LISTAGG)</a:t>
            </a:r>
            <a:br>
              <a:rPr sz="1200" dirty="0">
                <a:latin typeface="IBM Plex Mono" panose="020B0509050203000203" pitchFamily="49" charset="0"/>
              </a:rPr>
            </a:b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*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(SPLIT(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2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apple,banana,cherry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','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T;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Returns: apple | banana | cherry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</a:t>
            </a:r>
            <a:r>
              <a:rPr lang="en-DE" sz="1200" i="1" dirty="0" err="1">
                <a:solidFill>
                  <a:srgbClr val="60A0B0"/>
                </a:solidFill>
                <a:latin typeface="IBM Plex Mono" panose="020B0509050203000203" pitchFamily="49" charset="0"/>
              </a:rPr>
              <a:t>Printf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-style formatting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SPRINTF(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'Customer %s has balance $%.2f'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name, balance))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"Balance"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accounts;</a:t>
            </a:r>
          </a:p>
          <a:p>
            <a:pPr lvl="0">
              <a:lnSpc>
                <a:spcPct val="100000"/>
              </a:lnSpc>
            </a:pPr>
            <a:endParaRPr sz="1200" dirty="0"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031C5-7922-391A-A86F-825880341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B4B70-360F-D289-C5A9-A034017D6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JSON</a:t>
            </a:r>
            <a:r>
              <a:rPr lang="en-DE" dirty="0"/>
              <a:t> </a:t>
            </a:r>
            <a:r>
              <a:rPr dirty="0"/>
              <a:t>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Converting JSON to XML, enabling JSON processing as relational data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7C348-2ADD-BFF3-CDD7-961F200759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with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x(</a:t>
            </a:r>
            <a:r>
              <a:rPr lang="en-DE" sz="1000" b="0" dirty="0" err="1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jsonx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)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as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( </a:t>
            </a:r>
          </a:p>
          <a:p>
            <a:pPr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 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select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json2xml(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'{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  </a:t>
            </a: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"customer": {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    "id": 101,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    "name": "Alice",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    "</a:t>
            </a:r>
            <a:r>
              <a:rPr lang="en-DE" sz="1000" b="0" dirty="0" err="1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isActive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": true,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 </a:t>
            </a:r>
            <a:r>
              <a:rPr lang="en-US" sz="1000" dirty="0">
                <a:solidFill>
                  <a:srgbClr val="A31515"/>
                </a:solidFill>
                <a:latin typeface="IBM Plex Mono Text" panose="020B0509050203000203" pitchFamily="49" charset="0"/>
              </a:rPr>
              <a:t>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"orders": [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    { "</a:t>
            </a:r>
            <a:r>
              <a:rPr lang="en-DE" sz="1000" b="0" dirty="0" err="1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orderId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": "A-555",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  </a:t>
            </a: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    "items": ["Laptop", "Mouse"] },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    </a:t>
            </a: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{ "</a:t>
            </a:r>
            <a:r>
              <a:rPr lang="en-DE" sz="1000" b="0" dirty="0" err="1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orderId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": "B-777",</a:t>
            </a:r>
            <a:br>
              <a:rPr lang="en-US" sz="1000" dirty="0">
                <a:solidFill>
                  <a:srgbClr val="A31515"/>
                </a:solidFill>
                <a:latin typeface="IBM Plex Mono Text" panose="020B0509050203000203" pitchFamily="49" charset="0"/>
              </a:rPr>
            </a:br>
            <a:r>
              <a:rPr lang="en-US" sz="1000" dirty="0">
                <a:solidFill>
                  <a:srgbClr val="A31515"/>
                </a:solidFill>
                <a:latin typeface="IBM Plex Mono Text" panose="020B0509050203000203" pitchFamily="49" charset="0"/>
              </a:rPr>
              <a:t>        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"items": ["Monitor"] }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 </a:t>
            </a: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]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}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 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}'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)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from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DE" sz="1000" b="0" dirty="0" err="1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sysibm.sysdummyu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select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DE" sz="1000" b="0" dirty="0" err="1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customer_id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, </a:t>
            </a:r>
            <a:r>
              <a:rPr lang="en-DE" sz="1000" b="0" dirty="0" err="1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customer_is_active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, </a:t>
            </a:r>
            <a:r>
              <a:rPr lang="en-DE" sz="1000" b="0" dirty="0" err="1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orderId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, item</a:t>
            </a: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 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from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x, </a:t>
            </a:r>
            <a:r>
              <a:rPr lang="en-DE" sz="1000" b="0" dirty="0" err="1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xmltable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(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'customer/orders/items'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passing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DE" sz="1000" b="0" dirty="0" err="1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jsonx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                columns </a:t>
            </a:r>
            <a:r>
              <a:rPr lang="en-DE" sz="1000" b="0" dirty="0" err="1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customer_id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 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integer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   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path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'../../id'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                      , </a:t>
            </a:r>
            <a:r>
              <a:rPr lang="en-DE" sz="1000" b="0" dirty="0" err="1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cust_active</a:t>
            </a:r>
            <a:r>
              <a:rPr lang="en-US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integer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   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path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'</a:t>
            </a:r>
            <a:r>
              <a:rPr lang="en-DE" sz="1000" b="0" dirty="0" err="1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xs:boolean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(../../</a:t>
            </a:r>
            <a:r>
              <a:rPr lang="en-DE" sz="1000" b="0" dirty="0" err="1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isActive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)'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                      , </a:t>
            </a:r>
            <a:r>
              <a:rPr lang="en-DE" sz="1000" b="0" dirty="0" err="1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orderId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     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varchar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(</a:t>
            </a:r>
            <a:r>
              <a:rPr lang="en-DE" sz="1000" b="0" dirty="0">
                <a:solidFill>
                  <a:srgbClr val="098658"/>
                </a:solidFill>
                <a:effectLst/>
                <a:latin typeface="IBM Plex Mono Text" panose="020B0509050203000203" pitchFamily="49" charset="0"/>
              </a:rPr>
              <a:t>8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)  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path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'../</a:t>
            </a:r>
            <a:r>
              <a:rPr lang="en-DE" sz="1000" b="0" dirty="0" err="1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orderId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'</a:t>
            </a:r>
            <a:endParaRPr lang="en-DE" sz="1000" b="0" dirty="0">
              <a:solidFill>
                <a:srgbClr val="3B3B3B"/>
              </a:solidFill>
              <a:effectLst/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                      , item        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varchar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(</a:t>
            </a:r>
            <a:r>
              <a:rPr lang="en-DE" sz="1000" b="0" dirty="0">
                <a:solidFill>
                  <a:srgbClr val="098658"/>
                </a:solidFill>
                <a:effectLst/>
                <a:latin typeface="IBM Plex Mono Text" panose="020B0509050203000203" pitchFamily="49" charset="0"/>
              </a:rPr>
              <a:t>32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) </a:t>
            </a:r>
            <a:r>
              <a:rPr lang="en-DE" sz="1000" b="0" dirty="0">
                <a:solidFill>
                  <a:srgbClr val="0000FF"/>
                </a:solidFill>
                <a:effectLst/>
                <a:latin typeface="IBM Plex Mono Text" panose="020B0509050203000203" pitchFamily="49" charset="0"/>
              </a:rPr>
              <a:t>path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 </a:t>
            </a:r>
            <a:r>
              <a:rPr lang="en-DE" sz="1000" b="0" dirty="0">
                <a:solidFill>
                  <a:srgbClr val="A31515"/>
                </a:solidFill>
                <a:effectLst/>
                <a:latin typeface="IBM Plex Mono Text" panose="020B0509050203000203" pitchFamily="49" charset="0"/>
              </a:rPr>
              <a:t>'.'</a:t>
            </a:r>
            <a:r>
              <a:rPr lang="en-DE" sz="1000" b="0" dirty="0">
                <a:solidFill>
                  <a:srgbClr val="3B3B3B"/>
                </a:solidFill>
                <a:effectLst/>
                <a:latin typeface="IBM Plex Mono Text" panose="020B0509050203000203" pitchFamily="49" charset="0"/>
              </a:rPr>
              <a:t>);</a:t>
            </a:r>
          </a:p>
          <a:p>
            <a:pPr lvl="0">
              <a:lnSpc>
                <a:spcPct val="100000"/>
              </a:lnSpc>
            </a:pPr>
            <a:endParaRPr sz="8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4385036-60AE-5DF2-3835-A82C7B1D2B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3331458"/>
              </p:ext>
            </p:extLst>
          </p:nvPr>
        </p:nvGraphicFramePr>
        <p:xfrm>
          <a:off x="4807527" y="1247775"/>
          <a:ext cx="3801488" cy="15695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950372">
                  <a:extLst>
                    <a:ext uri="{9D8B030D-6E8A-4147-A177-3AD203B41FA5}">
                      <a16:colId xmlns:a16="http://schemas.microsoft.com/office/drawing/2014/main" val="2880078223"/>
                    </a:ext>
                  </a:extLst>
                </a:gridCol>
                <a:gridCol w="950372">
                  <a:extLst>
                    <a:ext uri="{9D8B030D-6E8A-4147-A177-3AD203B41FA5}">
                      <a16:colId xmlns:a16="http://schemas.microsoft.com/office/drawing/2014/main" val="3777274746"/>
                    </a:ext>
                  </a:extLst>
                </a:gridCol>
                <a:gridCol w="950372">
                  <a:extLst>
                    <a:ext uri="{9D8B030D-6E8A-4147-A177-3AD203B41FA5}">
                      <a16:colId xmlns:a16="http://schemas.microsoft.com/office/drawing/2014/main" val="1552266511"/>
                    </a:ext>
                  </a:extLst>
                </a:gridCol>
                <a:gridCol w="950372">
                  <a:extLst>
                    <a:ext uri="{9D8B030D-6E8A-4147-A177-3AD203B41FA5}">
                      <a16:colId xmlns:a16="http://schemas.microsoft.com/office/drawing/2014/main" val="453721688"/>
                    </a:ext>
                  </a:extLst>
                </a:gridCol>
              </a:tblGrid>
              <a:tr h="392390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DE" sz="800" dirty="0">
                          <a:solidFill>
                            <a:schemeClr val="bg1"/>
                          </a:solidFill>
                          <a:effectLst/>
                          <a:latin typeface="IBM Plex Sans" panose="020B0503050203000203" pitchFamily="34" charset="0"/>
                        </a:rPr>
                        <a:t>CUSTOMER_ID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DE" sz="800" dirty="0">
                          <a:solidFill>
                            <a:schemeClr val="bg1"/>
                          </a:solidFill>
                          <a:effectLst/>
                          <a:latin typeface="IBM Plex Sans" panose="020B0503050203000203" pitchFamily="34" charset="0"/>
                        </a:rPr>
                        <a:t>CUST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  <a:effectLst/>
                          <a:latin typeface="IBM Plex Sans" panose="020B0503050203000203" pitchFamily="34" charset="0"/>
                        </a:rPr>
                        <a:t>_</a:t>
                      </a:r>
                      <a:r>
                        <a:rPr lang="en-DE" sz="800" dirty="0">
                          <a:solidFill>
                            <a:schemeClr val="bg1"/>
                          </a:solidFill>
                          <a:effectLst/>
                          <a:latin typeface="IBM Plex Sans" panose="020B0503050203000203" pitchFamily="34" charset="0"/>
                        </a:rPr>
                        <a:t>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DE" sz="800" dirty="0">
                          <a:solidFill>
                            <a:schemeClr val="bg1"/>
                          </a:solidFill>
                          <a:effectLst/>
                          <a:latin typeface="IBM Plex Sans" panose="020B0503050203000203" pitchFamily="34" charset="0"/>
                        </a:rPr>
                        <a:t>ORDERID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DE" sz="800" dirty="0">
                          <a:solidFill>
                            <a:schemeClr val="bg1"/>
                          </a:solidFill>
                          <a:effectLst/>
                          <a:latin typeface="IBM Plex Sans" panose="020B0503050203000203" pitchFamily="34" charset="0"/>
                        </a:rPr>
                        <a:t>ITEM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7055467"/>
                  </a:ext>
                </a:extLst>
              </a:tr>
              <a:tr h="3923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 dirty="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101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 dirty="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A-555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Laptop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9538412"/>
                  </a:ext>
                </a:extLst>
              </a:tr>
              <a:tr h="3923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101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 dirty="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 dirty="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A-555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Mouse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7026272"/>
                  </a:ext>
                </a:extLst>
              </a:tr>
              <a:tr h="3923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101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 dirty="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B-777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800" dirty="0">
                          <a:solidFill>
                            <a:srgbClr val="525252"/>
                          </a:solidFill>
                          <a:effectLst/>
                          <a:latin typeface="IBM Plex Sans" panose="020B0503050203000203" pitchFamily="34" charset="0"/>
                        </a:rPr>
                        <a:t>Monitor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7296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9301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</a:t>
            </a:r>
            <a:r>
              <a:rPr lang="en-DE" dirty="0"/>
              <a:t> </a:t>
            </a:r>
            <a:r>
              <a:rPr dirty="0"/>
              <a:t>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List APF-authorized libraries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dsname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volser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sms_managed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(APFLIST())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ORDER BY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dsname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Find RACF profile for dataset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RACFPROFILE(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'PROD.PAYROLL.DATA'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</a:t>
            </a:r>
            <a:r>
              <a:rPr lang="en-US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Read flat file with complex structure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account_id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balance,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last_update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(READ_GENERIC_FILE(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'PROD.CUSTOMER.DATA'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T(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account_id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CHAR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balance   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DECIMAL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15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2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last_update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DATE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);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Run statistics on multiple tables</a:t>
            </a:r>
            <a:br>
              <a:rPr lang="en-US" sz="1200" dirty="0">
                <a:latin typeface="IBM Plex Mono" panose="020B0509050203000203" pitchFamily="49" charset="0"/>
              </a:rPr>
            </a:b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runstats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'TABLES'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'DSN81310'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'EMP%'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 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sysibm.sysdummyu</a:t>
            </a: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  <a:buNone/>
            </a:pPr>
            <a:br>
              <a:rPr lang="en-US" sz="1200" dirty="0">
                <a:latin typeface="IBM Plex Mono" panose="020B0509050203000203" pitchFamily="49" charset="0"/>
              </a:rPr>
            </a:br>
            <a:br>
              <a:rPr lang="en-US" sz="1200" dirty="0">
                <a:latin typeface="IBM Plex Mono" panose="020B0509050203000203" pitchFamily="49" charset="0"/>
              </a:rPr>
            </a:b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Copy table across databases</a:t>
            </a:r>
            <a:br>
              <a:rPr lang="en-US" sz="1200" dirty="0">
                <a:latin typeface="IBM Plex Mono" panose="020B0509050203000203" pitchFamily="49" charset="0"/>
              </a:rPr>
            </a:b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create table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emp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like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dsn81310.emp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in database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testuts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  <a:buNone/>
            </a:pPr>
            <a:b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crossload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dsn81310.emp'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        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current </a:t>
            </a:r>
            <a:r>
              <a:rPr lang="en-DE" b="0" dirty="0" err="1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sqlid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'EMP'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        </a:t>
            </a:r>
            <a:r>
              <a:rPr lang="en-DE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100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rc</a:t>
            </a: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sysibm.sysdummyu</a:t>
            </a: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Technical</a:t>
            </a:r>
            <a:r>
              <a:rPr lang="en-DE" dirty="0"/>
              <a:t> </a:t>
            </a:r>
            <a:r>
              <a:rPr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native</a:t>
            </a:r>
            <a:r>
              <a:rPr lang="en-DE" dirty="0"/>
              <a:t> </a:t>
            </a:r>
            <a:r>
              <a:rPr dirty="0"/>
              <a:t>utility-style</a:t>
            </a:r>
            <a:r>
              <a:rPr lang="en-DE" dirty="0"/>
              <a:t> </a:t>
            </a:r>
            <a:r>
              <a:rPr dirty="0"/>
              <a:t>unload</a:t>
            </a:r>
            <a:r>
              <a:rPr lang="en-DE" dirty="0"/>
              <a:t> </a:t>
            </a:r>
            <a:r>
              <a:rPr dirty="0"/>
              <a:t>flows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immediate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is</a:t>
            </a:r>
            <a:r>
              <a:rPr lang="en-DE" dirty="0"/>
              <a:t> </a:t>
            </a:r>
            <a:r>
              <a:rPr dirty="0"/>
              <a:t>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</a:t>
            </a:r>
            <a:r>
              <a:rPr lang="en-DE" dirty="0"/>
              <a:t> </a:t>
            </a:r>
            <a:r>
              <a:rPr dirty="0"/>
              <a:t>ad</a:t>
            </a:r>
            <a:r>
              <a:rPr lang="en-DE" dirty="0"/>
              <a:t> </a:t>
            </a:r>
            <a:r>
              <a:rPr dirty="0"/>
              <a:t>hoc</a:t>
            </a:r>
            <a:r>
              <a:rPr lang="en-DE" dirty="0"/>
              <a:t> </a:t>
            </a:r>
            <a:r>
              <a:rPr dirty="0"/>
              <a:t>extract,</a:t>
            </a:r>
            <a:r>
              <a:rPr lang="en-DE" dirty="0"/>
              <a:t> </a:t>
            </a:r>
            <a:r>
              <a:rPr dirty="0"/>
              <a:t>operational</a:t>
            </a:r>
            <a:r>
              <a:rPr lang="en-DE" dirty="0"/>
              <a:t> </a:t>
            </a:r>
            <a:r>
              <a:rPr dirty="0"/>
              <a:t>reporting,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downstream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handoff</a:t>
            </a:r>
            <a:r>
              <a:rPr lang="en-DE" dirty="0"/>
              <a:t> </a:t>
            </a:r>
            <a:r>
              <a:rPr dirty="0"/>
              <a:t>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</a:t>
            </a:r>
            <a:r>
              <a:rPr lang="en-DE" dirty="0"/>
              <a:t> </a:t>
            </a:r>
            <a:r>
              <a:rPr dirty="0"/>
              <a:t>caller-supplied</a:t>
            </a:r>
            <a:r>
              <a:rPr lang="en-DE" dirty="0"/>
              <a:t> </a:t>
            </a:r>
            <a:r>
              <a:rPr dirty="0"/>
              <a:t>dynamic</a:t>
            </a:r>
            <a:r>
              <a:rPr lang="en-DE" dirty="0"/>
              <a:t> </a:t>
            </a:r>
            <a:r>
              <a:rPr dirty="0">
                <a:latin typeface="IBM Plex Mono Text" panose="020B0509050203000203" pitchFamily="49" charset="0"/>
              </a:rPr>
              <a:t>SELECT</a:t>
            </a:r>
            <a:r>
              <a:rPr lang="en-DE"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paths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MVS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set</a:t>
            </a:r>
            <a:r>
              <a:rPr lang="en-DE" dirty="0"/>
              <a:t> </a:t>
            </a:r>
            <a:r>
              <a:rPr dirty="0"/>
              <a:t>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predefined</a:t>
            </a:r>
            <a:r>
              <a:rPr lang="en-DE" dirty="0"/>
              <a:t> </a:t>
            </a:r>
            <a:r>
              <a:rPr dirty="0"/>
              <a:t>Apache</a:t>
            </a:r>
            <a:r>
              <a:rPr lang="en-DE" dirty="0"/>
              <a:t> </a:t>
            </a:r>
            <a:r>
              <a:rPr dirty="0"/>
              <a:t>Commons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>
                <a:latin typeface="IBM Plex Mono Text" panose="020B0509050203000203" pitchFamily="49" charset="0"/>
              </a:rPr>
              <a:t>key=value</a:t>
            </a:r>
            <a:r>
              <a:rPr lang="en-DE" dirty="0"/>
              <a:t> </a:t>
            </a:r>
            <a:r>
              <a:rPr dirty="0"/>
              <a:t>format</a:t>
            </a:r>
            <a:r>
              <a:rPr lang="en-DE" dirty="0"/>
              <a:t>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</a:t>
            </a:r>
            <a:r>
              <a:rPr lang="en-DE" dirty="0"/>
              <a:t> </a:t>
            </a:r>
            <a:r>
              <a:rPr dirty="0"/>
              <a:t>CCSID-aware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and t</a:t>
            </a:r>
            <a:r>
              <a:rPr dirty="0"/>
              <a:t>ags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files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requested</a:t>
            </a:r>
            <a:r>
              <a:rPr lang="en-DE" dirty="0"/>
              <a:t> </a:t>
            </a:r>
            <a:r>
              <a:rPr dirty="0"/>
              <a:t>CCSID</a:t>
            </a:r>
            <a:r>
              <a:rPr lang="en-DE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</a:t>
            </a:r>
            <a:r>
              <a:rPr lang="en-DE" dirty="0"/>
              <a:t> </a:t>
            </a:r>
            <a:r>
              <a:rPr dirty="0"/>
              <a:t>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Default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EMPNO, LASTNAME, WORKDEPT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     FROM DSN81310.EMP'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/emp.csv'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Extended invocation: format and CCSID specs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SYSIBM.SYSTABLES'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/systables.csv'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'RFC4180'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1208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'N'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Custom format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C1, C2, C3 FROM APP.T1'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/t1_pipe</a:t>
            </a:r>
            <a:r>
              <a:rPr lang="en-DE" sz="1100" dirty="0">
                <a:solidFill>
                  <a:srgbClr val="A31515"/>
                </a:solidFill>
                <a:latin typeface="IBM Plex Mono" panose="020B0509050203000203" pitchFamily="49" charset="0"/>
              </a:rPr>
              <a:t>.txt',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dirty="0">
                <a:solidFill>
                  <a:srgbClr val="A31515"/>
                </a:solidFill>
                <a:latin typeface="IBM Plex Mono" panose="020B0509050203000203" pitchFamily="49" charset="0"/>
              </a:rPr>
              <a:t>'delimiter=\|;</a:t>
            </a:r>
            <a:r>
              <a:rPr lang="en-DE" sz="1100" dirty="0" err="1">
                <a:solidFill>
                  <a:srgbClr val="A31515"/>
                </a:solidFill>
                <a:latin typeface="IBM Plex Mono" panose="020B0509050203000203" pitchFamily="49" charset="0"/>
              </a:rPr>
              <a:t>quoteMode</a:t>
            </a:r>
            <a:r>
              <a:rPr lang="en-DE" sz="1100" dirty="0">
                <a:solidFill>
                  <a:srgbClr val="A31515"/>
                </a:solidFill>
                <a:latin typeface="IBM Plex Mono" panose="020B0509050203000203" pitchFamily="49" charset="0"/>
              </a:rPr>
              <a:t>=MINIMAL;' 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||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nullString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=</a:t>
            </a:r>
            <a:r>
              <a:rPr lang="en-DE" sz="1100" b="0" dirty="0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\</a:t>
            </a:r>
            <a:r>
              <a:rPr lang="en-DE" sz="1100" b="0" dirty="0" err="1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N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;trim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=true'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1208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'Y'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MVS target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DSN81310.EMP'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'//HLQ.EXPORT.EMP'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'Excel'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1047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'Y'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Installation</a:t>
            </a:r>
            <a:br>
              <a:rPr lang="en-US" dirty="0"/>
            </a:br>
            <a:r>
              <a:rPr dirty="0"/>
              <a:t>(3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12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13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configured</a:t>
            </a:r>
            <a:r>
              <a:rPr lang="en-DE" dirty="0"/>
              <a:t> </a:t>
            </a:r>
            <a:r>
              <a:rPr dirty="0"/>
              <a:t>(Java,</a:t>
            </a:r>
            <a:r>
              <a:rPr lang="en-DE" dirty="0"/>
              <a:t> </a:t>
            </a:r>
            <a:r>
              <a:rPr dirty="0"/>
              <a:t>C,</a:t>
            </a:r>
            <a:r>
              <a:rPr lang="en-DE" dirty="0"/>
              <a:t> </a:t>
            </a:r>
            <a:r>
              <a:rPr dirty="0"/>
              <a:t>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authorities</a:t>
            </a:r>
            <a:r>
              <a:rPr lang="en-DE" dirty="0"/>
              <a:t> </a:t>
            </a:r>
            <a:r>
              <a:rPr dirty="0"/>
              <a:t>(SYSADM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schema</a:t>
            </a:r>
            <a:r>
              <a:rPr lang="en-DE" dirty="0"/>
              <a:t> </a:t>
            </a:r>
            <a:r>
              <a:rPr dirty="0"/>
              <a:t>owner)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Installation</a:t>
            </a:r>
            <a:r>
              <a:rPr lang="en-DE" dirty="0"/>
              <a:t> </a:t>
            </a:r>
            <a:r>
              <a:rPr dirty="0"/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1.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schema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2.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functions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(run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DDL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scripts)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3.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JAR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SQLJ.DB2_INSTALL_JAR(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sz="700" dirty="0"/>
            </a:br>
            <a:r>
              <a:rPr sz="700" dirty="0">
                <a:latin typeface="IBM Plex Mono Light" panose="020B0409050203000203" pitchFamily="49" charset="0"/>
              </a:rPr>
              <a:t>);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4.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5.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C/COBOL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6.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privileges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PROD_ROUTINES.</a:t>
            </a:r>
            <a:r>
              <a:rPr sz="7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APP_ROLE;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7.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Refresh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WLM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SYSPROC.WLM_REFRESH(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?);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Test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each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US" dirty="0">
                <a:latin typeface="IBM Plex Mono Light" panose="020B0409050203000203" pitchFamily="49" charset="0"/>
              </a:rPr>
              <a:t>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COBOL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Critical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Points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most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when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Input</a:t>
            </a:r>
            <a:r>
              <a:rPr lang="en-DE" b="1" dirty="0"/>
              <a:t> </a:t>
            </a:r>
            <a:r>
              <a:rPr b="1" dirty="0"/>
              <a:t>Validation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Always</a:t>
            </a:r>
            <a:r>
              <a:rPr lang="en-DE" dirty="0"/>
              <a:t> </a:t>
            </a:r>
            <a:r>
              <a:rPr dirty="0"/>
              <a:t>validate</a:t>
            </a:r>
            <a:r>
              <a:rPr lang="en-DE" dirty="0"/>
              <a:t> </a:t>
            </a:r>
            <a:r>
              <a:rPr dirty="0"/>
              <a:t>NULL,</a:t>
            </a:r>
            <a:r>
              <a:rPr lang="en-DE" dirty="0"/>
              <a:t> </a:t>
            </a:r>
            <a:r>
              <a:rPr dirty="0"/>
              <a:t>length,</a:t>
            </a:r>
            <a:r>
              <a:rPr lang="en-DE" dirty="0"/>
              <a:t> </a:t>
            </a:r>
            <a:r>
              <a:rPr dirty="0"/>
              <a:t>format</a:t>
            </a:r>
          </a:p>
          <a:p>
            <a:pPr marL="342900" lvl="0" indent="-342900">
              <a:buAutoNum type="arabicPeriod"/>
            </a:pPr>
            <a:r>
              <a:rPr b="1" dirty="0"/>
              <a:t>Least</a:t>
            </a:r>
            <a:r>
              <a:rPr lang="en-DE" b="1" dirty="0"/>
              <a:t> </a:t>
            </a:r>
            <a:r>
              <a:rPr b="1" dirty="0"/>
              <a:t>Privilege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Grant</a:t>
            </a:r>
            <a:r>
              <a:rPr lang="en-DE" dirty="0"/>
              <a:t> </a:t>
            </a:r>
            <a:r>
              <a:rPr dirty="0"/>
              <a:t>EXECUTE</a:t>
            </a:r>
            <a:r>
              <a:rPr lang="en-DE" dirty="0"/>
              <a:t> </a:t>
            </a:r>
            <a:r>
              <a:rPr dirty="0"/>
              <a:t>only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authorized</a:t>
            </a:r>
            <a:r>
              <a:rPr lang="en-DE" dirty="0"/>
              <a:t> </a:t>
            </a:r>
            <a:r>
              <a:rPr dirty="0"/>
              <a:t>users</a:t>
            </a:r>
          </a:p>
          <a:p>
            <a:pPr marL="342900" lvl="0" indent="-342900">
              <a:buAutoNum type="arabicPeriod"/>
            </a:pPr>
            <a:r>
              <a:rPr b="1" dirty="0"/>
              <a:t>Audit</a:t>
            </a:r>
            <a:r>
              <a:rPr lang="en-DE" b="1" dirty="0"/>
              <a:t> </a:t>
            </a:r>
            <a:r>
              <a:rPr b="1" dirty="0"/>
              <a:t>Logging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Track</a:t>
            </a:r>
            <a:r>
              <a:rPr lang="en-DE" dirty="0"/>
              <a:t> </a:t>
            </a:r>
            <a:r>
              <a:rPr dirty="0"/>
              <a:t>function</a:t>
            </a:r>
            <a:r>
              <a:rPr lang="en-DE" dirty="0"/>
              <a:t> </a:t>
            </a:r>
            <a:r>
              <a:rPr dirty="0"/>
              <a:t>usage</a:t>
            </a:r>
          </a:p>
          <a:p>
            <a:pPr marL="342900" lvl="0" indent="-342900">
              <a:buAutoNum type="arabicPeriod"/>
            </a:pPr>
            <a:r>
              <a:rPr b="1" dirty="0"/>
              <a:t>RACF</a:t>
            </a:r>
            <a:r>
              <a:rPr lang="en-DE" b="1" dirty="0"/>
              <a:t> </a:t>
            </a:r>
            <a:r>
              <a:rPr b="1" dirty="0"/>
              <a:t>Integration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respect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controls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dirty="0"/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</a:t>
            </a:r>
            <a:r>
              <a:rPr lang="en-DE" b="1" dirty="0"/>
              <a:t> </a:t>
            </a:r>
            <a:r>
              <a:rPr b="1" dirty="0"/>
              <a:t>SQL</a:t>
            </a:r>
            <a:r>
              <a:rPr lang="en-DE" b="1" dirty="0"/>
              <a:t> </a:t>
            </a:r>
            <a:r>
              <a:rPr b="1" dirty="0"/>
              <a:t>functions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possible</a:t>
            </a:r>
            <a:r>
              <a:rPr lang="en-DE" dirty="0"/>
              <a:t> </a:t>
            </a:r>
            <a:r>
              <a:rPr dirty="0"/>
              <a:t>(lowest</a:t>
            </a:r>
            <a:r>
              <a:rPr lang="en-DE" dirty="0"/>
              <a:t> </a:t>
            </a:r>
            <a:r>
              <a:rPr dirty="0"/>
              <a:t>overhead)</a:t>
            </a:r>
          </a:p>
          <a:p>
            <a:pPr marL="342900" lvl="0" indent="-342900">
              <a:buAutoNum type="arabicPeriod"/>
            </a:pPr>
            <a:r>
              <a:rPr b="1" dirty="0"/>
              <a:t>Set</a:t>
            </a:r>
            <a:r>
              <a:rPr lang="en-DE" b="1" dirty="0"/>
              <a:t> </a:t>
            </a:r>
            <a:r>
              <a:rPr b="1" dirty="0"/>
              <a:t>ASUTIME</a:t>
            </a:r>
            <a:r>
              <a:rPr lang="en-DE" b="1" dirty="0"/>
              <a:t> </a:t>
            </a:r>
            <a:r>
              <a:rPr b="1" dirty="0"/>
              <a:t>limits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prevent</a:t>
            </a:r>
            <a:r>
              <a:rPr lang="en-DE" dirty="0"/>
              <a:t> </a:t>
            </a:r>
            <a:r>
              <a:rPr dirty="0"/>
              <a:t>runaway</a:t>
            </a:r>
            <a:r>
              <a:rPr lang="en-DE" dirty="0"/>
              <a:t> </a:t>
            </a:r>
            <a:r>
              <a:rPr dirty="0"/>
              <a:t>execution</a:t>
            </a:r>
          </a:p>
          <a:p>
            <a:pPr marL="342900" lvl="0" indent="-342900">
              <a:buAutoNum type="arabicPeriod"/>
            </a:pPr>
            <a:r>
              <a:rPr b="1" dirty="0"/>
              <a:t>Filter</a:t>
            </a:r>
            <a:r>
              <a:rPr lang="en-DE" b="1" dirty="0"/>
              <a:t> </a:t>
            </a:r>
            <a:r>
              <a:rPr b="1" dirty="0"/>
              <a:t>early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WHERE</a:t>
            </a:r>
            <a:r>
              <a:rPr lang="en-DE" dirty="0"/>
              <a:t> </a:t>
            </a:r>
            <a:r>
              <a:rPr dirty="0"/>
              <a:t>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</a:t>
            </a:r>
            <a:r>
              <a:rPr lang="en-DE" b="1" dirty="0"/>
              <a:t> </a:t>
            </a:r>
            <a:r>
              <a:rPr b="1" dirty="0"/>
              <a:t>DETERMINISTIC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caching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Typical</a:t>
            </a:r>
            <a:r>
              <a:rPr lang="en-DE" dirty="0"/>
              <a:t> </a:t>
            </a:r>
            <a:r>
              <a:rPr dirty="0"/>
              <a:t>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EASTER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Pure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REGEX_MATCHES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caching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BSAM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Troubleshooting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Common</a:t>
            </a:r>
            <a:r>
              <a:rPr lang="en-DE" dirty="0"/>
              <a:t> </a:t>
            </a:r>
            <a:r>
              <a:rPr dirty="0"/>
              <a:t>Issues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-430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JAR,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refresh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ABEND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S0C4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STEPLIB,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verify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-905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ASUTIME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-551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EXECUTE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Preparation</a:t>
            </a:r>
            <a:r>
              <a:rPr lang="en-DE" dirty="0"/>
              <a:t> </a:t>
            </a:r>
            <a:r>
              <a:rPr dirty="0"/>
              <a:t>Checklist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Before</a:t>
            </a:r>
            <a:r>
              <a:rPr lang="en-DE" dirty="0"/>
              <a:t> </a:t>
            </a:r>
            <a:r>
              <a:rPr dirty="0"/>
              <a:t>Demos</a:t>
            </a:r>
            <a:r>
              <a:rPr lang="en-DE" dirty="0"/>
              <a:t> </a:t>
            </a:r>
            <a:r>
              <a:rPr dirty="0"/>
              <a:t>(5</a:t>
            </a:r>
            <a:r>
              <a:rPr lang="en-DE" dirty="0"/>
              <a:t> </a:t>
            </a:r>
            <a:r>
              <a:rPr dirty="0"/>
              <a:t>minutes</a:t>
            </a:r>
            <a:r>
              <a:rPr lang="en-DE" dirty="0"/>
              <a:t> </a:t>
            </a:r>
            <a:r>
              <a:rPr dirty="0"/>
              <a:t>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Verify</a:t>
            </a:r>
            <a:r>
              <a:rPr lang="en-DE" dirty="0"/>
              <a:t> </a:t>
            </a: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active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connection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sample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tables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JCL</a:t>
            </a:r>
            <a:r>
              <a:rPr lang="en-DE" dirty="0"/>
              <a:t> </a:t>
            </a:r>
            <a:r>
              <a:rPr dirty="0"/>
              <a:t>ready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SUBMIT</a:t>
            </a:r>
            <a:r>
              <a:rPr lang="en-DE" dirty="0"/>
              <a:t> </a:t>
            </a:r>
            <a:r>
              <a:rPr dirty="0"/>
              <a:t>demo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flat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READ_GENERIC_FILE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each</a:t>
            </a:r>
            <a:r>
              <a:rPr lang="en-DE" dirty="0"/>
              <a:t> </a:t>
            </a: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query</a:t>
            </a:r>
            <a:r>
              <a:rPr lang="en-DE" dirty="0"/>
              <a:t> </a:t>
            </a:r>
            <a:r>
              <a:rPr dirty="0"/>
              <a:t>once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Sequence</a:t>
            </a:r>
            <a:r>
              <a:rPr lang="en-DE" dirty="0"/>
              <a:t> </a:t>
            </a:r>
            <a:r>
              <a:rPr dirty="0"/>
              <a:t>(30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</a:t>
            </a:r>
            <a:r>
              <a:rPr lang="en-DE" sz="1300" b="1" dirty="0"/>
              <a:t> </a:t>
            </a:r>
            <a:r>
              <a:rPr sz="1300" b="1" dirty="0"/>
              <a:t>Type</a:t>
            </a:r>
            <a:r>
              <a:rPr lang="en-DE" sz="1300" b="1" dirty="0"/>
              <a:t> </a:t>
            </a:r>
            <a:r>
              <a:rPr sz="1300" b="1" dirty="0"/>
              <a:t>Conversion</a:t>
            </a:r>
            <a:r>
              <a:rPr lang="en-DE" sz="1300" dirty="0"/>
              <a:t> </a:t>
            </a:r>
            <a:r>
              <a:rPr sz="1300" dirty="0"/>
              <a:t>(5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Base64</a:t>
            </a:r>
            <a:r>
              <a:rPr lang="en-DE" sz="1300" dirty="0"/>
              <a:t> </a:t>
            </a:r>
            <a:r>
              <a:rPr sz="1300" dirty="0"/>
              <a:t>encode/decode</a:t>
            </a:r>
          </a:p>
          <a:p>
            <a:pPr marL="342000" lvl="1" indent="342000"/>
            <a:r>
              <a:rPr sz="1300" dirty="0"/>
              <a:t>TRY_INTEGER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bad</a:t>
            </a:r>
            <a:r>
              <a:rPr lang="en-DE" sz="1300" dirty="0"/>
              <a:t> </a:t>
            </a:r>
            <a:r>
              <a:rPr sz="1300" dirty="0"/>
              <a:t>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</a:t>
            </a:r>
            <a:r>
              <a:rPr lang="en-DE" sz="1300" b="1" dirty="0"/>
              <a:t> </a:t>
            </a:r>
            <a:r>
              <a:rPr sz="1300" b="1" dirty="0"/>
              <a:t>Processing</a:t>
            </a:r>
            <a:r>
              <a:rPr lang="en-DE" sz="1300" dirty="0"/>
              <a:t> </a:t>
            </a:r>
            <a:r>
              <a:rPr sz="1300" dirty="0"/>
              <a:t>(7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Email</a:t>
            </a:r>
            <a:r>
              <a:rPr lang="en-DE" sz="1300" dirty="0"/>
              <a:t> </a:t>
            </a:r>
            <a:r>
              <a:rPr sz="1300" dirty="0"/>
              <a:t>validation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REGEX_MATCHES</a:t>
            </a:r>
          </a:p>
          <a:p>
            <a:pPr marL="342000" lvl="1" indent="342000"/>
            <a:r>
              <a:rPr sz="1300" dirty="0"/>
              <a:t>CSV</a:t>
            </a:r>
            <a:r>
              <a:rPr lang="en-DE" sz="1300" dirty="0"/>
              <a:t> </a:t>
            </a:r>
            <a:r>
              <a:rPr sz="1300" dirty="0"/>
              <a:t>parsing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SPLIT</a:t>
            </a:r>
          </a:p>
          <a:p>
            <a:pPr marL="342000" lvl="1" indent="342000"/>
            <a:r>
              <a:rPr sz="1300" dirty="0"/>
              <a:t>Formatted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</a:t>
            </a:r>
            <a:r>
              <a:rPr lang="en-DE" sz="1300" b="1" dirty="0"/>
              <a:t> </a:t>
            </a:r>
            <a:r>
              <a:rPr sz="1300" b="1" dirty="0"/>
              <a:t>Integration</a:t>
            </a:r>
            <a:r>
              <a:rPr lang="en-DE" sz="1300" dirty="0"/>
              <a:t> </a:t>
            </a:r>
            <a:r>
              <a:rPr sz="1300" dirty="0"/>
              <a:t>(8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Query</a:t>
            </a:r>
            <a:r>
              <a:rPr lang="en-DE" sz="1300" dirty="0"/>
              <a:t> </a:t>
            </a:r>
            <a:r>
              <a:rPr sz="1300" dirty="0"/>
              <a:t>APF</a:t>
            </a:r>
            <a:r>
              <a:rPr lang="en-DE" sz="1300" dirty="0"/>
              <a:t> </a:t>
            </a:r>
            <a:r>
              <a:rPr sz="1300" dirty="0"/>
              <a:t>list</a:t>
            </a:r>
          </a:p>
          <a:p>
            <a:pPr marL="342000" lvl="1" indent="342000"/>
            <a:r>
              <a:rPr sz="1300" dirty="0"/>
              <a:t>Check</a:t>
            </a:r>
            <a:r>
              <a:rPr lang="en-DE" sz="1300" dirty="0"/>
              <a:t> </a:t>
            </a:r>
            <a:r>
              <a:rPr sz="1300" dirty="0"/>
              <a:t>RACF</a:t>
            </a:r>
            <a:r>
              <a:rPr lang="en-DE" sz="1300" dirty="0"/>
              <a:t> </a:t>
            </a:r>
            <a:r>
              <a:rPr sz="1300" dirty="0"/>
              <a:t>profiles</a:t>
            </a:r>
          </a:p>
          <a:p>
            <a:pPr marL="342000" lvl="1" indent="342000"/>
            <a:r>
              <a:rPr sz="1300" dirty="0"/>
              <a:t>Read</a:t>
            </a:r>
            <a:r>
              <a:rPr lang="en-DE" sz="1300" dirty="0"/>
              <a:t> </a:t>
            </a:r>
            <a:r>
              <a:rPr sz="1300" dirty="0"/>
              <a:t>flat</a:t>
            </a:r>
            <a:r>
              <a:rPr lang="en-DE" sz="1300" dirty="0"/>
              <a:t> </a:t>
            </a:r>
            <a:r>
              <a:rPr sz="1300" dirty="0"/>
              <a:t>file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complex</a:t>
            </a:r>
            <a:r>
              <a:rPr lang="en-DE" sz="1300" dirty="0"/>
              <a:t> </a:t>
            </a:r>
            <a:r>
              <a:rPr sz="1300" dirty="0"/>
              <a:t>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</a:t>
            </a:r>
            <a:r>
              <a:rPr lang="en-DE" sz="1300" b="1" dirty="0"/>
              <a:t> </a:t>
            </a:r>
            <a:r>
              <a:rPr sz="1300" b="1" dirty="0"/>
              <a:t>Utilities</a:t>
            </a:r>
            <a:r>
              <a:rPr lang="en-DE" sz="1300" dirty="0"/>
              <a:t> </a:t>
            </a:r>
            <a:r>
              <a:rPr sz="1300" dirty="0"/>
              <a:t>(10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Automated</a:t>
            </a:r>
            <a:r>
              <a:rPr lang="en-DE" sz="1300" dirty="0"/>
              <a:t> </a:t>
            </a:r>
            <a:r>
              <a:rPr sz="1300" dirty="0"/>
              <a:t>RUNSTATS</a:t>
            </a:r>
          </a:p>
          <a:p>
            <a:pPr marL="342000" lvl="1" indent="342000"/>
            <a:r>
              <a:rPr sz="1300" dirty="0"/>
              <a:t>CROSSLOAD</a:t>
            </a:r>
            <a:r>
              <a:rPr lang="en-DE" sz="1300" dirty="0"/>
              <a:t> </a:t>
            </a:r>
            <a:r>
              <a:rPr sz="1300" dirty="0"/>
              <a:t>table</a:t>
            </a:r>
            <a:r>
              <a:rPr lang="en-DE" sz="1300" dirty="0"/>
              <a:t> </a:t>
            </a:r>
            <a:r>
              <a:rPr sz="1300" dirty="0"/>
              <a:t>copy</a:t>
            </a:r>
          </a:p>
          <a:p>
            <a:pPr marL="342000" lvl="1" indent="342000"/>
            <a:r>
              <a:rPr sz="1300" dirty="0"/>
              <a:t>JCL</a:t>
            </a:r>
            <a:r>
              <a:rPr lang="en-DE" sz="1300" dirty="0"/>
              <a:t> </a:t>
            </a:r>
            <a:r>
              <a:rPr sz="1300" dirty="0"/>
              <a:t>submission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capture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8877</TotalTime>
  <Words>2523</Words>
  <Application>Microsoft Office PowerPoint</Application>
  <PresentationFormat>On-screen Show (16:9)</PresentationFormat>
  <Paragraphs>445</Paragraphs>
  <Slides>34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5" baseType="lpstr">
      <vt:lpstr>Arial</vt:lpstr>
      <vt:lpstr>IBM Plex Mono</vt:lpstr>
      <vt:lpstr>IBM Plex Mono Light</vt:lpstr>
      <vt:lpstr>IBM Plex Mono Text</vt:lpstr>
      <vt:lpstr>IBM Plex Sans</vt:lpstr>
      <vt:lpstr>IBM Plex Sans Light</vt:lpstr>
      <vt:lpstr>IBM Plex Sans Medm</vt:lpstr>
      <vt:lpstr>IBM Plex Sans Text</vt:lpstr>
      <vt:lpstr>inherit</vt:lpstr>
      <vt:lpstr>Wingdings</vt:lpstr>
      <vt:lpstr>IBM Expert Labs template</vt:lpstr>
      <vt:lpstr>Beyond Built-ins: Supercharging Db2 for z/OS with Custom Routines</vt:lpstr>
      <vt:lpstr>Appetizer </vt:lpstr>
      <vt:lpstr>Appetizer </vt:lpstr>
      <vt:lpstr>Why This Library Exists (2 minutes)</vt:lpstr>
      <vt:lpstr>The Problem</vt:lpstr>
      <vt:lpstr>The Solution</vt:lpstr>
      <vt:lpstr>Quick reference – all functions</vt:lpstr>
      <vt:lpstr>Architecture Overview (2 minutes)</vt:lpstr>
      <vt:lpstr>Four Implementation Types</vt:lpstr>
      <vt:lpstr>Execution Flow</vt:lpstr>
      <vt:lpstr>Routine Categories (4 minutes)</vt:lpstr>
      <vt:lpstr>Data Type Conversion Safe type conversion and encoding </vt:lpstr>
      <vt:lpstr>String Processing Pattern matching and manipulation</vt:lpstr>
      <vt:lpstr>JSON Processing Converting JSON to XML, enabling JSON processing as relational data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ulrich.seelbach@de.ibm.com</dc:creator>
  <cp:keywords/>
  <cp:lastModifiedBy>Uli Seelbach</cp:lastModifiedBy>
  <cp:revision>37</cp:revision>
  <dcterms:created xsi:type="dcterms:W3CDTF">2026-06-09T10:56:26Z</dcterms:created>
  <dcterms:modified xsi:type="dcterms:W3CDTF">2026-06-19T11:34:26Z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